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Tomorrow"/>
      <p:regular r:id="rId15"/>
      <p:bold r:id="rId16"/>
      <p:italic r:id="rId17"/>
      <p:boldItalic r:id="rId18"/>
    </p:embeddedFont>
    <p:embeddedFont>
      <p:font typeface="Tomorrow SemiBold"/>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uByDupj9L1EMsB9DOzJN1pXWI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TomorrowSemiBold-bold.fntdata"/><Relationship Id="rId11" Type="http://schemas.openxmlformats.org/officeDocument/2006/relationships/slide" Target="slides/slide7.xml"/><Relationship Id="rId22" Type="http://schemas.openxmlformats.org/officeDocument/2006/relationships/font" Target="fonts/TomorrowSemiBold-boldItalic.fntdata"/><Relationship Id="rId10" Type="http://schemas.openxmlformats.org/officeDocument/2006/relationships/slide" Target="slides/slide6.xml"/><Relationship Id="rId21" Type="http://schemas.openxmlformats.org/officeDocument/2006/relationships/font" Target="fonts/TomorrowSemiBold-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Tomorrow-regular.fntdata"/><Relationship Id="rId14" Type="http://schemas.openxmlformats.org/officeDocument/2006/relationships/slide" Target="slides/slide10.xml"/><Relationship Id="rId17" Type="http://schemas.openxmlformats.org/officeDocument/2006/relationships/font" Target="fonts/Tomorrow-italic.fntdata"/><Relationship Id="rId16" Type="http://schemas.openxmlformats.org/officeDocument/2006/relationships/font" Target="fonts/Tomorrow-bold.fntdata"/><Relationship Id="rId5" Type="http://schemas.openxmlformats.org/officeDocument/2006/relationships/slide" Target="slides/slide1.xml"/><Relationship Id="rId19" Type="http://schemas.openxmlformats.org/officeDocument/2006/relationships/font" Target="fonts/TomorrowSemiBold-regular.fntdata"/><Relationship Id="rId6" Type="http://schemas.openxmlformats.org/officeDocument/2006/relationships/slide" Target="slides/slide2.xml"/><Relationship Id="rId18" Type="http://schemas.openxmlformats.org/officeDocument/2006/relationships/font" Target="fonts/Tomorrow-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2"/>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2"/>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13"/>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3"/>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14"/>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4"/>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15"/>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5"/>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16"/>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6"/>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17"/>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7"/>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18"/>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8"/>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1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19"/>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9"/>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20"/>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0"/>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21"/>
          <p:cNvSpPr/>
          <p:nvPr/>
        </p:nvSpPr>
        <p:spPr>
          <a:xfrm>
            <a:off x="0" y="0"/>
            <a:ext cx="14630400" cy="8229600"/>
          </a:xfrm>
          <a:prstGeom prst="rect">
            <a:avLst/>
          </a:prstGeom>
          <a:solidFill>
            <a:srgbClr val="0D0D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1"/>
          <p:cNvSpPr/>
          <p:nvPr/>
        </p:nvSpPr>
        <p:spPr>
          <a:xfrm>
            <a:off x="0" y="0"/>
            <a:ext cx="14630400" cy="8229600"/>
          </a:xfrm>
          <a:prstGeom prst="rect">
            <a:avLst/>
          </a:pr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2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7" name="Google Shape;57;p1"/>
          <p:cNvSpPr/>
          <p:nvPr/>
        </p:nvSpPr>
        <p:spPr>
          <a:xfrm>
            <a:off x="793790" y="2320171"/>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EDEDE8"/>
              </a:buClr>
              <a:buSzPts val="4450"/>
              <a:buFont typeface="Tomorrow SemiBold"/>
              <a:buNone/>
            </a:pPr>
            <a:r>
              <a:rPr b="1" i="0" lang="en-US" sz="4450" u="none" cap="none" strike="noStrike">
                <a:solidFill>
                  <a:srgbClr val="EDEDE8"/>
                </a:solidFill>
                <a:latin typeface="Tomorrow SemiBold"/>
                <a:ea typeface="Tomorrow SemiBold"/>
                <a:cs typeface="Tomorrow SemiBold"/>
                <a:sym typeface="Tomorrow SemiBold"/>
              </a:rPr>
              <a:t>Unidad de control</a:t>
            </a:r>
            <a:endParaRPr b="0" i="0" sz="4450" u="none" cap="none" strike="noStrike"/>
          </a:p>
        </p:txBody>
      </p:sp>
      <p:sp>
        <p:nvSpPr>
          <p:cNvPr id="58" name="Google Shape;58;p1"/>
          <p:cNvSpPr/>
          <p:nvPr/>
        </p:nvSpPr>
        <p:spPr>
          <a:xfrm>
            <a:off x="793790" y="3369112"/>
            <a:ext cx="7556421"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 unidad de control es un componente fundamental de los sistemas digitales, responsable de coordinar y sincronizar las operaciones de los diferentes subsistemas que conforman un computador u otro dispositivo electrónico. Esta sección presenta una visión general de la estructura y el funcionamiento de la unidad de control, abordando aspectos clave como el diagrama de flujo de datos, las señales de control y los tipos de unidades de control.</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preencoded.png" id="64" name="Google Shape;64;p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65" name="Google Shape;65;p2"/>
          <p:cNvSpPr/>
          <p:nvPr/>
        </p:nvSpPr>
        <p:spPr>
          <a:xfrm>
            <a:off x="793790" y="2147173"/>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EDEDE8"/>
              </a:buClr>
              <a:buSzPts val="4450"/>
              <a:buFont typeface="Tomorrow SemiBold"/>
              <a:buNone/>
            </a:pPr>
            <a:r>
              <a:rPr b="1" i="0" lang="en-US" sz="4450" u="none" cap="none" strike="noStrike">
                <a:solidFill>
                  <a:srgbClr val="EDEDE8"/>
                </a:solidFill>
                <a:latin typeface="Tomorrow SemiBold"/>
                <a:ea typeface="Tomorrow SemiBold"/>
                <a:cs typeface="Tomorrow SemiBold"/>
                <a:sym typeface="Tomorrow SemiBold"/>
              </a:rPr>
              <a:t>Introducción a la unidad de control</a:t>
            </a:r>
            <a:endParaRPr b="0" i="0" sz="4450" u="none" cap="none" strike="noStrike"/>
          </a:p>
        </p:txBody>
      </p:sp>
      <p:sp>
        <p:nvSpPr>
          <p:cNvPr id="66" name="Google Shape;66;p2"/>
          <p:cNvSpPr/>
          <p:nvPr/>
        </p:nvSpPr>
        <p:spPr>
          <a:xfrm>
            <a:off x="793790" y="3904893"/>
            <a:ext cx="7556421"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 unidad de control es el cerebro de un sistema digital, encargada de interpretar y ejecutar las instrucciones del programa almacenado en la memoria. Su función principal es generar las señales de control apropiadas para coordinar el flujo de datos y las operaciones realizadas por los diferentes componentes del sistema, como la unidad aritmético-lógica (ALU), los registros y la memoria.</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p:nvPr/>
        </p:nvSpPr>
        <p:spPr>
          <a:xfrm>
            <a:off x="878790" y="540279"/>
            <a:ext cx="108225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EDEDE8"/>
              </a:buClr>
              <a:buSzPts val="4450"/>
              <a:buFont typeface="Tomorrow SemiBold"/>
              <a:buNone/>
            </a:pPr>
            <a:r>
              <a:rPr b="1" i="0" lang="en-US" sz="4450" u="none" cap="none" strike="noStrike">
                <a:solidFill>
                  <a:srgbClr val="EDEDE8"/>
                </a:solidFill>
                <a:latin typeface="Tomorrow SemiBold"/>
                <a:ea typeface="Tomorrow SemiBold"/>
                <a:cs typeface="Tomorrow SemiBold"/>
                <a:sym typeface="Tomorrow SemiBold"/>
              </a:rPr>
              <a:t>Diagrama de flujo de datos (datapath)</a:t>
            </a:r>
            <a:endParaRPr b="0" i="0" sz="4450" u="none" cap="none" strike="noStrike"/>
          </a:p>
        </p:txBody>
      </p:sp>
      <p:sp>
        <p:nvSpPr>
          <p:cNvPr id="73" name="Google Shape;73;p3"/>
          <p:cNvSpPr/>
          <p:nvPr/>
        </p:nvSpPr>
        <p:spPr>
          <a:xfrm>
            <a:off x="1180861" y="2152832"/>
            <a:ext cx="30600" cy="5463300"/>
          </a:xfrm>
          <a:prstGeom prst="roundRect">
            <a:avLst>
              <a:gd fmla="val 111628" name="adj"/>
            </a:avLst>
          </a:prstGeom>
          <a:solidFill>
            <a:srgbClr val="5555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1358622" y="2402681"/>
            <a:ext cx="793790" cy="30480"/>
          </a:xfrm>
          <a:prstGeom prst="roundRect">
            <a:avLst>
              <a:gd fmla="val 111628" name="adj"/>
            </a:avLst>
          </a:prstGeom>
          <a:solidFill>
            <a:srgbClr val="5555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878800" y="2162770"/>
            <a:ext cx="510302" cy="510302"/>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1056550" y="2247770"/>
            <a:ext cx="154800" cy="70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650"/>
              <a:buFont typeface="Tomorrow SemiBold"/>
              <a:buNone/>
            </a:pPr>
            <a:r>
              <a:rPr b="1" i="0" lang="en-US" sz="2650" u="none" cap="none" strike="noStrike">
                <a:solidFill>
                  <a:srgbClr val="C9C9C0"/>
                </a:solidFill>
                <a:latin typeface="Tomorrow SemiBold"/>
                <a:ea typeface="Tomorrow SemiBold"/>
                <a:cs typeface="Tomorrow SemiBold"/>
                <a:sym typeface="Tomorrow SemiBold"/>
              </a:rPr>
              <a:t>1</a:t>
            </a:r>
            <a:endParaRPr b="0" i="0" sz="2650" u="none" cap="none" strike="noStrike"/>
          </a:p>
        </p:txBody>
      </p:sp>
      <p:sp>
        <p:nvSpPr>
          <p:cNvPr id="77" name="Google Shape;77;p3"/>
          <p:cNvSpPr/>
          <p:nvPr/>
        </p:nvSpPr>
        <p:spPr>
          <a:xfrm>
            <a:off x="2299663" y="2402683"/>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Entrada de Datos</a:t>
            </a:r>
            <a:endParaRPr b="0" i="0" sz="2200" u="none" cap="none" strike="noStrike"/>
          </a:p>
        </p:txBody>
      </p:sp>
      <p:sp>
        <p:nvSpPr>
          <p:cNvPr id="78" name="Google Shape;78;p3"/>
          <p:cNvSpPr/>
          <p:nvPr/>
        </p:nvSpPr>
        <p:spPr>
          <a:xfrm>
            <a:off x="2381488" y="2897039"/>
            <a:ext cx="114552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El diagrama de flujo de datos representa el camino que siguen los datos a través de los diferentes componentes del sistema, desde la entrada de información hasta la salida de resultados.</a:t>
            </a:r>
            <a:endParaRPr b="0" i="0" sz="1750" u="none" cap="none" strike="noStrike"/>
          </a:p>
        </p:txBody>
      </p:sp>
      <p:sp>
        <p:nvSpPr>
          <p:cNvPr id="79" name="Google Shape;79;p3"/>
          <p:cNvSpPr/>
          <p:nvPr/>
        </p:nvSpPr>
        <p:spPr>
          <a:xfrm>
            <a:off x="1358622" y="4299347"/>
            <a:ext cx="793790" cy="30480"/>
          </a:xfrm>
          <a:prstGeom prst="roundRect">
            <a:avLst>
              <a:gd fmla="val 111628" name="adj"/>
            </a:avLst>
          </a:prstGeom>
          <a:solidFill>
            <a:srgbClr val="5555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78800" y="4059436"/>
            <a:ext cx="510302" cy="510302"/>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1019651" y="4144447"/>
            <a:ext cx="228600"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650"/>
              <a:buFont typeface="Tomorrow SemiBold"/>
              <a:buNone/>
            </a:pPr>
            <a:r>
              <a:rPr b="1" i="0" lang="en-US" sz="2650" u="none" cap="none" strike="noStrike">
                <a:solidFill>
                  <a:srgbClr val="C9C9C0"/>
                </a:solidFill>
                <a:latin typeface="Tomorrow SemiBold"/>
                <a:ea typeface="Tomorrow SemiBold"/>
                <a:cs typeface="Tomorrow SemiBold"/>
                <a:sym typeface="Tomorrow SemiBold"/>
              </a:rPr>
              <a:t>2</a:t>
            </a:r>
            <a:endParaRPr b="0" i="0" sz="2650" u="none" cap="none" strike="noStrike"/>
          </a:p>
        </p:txBody>
      </p:sp>
      <p:sp>
        <p:nvSpPr>
          <p:cNvPr id="82" name="Google Shape;82;p3"/>
          <p:cNvSpPr/>
          <p:nvPr/>
        </p:nvSpPr>
        <p:spPr>
          <a:xfrm>
            <a:off x="2381488" y="403109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Procesamiento</a:t>
            </a:r>
            <a:endParaRPr b="0" i="0" sz="2200" u="none" cap="none" strike="noStrike"/>
          </a:p>
        </p:txBody>
      </p:sp>
      <p:sp>
        <p:nvSpPr>
          <p:cNvPr id="83" name="Google Shape;83;p3"/>
          <p:cNvSpPr/>
          <p:nvPr/>
        </p:nvSpPr>
        <p:spPr>
          <a:xfrm>
            <a:off x="2381488" y="4521517"/>
            <a:ext cx="1145512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En el datapath, los datos son transportados, almacenados y procesados por la unidad aritmético-lógica (ALU) y los registros, siguiendo las instrucciones de la unidad de control.</a:t>
            </a:r>
            <a:endParaRPr b="0" i="0" sz="1750" u="none" cap="none" strike="noStrike"/>
          </a:p>
        </p:txBody>
      </p:sp>
      <p:sp>
        <p:nvSpPr>
          <p:cNvPr id="84" name="Google Shape;84;p3"/>
          <p:cNvSpPr/>
          <p:nvPr/>
        </p:nvSpPr>
        <p:spPr>
          <a:xfrm>
            <a:off x="1358622" y="6196013"/>
            <a:ext cx="793790" cy="30480"/>
          </a:xfrm>
          <a:prstGeom prst="roundRect">
            <a:avLst>
              <a:gd fmla="val 111628" name="adj"/>
            </a:avLst>
          </a:prstGeom>
          <a:solidFill>
            <a:srgbClr val="5555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78800" y="5956102"/>
            <a:ext cx="510302" cy="510302"/>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1020247" y="6041112"/>
            <a:ext cx="227290"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650"/>
              <a:buFont typeface="Tomorrow SemiBold"/>
              <a:buNone/>
            </a:pPr>
            <a:r>
              <a:rPr b="1" i="0" lang="en-US" sz="2650" u="none" cap="none" strike="noStrike">
                <a:solidFill>
                  <a:srgbClr val="C9C9C0"/>
                </a:solidFill>
                <a:latin typeface="Tomorrow SemiBold"/>
                <a:ea typeface="Tomorrow SemiBold"/>
                <a:cs typeface="Tomorrow SemiBold"/>
                <a:sym typeface="Tomorrow SemiBold"/>
              </a:rPr>
              <a:t>3</a:t>
            </a:r>
            <a:endParaRPr b="0" i="0" sz="2650" u="none" cap="none" strike="noStrike"/>
          </a:p>
        </p:txBody>
      </p:sp>
      <p:sp>
        <p:nvSpPr>
          <p:cNvPr id="87" name="Google Shape;87;p3"/>
          <p:cNvSpPr/>
          <p:nvPr/>
        </p:nvSpPr>
        <p:spPr>
          <a:xfrm>
            <a:off x="2381488" y="5927765"/>
            <a:ext cx="300263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Salida de Resultados</a:t>
            </a:r>
            <a:endParaRPr b="0" i="0" sz="2200" u="none" cap="none" strike="noStrike"/>
          </a:p>
        </p:txBody>
      </p:sp>
      <p:sp>
        <p:nvSpPr>
          <p:cNvPr id="88" name="Google Shape;88;p3"/>
          <p:cNvSpPr/>
          <p:nvPr/>
        </p:nvSpPr>
        <p:spPr>
          <a:xfrm>
            <a:off x="2381488" y="6418183"/>
            <a:ext cx="1145512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Finalmente, los resultados del procesamiento son enviados a los dispositivos de salida o almacenados en la memoria para su uso posterior.</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p:nvPr/>
        </p:nvSpPr>
        <p:spPr>
          <a:xfrm>
            <a:off x="903502" y="991407"/>
            <a:ext cx="128235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EDEDE8"/>
              </a:buClr>
              <a:buSzPts val="4450"/>
              <a:buFont typeface="Tomorrow SemiBold"/>
              <a:buNone/>
            </a:pPr>
            <a:r>
              <a:rPr b="1" i="0" lang="en-US" sz="4450" u="none" cap="none" strike="noStrike">
                <a:solidFill>
                  <a:srgbClr val="EDEDE8"/>
                </a:solidFill>
                <a:latin typeface="Tomorrow SemiBold"/>
                <a:ea typeface="Tomorrow SemiBold"/>
                <a:cs typeface="Tomorrow SemiBold"/>
                <a:sym typeface="Tomorrow SemiBold"/>
              </a:rPr>
              <a:t>Componentes del diagrama de flujo de datos</a:t>
            </a:r>
            <a:endParaRPr b="0" i="0" sz="4450" u="none" cap="none" strike="noStrike"/>
          </a:p>
        </p:txBody>
      </p:sp>
      <p:sp>
        <p:nvSpPr>
          <p:cNvPr id="95" name="Google Shape;95;p4"/>
          <p:cNvSpPr/>
          <p:nvPr/>
        </p:nvSpPr>
        <p:spPr>
          <a:xfrm>
            <a:off x="793790" y="3271361"/>
            <a:ext cx="397811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DEDE8"/>
              </a:buClr>
              <a:buSzPts val="2200"/>
              <a:buFont typeface="Tomorrow SemiBold"/>
              <a:buNone/>
            </a:pPr>
            <a:r>
              <a:rPr b="1" i="0" lang="en-US" sz="2200" u="none" cap="none" strike="noStrike">
                <a:solidFill>
                  <a:srgbClr val="EDEDE8"/>
                </a:solidFill>
                <a:latin typeface="Tomorrow SemiBold"/>
                <a:ea typeface="Tomorrow SemiBold"/>
                <a:cs typeface="Tomorrow SemiBold"/>
                <a:sym typeface="Tomorrow SemiBold"/>
              </a:rPr>
              <a:t>Unidad Aritmético-Lógica (ALU)</a:t>
            </a:r>
            <a:endParaRPr b="0" i="0" sz="2200" u="none" cap="none" strike="noStrike"/>
          </a:p>
        </p:txBody>
      </p:sp>
      <p:sp>
        <p:nvSpPr>
          <p:cNvPr id="96" name="Google Shape;96;p4"/>
          <p:cNvSpPr/>
          <p:nvPr/>
        </p:nvSpPr>
        <p:spPr>
          <a:xfrm>
            <a:off x="793790" y="4206835"/>
            <a:ext cx="3978116"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 ALU es el componente principal del datapath, responsable de realizar las operaciones aritméticas y lógicas sobre los datos.</a:t>
            </a:r>
            <a:endParaRPr b="0" i="0" sz="1750" u="none" cap="none" strike="noStrike"/>
          </a:p>
        </p:txBody>
      </p:sp>
      <p:sp>
        <p:nvSpPr>
          <p:cNvPr id="97" name="Google Shape;97;p4"/>
          <p:cNvSpPr/>
          <p:nvPr/>
        </p:nvSpPr>
        <p:spPr>
          <a:xfrm>
            <a:off x="5332928" y="327136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DEDE8"/>
              </a:buClr>
              <a:buSzPts val="2200"/>
              <a:buFont typeface="Tomorrow SemiBold"/>
              <a:buNone/>
            </a:pPr>
            <a:r>
              <a:rPr b="1" i="0" lang="en-US" sz="2200" u="none" cap="none" strike="noStrike">
                <a:solidFill>
                  <a:srgbClr val="EDEDE8"/>
                </a:solidFill>
                <a:latin typeface="Tomorrow SemiBold"/>
                <a:ea typeface="Tomorrow SemiBold"/>
                <a:cs typeface="Tomorrow SemiBold"/>
                <a:sym typeface="Tomorrow SemiBold"/>
              </a:rPr>
              <a:t>Registros</a:t>
            </a:r>
            <a:endParaRPr b="0" i="0" sz="2200" u="none" cap="none" strike="noStrike"/>
          </a:p>
        </p:txBody>
      </p:sp>
      <p:sp>
        <p:nvSpPr>
          <p:cNvPr id="98" name="Google Shape;98;p4"/>
          <p:cNvSpPr/>
          <p:nvPr/>
        </p:nvSpPr>
        <p:spPr>
          <a:xfrm>
            <a:off x="5332928" y="3852505"/>
            <a:ext cx="3978116"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Los registros almacenan temporalmente los datos y las direcciones utilizados durante el procesamiento. Permiten el acceso rápido a la información necesaria.</a:t>
            </a:r>
            <a:endParaRPr b="0" i="0" sz="1750" u="none" cap="none" strike="noStrike"/>
          </a:p>
        </p:txBody>
      </p:sp>
      <p:sp>
        <p:nvSpPr>
          <p:cNvPr id="99" name="Google Shape;99;p4"/>
          <p:cNvSpPr/>
          <p:nvPr/>
        </p:nvSpPr>
        <p:spPr>
          <a:xfrm>
            <a:off x="9872067" y="327136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DEDE8"/>
              </a:buClr>
              <a:buSzPts val="2200"/>
              <a:buFont typeface="Tomorrow SemiBold"/>
              <a:buNone/>
            </a:pPr>
            <a:r>
              <a:rPr b="1" i="0" lang="en-US" sz="2200" u="none" cap="none" strike="noStrike">
                <a:solidFill>
                  <a:srgbClr val="EDEDE8"/>
                </a:solidFill>
                <a:latin typeface="Tomorrow SemiBold"/>
                <a:ea typeface="Tomorrow SemiBold"/>
                <a:cs typeface="Tomorrow SemiBold"/>
                <a:sym typeface="Tomorrow SemiBold"/>
              </a:rPr>
              <a:t>Memoria</a:t>
            </a:r>
            <a:endParaRPr b="0" i="0" sz="2200" u="none" cap="none" strike="noStrike"/>
          </a:p>
        </p:txBody>
      </p:sp>
      <p:sp>
        <p:nvSpPr>
          <p:cNvPr id="100" name="Google Shape;100;p4"/>
          <p:cNvSpPr/>
          <p:nvPr/>
        </p:nvSpPr>
        <p:spPr>
          <a:xfrm>
            <a:off x="9872067" y="3852505"/>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 memoria proporciona el almacenamiento permanente de los datos y las instrucciones del programa. La unidad de control accede a la memoria para obtener las instrucciones a ejecutar.</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p:nvPr/>
        </p:nvSpPr>
        <p:spPr>
          <a:xfrm>
            <a:off x="793790" y="624721"/>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EDEDE8"/>
              </a:buClr>
              <a:buSzPts val="4450"/>
              <a:buFont typeface="Tomorrow SemiBold"/>
              <a:buNone/>
            </a:pPr>
            <a:r>
              <a:rPr b="1" i="0" lang="en-US" sz="4450" u="none" cap="none" strike="noStrike">
                <a:solidFill>
                  <a:srgbClr val="EDEDE8"/>
                </a:solidFill>
                <a:latin typeface="Tomorrow SemiBold"/>
                <a:ea typeface="Tomorrow SemiBold"/>
                <a:cs typeface="Tomorrow SemiBold"/>
                <a:sym typeface="Tomorrow SemiBold"/>
              </a:rPr>
              <a:t>Señales de control</a:t>
            </a:r>
            <a:endParaRPr b="0" i="0" sz="4450" u="none" cap="none" strike="noStrike"/>
          </a:p>
        </p:txBody>
      </p:sp>
      <p:sp>
        <p:nvSpPr>
          <p:cNvPr id="107" name="Google Shape;107;p5"/>
          <p:cNvSpPr/>
          <p:nvPr/>
        </p:nvSpPr>
        <p:spPr>
          <a:xfrm>
            <a:off x="793790" y="2042279"/>
            <a:ext cx="510302" cy="510302"/>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971550" y="2127290"/>
            <a:ext cx="154781"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650"/>
              <a:buFont typeface="Tomorrow SemiBold"/>
              <a:buNone/>
            </a:pPr>
            <a:r>
              <a:rPr b="1" i="0" lang="en-US" sz="2650" u="none" cap="none" strike="noStrike">
                <a:solidFill>
                  <a:srgbClr val="C9C9C0"/>
                </a:solidFill>
                <a:latin typeface="Tomorrow SemiBold"/>
                <a:ea typeface="Tomorrow SemiBold"/>
                <a:cs typeface="Tomorrow SemiBold"/>
                <a:sym typeface="Tomorrow SemiBold"/>
              </a:rPr>
              <a:t>1</a:t>
            </a:r>
            <a:endParaRPr b="0" i="0" sz="2650" u="none" cap="none" strike="noStrike"/>
          </a:p>
        </p:txBody>
      </p:sp>
      <p:sp>
        <p:nvSpPr>
          <p:cNvPr id="109" name="Google Shape;109;p5"/>
          <p:cNvSpPr/>
          <p:nvPr/>
        </p:nvSpPr>
        <p:spPr>
          <a:xfrm>
            <a:off x="1530906" y="2042279"/>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Función de las Señales de Control</a:t>
            </a:r>
            <a:endParaRPr b="0" i="0" sz="2200" u="none" cap="none" strike="noStrike"/>
          </a:p>
        </p:txBody>
      </p:sp>
      <p:sp>
        <p:nvSpPr>
          <p:cNvPr id="110" name="Google Shape;110;p5"/>
          <p:cNvSpPr/>
          <p:nvPr/>
        </p:nvSpPr>
        <p:spPr>
          <a:xfrm>
            <a:off x="1530906" y="2887028"/>
            <a:ext cx="3459242" cy="471773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Las señales de control son generadas por la unidad de control y enviadas a los diferentes componentes del sistema digital para coordinar y sincronizar las operaciones. Estas señales determinan cuándo y cómo deben realizarse las acciones, como la carga de datos en los registros, la ejecución de instrucciones en la ALU o el acceso a la memoria.</a:t>
            </a:r>
            <a:endParaRPr b="0" i="0" sz="1750" u="none" cap="none" strike="noStrike"/>
          </a:p>
        </p:txBody>
      </p:sp>
      <p:sp>
        <p:nvSpPr>
          <p:cNvPr id="111" name="Google Shape;111;p5"/>
          <p:cNvSpPr/>
          <p:nvPr/>
        </p:nvSpPr>
        <p:spPr>
          <a:xfrm>
            <a:off x="5216962" y="2042279"/>
            <a:ext cx="510302" cy="510302"/>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5357813" y="2127290"/>
            <a:ext cx="228600"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650"/>
              <a:buFont typeface="Tomorrow SemiBold"/>
              <a:buNone/>
            </a:pPr>
            <a:r>
              <a:rPr b="1" i="0" lang="en-US" sz="2650" u="none" cap="none" strike="noStrike">
                <a:solidFill>
                  <a:srgbClr val="C9C9C0"/>
                </a:solidFill>
                <a:latin typeface="Tomorrow SemiBold"/>
                <a:ea typeface="Tomorrow SemiBold"/>
                <a:cs typeface="Tomorrow SemiBold"/>
                <a:sym typeface="Tomorrow SemiBold"/>
              </a:rPr>
              <a:t>2</a:t>
            </a:r>
            <a:endParaRPr b="0" i="0" sz="2650" u="none" cap="none" strike="noStrike"/>
          </a:p>
        </p:txBody>
      </p:sp>
      <p:sp>
        <p:nvSpPr>
          <p:cNvPr id="113" name="Google Shape;113;p5"/>
          <p:cNvSpPr/>
          <p:nvPr/>
        </p:nvSpPr>
        <p:spPr>
          <a:xfrm>
            <a:off x="5954078" y="2042279"/>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Tipos de Señales de Control</a:t>
            </a:r>
            <a:endParaRPr b="0" i="0" sz="2200" u="none" cap="none" strike="noStrike"/>
          </a:p>
        </p:txBody>
      </p:sp>
      <p:sp>
        <p:nvSpPr>
          <p:cNvPr id="114" name="Google Shape;114;p5"/>
          <p:cNvSpPr/>
          <p:nvPr/>
        </p:nvSpPr>
        <p:spPr>
          <a:xfrm>
            <a:off x="5954078" y="2887028"/>
            <a:ext cx="3459242"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Existen diversos tipos de señales de control, como señales de selección, de habilitación, de reloj, de reinicio, entre otras. Cada una de ellas cumple una función específica dentro del sistema digital.</a:t>
            </a:r>
            <a:endParaRPr b="0" i="0" sz="1750" u="none" cap="none" strike="noStrike"/>
          </a:p>
        </p:txBody>
      </p:sp>
      <p:sp>
        <p:nvSpPr>
          <p:cNvPr id="115" name="Google Shape;115;p5"/>
          <p:cNvSpPr/>
          <p:nvPr/>
        </p:nvSpPr>
        <p:spPr>
          <a:xfrm>
            <a:off x="9640133" y="2042279"/>
            <a:ext cx="510302" cy="510302"/>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9781580" y="2127290"/>
            <a:ext cx="227290"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650"/>
              <a:buFont typeface="Tomorrow SemiBold"/>
              <a:buNone/>
            </a:pPr>
            <a:r>
              <a:rPr b="1" i="0" lang="en-US" sz="2650" u="none" cap="none" strike="noStrike">
                <a:solidFill>
                  <a:srgbClr val="C9C9C0"/>
                </a:solidFill>
                <a:latin typeface="Tomorrow SemiBold"/>
                <a:ea typeface="Tomorrow SemiBold"/>
                <a:cs typeface="Tomorrow SemiBold"/>
                <a:sym typeface="Tomorrow SemiBold"/>
              </a:rPr>
              <a:t>3</a:t>
            </a:r>
            <a:endParaRPr b="0" i="0" sz="2650" u="none" cap="none" strike="noStrike"/>
          </a:p>
        </p:txBody>
      </p:sp>
      <p:sp>
        <p:nvSpPr>
          <p:cNvPr id="117" name="Google Shape;117;p5"/>
          <p:cNvSpPr/>
          <p:nvPr/>
        </p:nvSpPr>
        <p:spPr>
          <a:xfrm>
            <a:off x="10377249" y="2042279"/>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Importancia de las Señales de Control</a:t>
            </a:r>
            <a:endParaRPr b="0" i="0" sz="2200" u="none" cap="none" strike="noStrike"/>
          </a:p>
        </p:txBody>
      </p:sp>
      <p:sp>
        <p:nvSpPr>
          <p:cNvPr id="118" name="Google Shape;118;p5"/>
          <p:cNvSpPr/>
          <p:nvPr/>
        </p:nvSpPr>
        <p:spPr>
          <a:xfrm>
            <a:off x="10377249" y="2887028"/>
            <a:ext cx="3459242"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Las señales de control son fundamentales para garantizar el correcto funcionamiento del sistema, ya que permiten la coordinación y sincronización de las operaciones entre los diferentes subsistemas y componentes del computador.</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p:nvPr/>
        </p:nvSpPr>
        <p:spPr>
          <a:xfrm>
            <a:off x="793790" y="7"/>
            <a:ext cx="79287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EDEDE8"/>
              </a:buClr>
              <a:buSzPts val="4450"/>
              <a:buFont typeface="Tomorrow SemiBold"/>
              <a:buNone/>
            </a:pPr>
            <a:r>
              <a:rPr b="1" i="0" lang="en-US" sz="4450" u="none" cap="none" strike="noStrike">
                <a:solidFill>
                  <a:srgbClr val="EDEDE8"/>
                </a:solidFill>
                <a:latin typeface="Tomorrow SemiBold"/>
                <a:ea typeface="Tomorrow SemiBold"/>
                <a:cs typeface="Tomorrow SemiBold"/>
                <a:sym typeface="Tomorrow SemiBold"/>
              </a:rPr>
              <a:t>Tipos de Señales de Control</a:t>
            </a:r>
            <a:endParaRPr b="0" i="0" sz="4450" u="none" cap="none" strike="noStrike"/>
          </a:p>
        </p:txBody>
      </p:sp>
      <p:sp>
        <p:nvSpPr>
          <p:cNvPr id="125" name="Google Shape;125;p6"/>
          <p:cNvSpPr/>
          <p:nvPr/>
        </p:nvSpPr>
        <p:spPr>
          <a:xfrm>
            <a:off x="793790" y="2005489"/>
            <a:ext cx="6408063" cy="2758559"/>
          </a:xfrm>
          <a:prstGeom prst="roundRect">
            <a:avLst>
              <a:gd fmla="val 1233"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1020604" y="1914778"/>
            <a:ext cx="30594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Señales de Selección</a:t>
            </a:r>
            <a:endParaRPr b="0" i="0" sz="2200" u="none" cap="none" strike="noStrike"/>
          </a:p>
        </p:txBody>
      </p:sp>
      <p:sp>
        <p:nvSpPr>
          <p:cNvPr id="127" name="Google Shape;127;p6"/>
          <p:cNvSpPr/>
          <p:nvPr/>
        </p:nvSpPr>
        <p:spPr>
          <a:xfrm>
            <a:off x="1020604" y="2722721"/>
            <a:ext cx="5954435"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Estas señales determinan qué componente o recurso del sistema digital será utilizado en una operación específica, como la selección de un registro, una unidad funcional de la ALU o una dirección de memoria.</a:t>
            </a:r>
            <a:endParaRPr b="0" i="0" sz="1750" u="none" cap="none" strike="noStrike"/>
          </a:p>
        </p:txBody>
      </p:sp>
      <p:sp>
        <p:nvSpPr>
          <p:cNvPr id="128" name="Google Shape;128;p6"/>
          <p:cNvSpPr/>
          <p:nvPr/>
        </p:nvSpPr>
        <p:spPr>
          <a:xfrm>
            <a:off x="7428667" y="2005489"/>
            <a:ext cx="6408063" cy="2758559"/>
          </a:xfrm>
          <a:prstGeom prst="roundRect">
            <a:avLst>
              <a:gd fmla="val 1233"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7655481" y="1914766"/>
            <a:ext cx="33666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Señales de Habilitación</a:t>
            </a:r>
            <a:endParaRPr b="0" i="0" sz="2200" u="none" cap="none" strike="noStrike"/>
          </a:p>
        </p:txBody>
      </p:sp>
      <p:sp>
        <p:nvSpPr>
          <p:cNvPr id="130" name="Google Shape;130;p6"/>
          <p:cNvSpPr/>
          <p:nvPr/>
        </p:nvSpPr>
        <p:spPr>
          <a:xfrm>
            <a:off x="7655481" y="2722721"/>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Las señales de habilitación permiten o bloquean el funcionamiento de un componente, como activar la carga de datos en un registro o habilitar la ejecución de una instrucción en la ALU.</a:t>
            </a:r>
            <a:endParaRPr b="0" i="0" sz="1750" u="none" cap="none" strike="noStrike"/>
          </a:p>
        </p:txBody>
      </p:sp>
      <p:sp>
        <p:nvSpPr>
          <p:cNvPr id="131" name="Google Shape;131;p6"/>
          <p:cNvSpPr/>
          <p:nvPr/>
        </p:nvSpPr>
        <p:spPr>
          <a:xfrm>
            <a:off x="793790" y="4990862"/>
            <a:ext cx="6408063" cy="2395657"/>
          </a:xfrm>
          <a:prstGeom prst="roundRect">
            <a:avLst>
              <a:gd fmla="val 1420"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1020604" y="521767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Señales de Reloj</a:t>
            </a:r>
            <a:endParaRPr b="0" i="0" sz="2200" u="none" cap="none" strike="noStrike"/>
          </a:p>
        </p:txBody>
      </p:sp>
      <p:sp>
        <p:nvSpPr>
          <p:cNvPr id="133" name="Google Shape;133;p6"/>
          <p:cNvSpPr/>
          <p:nvPr/>
        </p:nvSpPr>
        <p:spPr>
          <a:xfrm>
            <a:off x="1020604" y="5708094"/>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Las señales de reloj son fundamentales para sincronizar las operaciones en el sistema digital, marcando el ritmo de ejecución de las instrucciones y el flujo de datos.</a:t>
            </a:r>
            <a:endParaRPr b="0" i="0" sz="1750" u="none" cap="none" strike="noStrike"/>
          </a:p>
        </p:txBody>
      </p:sp>
      <p:sp>
        <p:nvSpPr>
          <p:cNvPr id="134" name="Google Shape;134;p6"/>
          <p:cNvSpPr/>
          <p:nvPr/>
        </p:nvSpPr>
        <p:spPr>
          <a:xfrm>
            <a:off x="7428667" y="4990862"/>
            <a:ext cx="6408063" cy="2395657"/>
          </a:xfrm>
          <a:prstGeom prst="roundRect">
            <a:avLst>
              <a:gd fmla="val 1420"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7655481" y="4990839"/>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9C9C0"/>
              </a:buClr>
              <a:buSzPts val="2200"/>
              <a:buFont typeface="Tomorrow SemiBold"/>
              <a:buNone/>
            </a:pPr>
            <a:r>
              <a:rPr b="1" i="0" lang="en-US" sz="2200" u="none" cap="none" strike="noStrike">
                <a:solidFill>
                  <a:srgbClr val="C9C9C0"/>
                </a:solidFill>
                <a:latin typeface="Tomorrow SemiBold"/>
                <a:ea typeface="Tomorrow SemiBold"/>
                <a:cs typeface="Tomorrow SemiBold"/>
                <a:sym typeface="Tomorrow SemiBold"/>
              </a:rPr>
              <a:t>Señales de Reinicio</a:t>
            </a:r>
            <a:endParaRPr b="0" i="0" sz="2200" u="none" cap="none" strike="noStrike"/>
          </a:p>
        </p:txBody>
      </p:sp>
      <p:sp>
        <p:nvSpPr>
          <p:cNvPr id="136" name="Google Shape;136;p6"/>
          <p:cNvSpPr/>
          <p:nvPr/>
        </p:nvSpPr>
        <p:spPr>
          <a:xfrm>
            <a:off x="7655481" y="5708094"/>
            <a:ext cx="595443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Estas señales permiten inicializar o restablecer el estado del sistema, como por ejemplo, reiniciar los registros o la memoria a un valor conocido.</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preencoded.png" id="142" name="Google Shape;142;p7"/>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43" name="Google Shape;143;p7"/>
          <p:cNvSpPr/>
          <p:nvPr/>
        </p:nvSpPr>
        <p:spPr>
          <a:xfrm>
            <a:off x="6110883" y="560784"/>
            <a:ext cx="7895034" cy="1115139"/>
          </a:xfrm>
          <a:prstGeom prst="rect">
            <a:avLst/>
          </a:prstGeom>
          <a:noFill/>
          <a:ln>
            <a:noFill/>
          </a:ln>
        </p:spPr>
        <p:txBody>
          <a:bodyPr anchorCtr="0" anchor="t" bIns="0" lIns="0" spcFirstLastPara="1" rIns="0" wrap="square" tIns="0">
            <a:noAutofit/>
          </a:bodyPr>
          <a:lstStyle/>
          <a:p>
            <a:pPr indent="0" lvl="0" marL="0" marR="0" rtl="0" algn="l">
              <a:lnSpc>
                <a:spcPct val="124285"/>
              </a:lnSpc>
              <a:spcBef>
                <a:spcPts val="0"/>
              </a:spcBef>
              <a:spcAft>
                <a:spcPts val="0"/>
              </a:spcAft>
              <a:buClr>
                <a:srgbClr val="EDEDE8"/>
              </a:buClr>
              <a:buSzPts val="3500"/>
              <a:buFont typeface="Tomorrow SemiBold"/>
              <a:buNone/>
            </a:pPr>
            <a:r>
              <a:rPr b="1" i="0" lang="en-US" sz="3500" u="none" cap="none" strike="noStrike">
                <a:solidFill>
                  <a:srgbClr val="EDEDE8"/>
                </a:solidFill>
                <a:latin typeface="Tomorrow SemiBold"/>
                <a:ea typeface="Tomorrow SemiBold"/>
                <a:cs typeface="Tomorrow SemiBold"/>
                <a:sym typeface="Tomorrow SemiBold"/>
              </a:rPr>
              <a:t>Unidades de control microprogramadas</a:t>
            </a:r>
            <a:endParaRPr b="0" i="0" sz="3500" u="none" cap="none" strike="noStrike"/>
          </a:p>
        </p:txBody>
      </p:sp>
      <p:sp>
        <p:nvSpPr>
          <p:cNvPr id="144" name="Google Shape;144;p7"/>
          <p:cNvSpPr/>
          <p:nvPr/>
        </p:nvSpPr>
        <p:spPr>
          <a:xfrm>
            <a:off x="6367105" y="1943576"/>
            <a:ext cx="22860" cy="5725120"/>
          </a:xfrm>
          <a:prstGeom prst="roundRect">
            <a:avLst>
              <a:gd fmla="val 117095" name="adj"/>
            </a:avLst>
          </a:prstGeom>
          <a:solidFill>
            <a:srgbClr val="5555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6556415" y="2333625"/>
            <a:ext cx="624483" cy="22860"/>
          </a:xfrm>
          <a:prstGeom prst="roundRect">
            <a:avLst>
              <a:gd fmla="val 117095" name="adj"/>
            </a:avLst>
          </a:prstGeom>
          <a:solidFill>
            <a:srgbClr val="5555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6177796" y="2144316"/>
            <a:ext cx="401479" cy="401479"/>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6317575" y="2211229"/>
            <a:ext cx="121801" cy="26765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100"/>
              <a:buFont typeface="Tomorrow SemiBold"/>
              <a:buNone/>
            </a:pPr>
            <a:r>
              <a:rPr b="1" i="0" lang="en-US" sz="2100" u="none" cap="none" strike="noStrike">
                <a:solidFill>
                  <a:srgbClr val="C9C9C0"/>
                </a:solidFill>
                <a:latin typeface="Tomorrow SemiBold"/>
                <a:ea typeface="Tomorrow SemiBold"/>
                <a:cs typeface="Tomorrow SemiBold"/>
                <a:sym typeface="Tomorrow SemiBold"/>
              </a:rPr>
              <a:t>1</a:t>
            </a:r>
            <a:endParaRPr b="0" i="0" sz="2100" u="none" cap="none" strike="noStrike"/>
          </a:p>
        </p:txBody>
      </p:sp>
      <p:sp>
        <p:nvSpPr>
          <p:cNvPr id="148" name="Google Shape;148;p7"/>
          <p:cNvSpPr/>
          <p:nvPr/>
        </p:nvSpPr>
        <p:spPr>
          <a:xfrm>
            <a:off x="7359968" y="2121932"/>
            <a:ext cx="2230636" cy="278844"/>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C9C9C0"/>
              </a:buClr>
              <a:buSzPts val="1750"/>
              <a:buFont typeface="Tomorrow SemiBold"/>
              <a:buNone/>
            </a:pPr>
            <a:r>
              <a:rPr b="1" i="0" lang="en-US" sz="1750" u="none" cap="none" strike="noStrike">
                <a:solidFill>
                  <a:srgbClr val="C9C9C0"/>
                </a:solidFill>
                <a:latin typeface="Tomorrow SemiBold"/>
                <a:ea typeface="Tomorrow SemiBold"/>
                <a:cs typeface="Tomorrow SemiBold"/>
                <a:sym typeface="Tomorrow SemiBold"/>
              </a:rPr>
              <a:t>Concepto</a:t>
            </a:r>
            <a:endParaRPr b="0" i="0" sz="1750" u="none" cap="none" strike="noStrike"/>
          </a:p>
        </p:txBody>
      </p:sp>
      <p:sp>
        <p:nvSpPr>
          <p:cNvPr id="149" name="Google Shape;149;p7"/>
          <p:cNvSpPr/>
          <p:nvPr/>
        </p:nvSpPr>
        <p:spPr>
          <a:xfrm>
            <a:off x="7359968" y="2507813"/>
            <a:ext cx="6645950" cy="1142048"/>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C9C9C0"/>
              </a:buClr>
              <a:buSzPts val="1400"/>
              <a:buFont typeface="Tomorrow"/>
              <a:buNone/>
            </a:pPr>
            <a:r>
              <a:rPr b="0" i="0" lang="en-US" sz="1400" u="none" cap="none" strike="noStrike">
                <a:solidFill>
                  <a:srgbClr val="C9C9C0"/>
                </a:solidFill>
                <a:latin typeface="Tomorrow"/>
                <a:ea typeface="Tomorrow"/>
                <a:cs typeface="Tomorrow"/>
                <a:sym typeface="Tomorrow"/>
              </a:rPr>
              <a:t>Las unidades de control microprogramadas utilizan un microcontrolador interno para generar las señales de control necesarias para la ejecución de las instrucciones. Este enfoque permite una mayor flexibilidad y facilidad de modificación del comportamiento de la unidad de control.</a:t>
            </a:r>
            <a:endParaRPr b="0" i="0" sz="1400" u="none" cap="none" strike="noStrike"/>
          </a:p>
        </p:txBody>
      </p:sp>
      <p:sp>
        <p:nvSpPr>
          <p:cNvPr id="150" name="Google Shape;150;p7"/>
          <p:cNvSpPr/>
          <p:nvPr/>
        </p:nvSpPr>
        <p:spPr>
          <a:xfrm>
            <a:off x="6556415" y="4396621"/>
            <a:ext cx="624483" cy="22860"/>
          </a:xfrm>
          <a:prstGeom prst="roundRect">
            <a:avLst>
              <a:gd fmla="val 117095" name="adj"/>
            </a:avLst>
          </a:prstGeom>
          <a:solidFill>
            <a:srgbClr val="5555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6177796" y="4207312"/>
            <a:ext cx="401479" cy="401479"/>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6288643" y="4274225"/>
            <a:ext cx="179784" cy="26765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100"/>
              <a:buFont typeface="Tomorrow SemiBold"/>
              <a:buNone/>
            </a:pPr>
            <a:r>
              <a:rPr b="1" i="0" lang="en-US" sz="2100" u="none" cap="none" strike="noStrike">
                <a:solidFill>
                  <a:srgbClr val="C9C9C0"/>
                </a:solidFill>
                <a:latin typeface="Tomorrow SemiBold"/>
                <a:ea typeface="Tomorrow SemiBold"/>
                <a:cs typeface="Tomorrow SemiBold"/>
                <a:sym typeface="Tomorrow SemiBold"/>
              </a:rPr>
              <a:t>2</a:t>
            </a:r>
            <a:endParaRPr b="0" i="0" sz="2100" u="none" cap="none" strike="noStrike"/>
          </a:p>
        </p:txBody>
      </p:sp>
      <p:sp>
        <p:nvSpPr>
          <p:cNvPr id="153" name="Google Shape;153;p7"/>
          <p:cNvSpPr/>
          <p:nvPr/>
        </p:nvSpPr>
        <p:spPr>
          <a:xfrm>
            <a:off x="7359968" y="4184928"/>
            <a:ext cx="2230636" cy="278844"/>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C9C9C0"/>
              </a:buClr>
              <a:buSzPts val="1750"/>
              <a:buFont typeface="Tomorrow SemiBold"/>
              <a:buNone/>
            </a:pPr>
            <a:r>
              <a:rPr b="1" i="0" lang="en-US" sz="1750" u="none" cap="none" strike="noStrike">
                <a:solidFill>
                  <a:srgbClr val="C9C9C0"/>
                </a:solidFill>
                <a:latin typeface="Tomorrow SemiBold"/>
                <a:ea typeface="Tomorrow SemiBold"/>
                <a:cs typeface="Tomorrow SemiBold"/>
                <a:sym typeface="Tomorrow SemiBold"/>
              </a:rPr>
              <a:t>Microinstrucciones</a:t>
            </a:r>
            <a:endParaRPr b="0" i="0" sz="1750" u="none" cap="none" strike="noStrike"/>
          </a:p>
        </p:txBody>
      </p:sp>
      <p:sp>
        <p:nvSpPr>
          <p:cNvPr id="154" name="Google Shape;154;p7"/>
          <p:cNvSpPr/>
          <p:nvPr/>
        </p:nvSpPr>
        <p:spPr>
          <a:xfrm>
            <a:off x="7359968" y="4570809"/>
            <a:ext cx="6645950" cy="1142048"/>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C9C9C0"/>
              </a:buClr>
              <a:buSzPts val="1400"/>
              <a:buFont typeface="Tomorrow"/>
              <a:buNone/>
            </a:pPr>
            <a:r>
              <a:rPr b="0" i="0" lang="en-US" sz="1400" u="none" cap="none" strike="noStrike">
                <a:solidFill>
                  <a:srgbClr val="C9C9C0"/>
                </a:solidFill>
                <a:latin typeface="Tomorrow"/>
                <a:ea typeface="Tomorrow"/>
                <a:cs typeface="Tomorrow"/>
                <a:sym typeface="Tomorrow"/>
              </a:rPr>
              <a:t>En lugar de tener una lógica de control cableada, las unidades de control microprogramadas se basan en un conjunto de microinstrucciones almacenadas en una memoria especial llamada memoria de control o microcodigo.</a:t>
            </a:r>
            <a:endParaRPr b="0" i="0" sz="1400" u="none" cap="none" strike="noStrike"/>
          </a:p>
        </p:txBody>
      </p:sp>
      <p:sp>
        <p:nvSpPr>
          <p:cNvPr id="155" name="Google Shape;155;p7"/>
          <p:cNvSpPr/>
          <p:nvPr/>
        </p:nvSpPr>
        <p:spPr>
          <a:xfrm>
            <a:off x="6556415" y="6459617"/>
            <a:ext cx="624483" cy="22860"/>
          </a:xfrm>
          <a:prstGeom prst="roundRect">
            <a:avLst>
              <a:gd fmla="val 117095" name="adj"/>
            </a:avLst>
          </a:prstGeom>
          <a:solidFill>
            <a:srgbClr val="5555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6177796" y="6270308"/>
            <a:ext cx="401479" cy="401479"/>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6289119" y="6337221"/>
            <a:ext cx="178713" cy="26765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100"/>
              <a:buFont typeface="Tomorrow SemiBold"/>
              <a:buNone/>
            </a:pPr>
            <a:r>
              <a:rPr b="1" i="0" lang="en-US" sz="2100" u="none" cap="none" strike="noStrike">
                <a:solidFill>
                  <a:srgbClr val="C9C9C0"/>
                </a:solidFill>
                <a:latin typeface="Tomorrow SemiBold"/>
                <a:ea typeface="Tomorrow SemiBold"/>
                <a:cs typeface="Tomorrow SemiBold"/>
                <a:sym typeface="Tomorrow SemiBold"/>
              </a:rPr>
              <a:t>3</a:t>
            </a:r>
            <a:endParaRPr b="0" i="0" sz="2100" u="none" cap="none" strike="noStrike"/>
          </a:p>
        </p:txBody>
      </p:sp>
      <p:sp>
        <p:nvSpPr>
          <p:cNvPr id="158" name="Google Shape;158;p7"/>
          <p:cNvSpPr/>
          <p:nvPr/>
        </p:nvSpPr>
        <p:spPr>
          <a:xfrm>
            <a:off x="7359968" y="6247924"/>
            <a:ext cx="2230636" cy="278844"/>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C9C9C0"/>
              </a:buClr>
              <a:buSzPts val="1750"/>
              <a:buFont typeface="Tomorrow SemiBold"/>
              <a:buNone/>
            </a:pPr>
            <a:r>
              <a:rPr b="1" i="0" lang="en-US" sz="1750" u="none" cap="none" strike="noStrike">
                <a:solidFill>
                  <a:srgbClr val="C9C9C0"/>
                </a:solidFill>
                <a:latin typeface="Tomorrow SemiBold"/>
                <a:ea typeface="Tomorrow SemiBold"/>
                <a:cs typeface="Tomorrow SemiBold"/>
                <a:sym typeface="Tomorrow SemiBold"/>
              </a:rPr>
              <a:t>Ventajas</a:t>
            </a:r>
            <a:endParaRPr b="0" i="0" sz="1750" u="none" cap="none" strike="noStrike"/>
          </a:p>
        </p:txBody>
      </p:sp>
      <p:sp>
        <p:nvSpPr>
          <p:cNvPr id="159" name="Google Shape;159;p7"/>
          <p:cNvSpPr/>
          <p:nvPr/>
        </p:nvSpPr>
        <p:spPr>
          <a:xfrm>
            <a:off x="7359968" y="6633805"/>
            <a:ext cx="6645950" cy="856536"/>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C9C9C0"/>
              </a:buClr>
              <a:buSzPts val="1400"/>
              <a:buFont typeface="Tomorrow"/>
              <a:buNone/>
            </a:pPr>
            <a:r>
              <a:rPr b="0" i="0" lang="en-US" sz="1400" u="none" cap="none" strike="noStrike">
                <a:solidFill>
                  <a:srgbClr val="C9C9C0"/>
                </a:solidFill>
                <a:latin typeface="Tomorrow"/>
                <a:ea typeface="Tomorrow"/>
                <a:cs typeface="Tomorrow"/>
                <a:sym typeface="Tomorrow"/>
              </a:rPr>
              <a:t>Las ventajas de las unidades de control microprogramadas incluyen una mayor facilidad de diseño, depuración y modificación, así como una mayor flexibilidad para adaptarse a cambios en la arquitectura del sistema digital.</a:t>
            </a:r>
            <a:endParaRPr b="0" i="0" sz="14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preencoded.png" id="165" name="Google Shape;165;p8"/>
          <p:cNvPicPr preferRelativeResize="0"/>
          <p:nvPr/>
        </p:nvPicPr>
        <p:blipFill rotWithShape="1">
          <a:blip r:embed="rId3">
            <a:alphaModFix/>
          </a:blip>
          <a:srcRect b="0" l="0" r="0" t="0"/>
          <a:stretch/>
        </p:blipFill>
        <p:spPr>
          <a:xfrm>
            <a:off x="0" y="0"/>
            <a:ext cx="14630400" cy="2460784"/>
          </a:xfrm>
          <a:prstGeom prst="rect">
            <a:avLst/>
          </a:prstGeom>
          <a:noFill/>
          <a:ln>
            <a:noFill/>
          </a:ln>
        </p:spPr>
      </p:pic>
      <p:sp>
        <p:nvSpPr>
          <p:cNvPr id="166" name="Google Shape;166;p8"/>
          <p:cNvSpPr/>
          <p:nvPr/>
        </p:nvSpPr>
        <p:spPr>
          <a:xfrm>
            <a:off x="689015" y="3160633"/>
            <a:ext cx="13252371" cy="1230392"/>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EDEDE8"/>
              </a:buClr>
              <a:buSzPts val="3850"/>
              <a:buFont typeface="Tomorrow SemiBold"/>
              <a:buNone/>
            </a:pPr>
            <a:r>
              <a:rPr b="1" i="0" lang="en-US" sz="3850" u="none" cap="none" strike="noStrike">
                <a:solidFill>
                  <a:srgbClr val="EDEDE8"/>
                </a:solidFill>
                <a:latin typeface="Tomorrow SemiBold"/>
                <a:ea typeface="Tomorrow SemiBold"/>
                <a:cs typeface="Tomorrow SemiBold"/>
                <a:sym typeface="Tomorrow SemiBold"/>
              </a:rPr>
              <a:t>Características de las unidades de control microprogramadas</a:t>
            </a:r>
            <a:endParaRPr b="0" i="0" sz="3850" u="none" cap="none" strike="noStrike"/>
          </a:p>
        </p:txBody>
      </p:sp>
      <p:sp>
        <p:nvSpPr>
          <p:cNvPr id="167" name="Google Shape;167;p8"/>
          <p:cNvSpPr/>
          <p:nvPr/>
        </p:nvSpPr>
        <p:spPr>
          <a:xfrm>
            <a:off x="689015" y="4907756"/>
            <a:ext cx="442913" cy="442913"/>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843201" y="4981575"/>
            <a:ext cx="134422" cy="2952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300"/>
              <a:buFont typeface="Tomorrow SemiBold"/>
              <a:buNone/>
            </a:pPr>
            <a:r>
              <a:rPr b="1" i="0" lang="en-US" sz="2300" u="none" cap="none" strike="noStrike">
                <a:solidFill>
                  <a:srgbClr val="C9C9C0"/>
                </a:solidFill>
                <a:latin typeface="Tomorrow SemiBold"/>
                <a:ea typeface="Tomorrow SemiBold"/>
                <a:cs typeface="Tomorrow SemiBold"/>
                <a:sym typeface="Tomorrow SemiBold"/>
              </a:rPr>
              <a:t>1</a:t>
            </a:r>
            <a:endParaRPr b="0" i="0" sz="2300" u="none" cap="none" strike="noStrike"/>
          </a:p>
        </p:txBody>
      </p:sp>
      <p:sp>
        <p:nvSpPr>
          <p:cNvPr id="169" name="Google Shape;169;p8"/>
          <p:cNvSpPr/>
          <p:nvPr/>
        </p:nvSpPr>
        <p:spPr>
          <a:xfrm>
            <a:off x="1328738" y="4907756"/>
            <a:ext cx="2460784" cy="307538"/>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1900"/>
              <a:buFont typeface="Tomorrow SemiBold"/>
              <a:buNone/>
            </a:pPr>
            <a:r>
              <a:rPr b="1" i="0" lang="en-US" sz="1900" u="none" cap="none" strike="noStrike">
                <a:solidFill>
                  <a:srgbClr val="C9C9C0"/>
                </a:solidFill>
                <a:latin typeface="Tomorrow SemiBold"/>
                <a:ea typeface="Tomorrow SemiBold"/>
                <a:cs typeface="Tomorrow SemiBold"/>
                <a:sym typeface="Tomorrow SemiBold"/>
              </a:rPr>
              <a:t>Microcodigo</a:t>
            </a:r>
            <a:endParaRPr b="0" i="0" sz="1900" u="none" cap="none" strike="noStrike"/>
          </a:p>
        </p:txBody>
      </p:sp>
      <p:sp>
        <p:nvSpPr>
          <p:cNvPr id="170" name="Google Shape;170;p8"/>
          <p:cNvSpPr/>
          <p:nvPr/>
        </p:nvSpPr>
        <p:spPr>
          <a:xfrm>
            <a:off x="1328738" y="5333405"/>
            <a:ext cx="3646527" cy="1888808"/>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C9C9C0"/>
              </a:buClr>
              <a:buSzPts val="1550"/>
              <a:buFont typeface="Tomorrow"/>
              <a:buNone/>
            </a:pPr>
            <a:r>
              <a:rPr b="0" i="0" lang="en-US" sz="1550" u="none" cap="none" strike="noStrike">
                <a:solidFill>
                  <a:srgbClr val="C9C9C0"/>
                </a:solidFill>
                <a:latin typeface="Tomorrow"/>
                <a:ea typeface="Tomorrow"/>
                <a:cs typeface="Tomorrow"/>
                <a:sym typeface="Tomorrow"/>
              </a:rPr>
              <a:t>El microcodigo es el conjunto de microinstrucciones almacenadas en la memoria de control, que definen el comportamiento y las señales de control generadas por la unidad de control.</a:t>
            </a:r>
            <a:endParaRPr b="0" i="0" sz="1550" u="none" cap="none" strike="noStrike"/>
          </a:p>
        </p:txBody>
      </p:sp>
      <p:sp>
        <p:nvSpPr>
          <p:cNvPr id="171" name="Google Shape;171;p8"/>
          <p:cNvSpPr/>
          <p:nvPr/>
        </p:nvSpPr>
        <p:spPr>
          <a:xfrm>
            <a:off x="5172075" y="4907756"/>
            <a:ext cx="442913" cy="442913"/>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5294233" y="4981575"/>
            <a:ext cx="198477" cy="2952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300"/>
              <a:buFont typeface="Tomorrow SemiBold"/>
              <a:buNone/>
            </a:pPr>
            <a:r>
              <a:rPr b="1" i="0" lang="en-US" sz="2300" u="none" cap="none" strike="noStrike">
                <a:solidFill>
                  <a:srgbClr val="C9C9C0"/>
                </a:solidFill>
                <a:latin typeface="Tomorrow SemiBold"/>
                <a:ea typeface="Tomorrow SemiBold"/>
                <a:cs typeface="Tomorrow SemiBold"/>
                <a:sym typeface="Tomorrow SemiBold"/>
              </a:rPr>
              <a:t>2</a:t>
            </a:r>
            <a:endParaRPr b="0" i="0" sz="2300" u="none" cap="none" strike="noStrike"/>
          </a:p>
        </p:txBody>
      </p:sp>
      <p:sp>
        <p:nvSpPr>
          <p:cNvPr id="173" name="Google Shape;173;p8"/>
          <p:cNvSpPr/>
          <p:nvPr/>
        </p:nvSpPr>
        <p:spPr>
          <a:xfrm>
            <a:off x="5811798" y="4907756"/>
            <a:ext cx="3646527" cy="61507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1900"/>
              <a:buFont typeface="Tomorrow SemiBold"/>
              <a:buNone/>
            </a:pPr>
            <a:r>
              <a:rPr b="1" i="0" lang="en-US" sz="1900" u="none" cap="none" strike="noStrike">
                <a:solidFill>
                  <a:srgbClr val="C9C9C0"/>
                </a:solidFill>
                <a:latin typeface="Tomorrow SemiBold"/>
                <a:ea typeface="Tomorrow SemiBold"/>
                <a:cs typeface="Tomorrow SemiBold"/>
                <a:sym typeface="Tomorrow SemiBold"/>
              </a:rPr>
              <a:t>Interpretador de Microinstrucciones</a:t>
            </a:r>
            <a:endParaRPr b="0" i="0" sz="1900" u="none" cap="none" strike="noStrike"/>
          </a:p>
        </p:txBody>
      </p:sp>
      <p:sp>
        <p:nvSpPr>
          <p:cNvPr id="174" name="Google Shape;174;p8"/>
          <p:cNvSpPr/>
          <p:nvPr/>
        </p:nvSpPr>
        <p:spPr>
          <a:xfrm>
            <a:off x="5811798" y="5640943"/>
            <a:ext cx="3646527" cy="157400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C9C9C0"/>
              </a:buClr>
              <a:buSzPts val="1550"/>
              <a:buFont typeface="Tomorrow"/>
              <a:buNone/>
            </a:pPr>
            <a:r>
              <a:rPr b="0" i="0" lang="en-US" sz="1550" u="none" cap="none" strike="noStrike">
                <a:solidFill>
                  <a:srgbClr val="C9C9C0"/>
                </a:solidFill>
                <a:latin typeface="Tomorrow"/>
                <a:ea typeface="Tomorrow"/>
                <a:cs typeface="Tomorrow"/>
                <a:sym typeface="Tomorrow"/>
              </a:rPr>
              <a:t>El interpretador de microinstrucciones es el circuito lógico encargado de decodificar y ejecutar las microinstrucciones almacenadas en la memoria de control.</a:t>
            </a:r>
            <a:endParaRPr b="0" i="0" sz="1550" u="none" cap="none" strike="noStrike"/>
          </a:p>
        </p:txBody>
      </p:sp>
      <p:sp>
        <p:nvSpPr>
          <p:cNvPr id="175" name="Google Shape;175;p8"/>
          <p:cNvSpPr/>
          <p:nvPr/>
        </p:nvSpPr>
        <p:spPr>
          <a:xfrm>
            <a:off x="9655135" y="4907756"/>
            <a:ext cx="442913" cy="442913"/>
          </a:xfrm>
          <a:prstGeom prst="roundRect">
            <a:avLst>
              <a:gd fmla="val 6667"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9777889" y="4981575"/>
            <a:ext cx="197287" cy="2952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9C9C0"/>
              </a:buClr>
              <a:buSzPts val="2300"/>
              <a:buFont typeface="Tomorrow SemiBold"/>
              <a:buNone/>
            </a:pPr>
            <a:r>
              <a:rPr b="1" i="0" lang="en-US" sz="2300" u="none" cap="none" strike="noStrike">
                <a:solidFill>
                  <a:srgbClr val="C9C9C0"/>
                </a:solidFill>
                <a:latin typeface="Tomorrow SemiBold"/>
                <a:ea typeface="Tomorrow SemiBold"/>
                <a:cs typeface="Tomorrow SemiBold"/>
                <a:sym typeface="Tomorrow SemiBold"/>
              </a:rPr>
              <a:t>3</a:t>
            </a:r>
            <a:endParaRPr b="0" i="0" sz="2300" u="none" cap="none" strike="noStrike"/>
          </a:p>
        </p:txBody>
      </p:sp>
      <p:sp>
        <p:nvSpPr>
          <p:cNvPr id="177" name="Google Shape;177;p8"/>
          <p:cNvSpPr/>
          <p:nvPr/>
        </p:nvSpPr>
        <p:spPr>
          <a:xfrm>
            <a:off x="10294858" y="4907756"/>
            <a:ext cx="3646527" cy="61507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1900"/>
              <a:buFont typeface="Tomorrow SemiBold"/>
              <a:buNone/>
            </a:pPr>
            <a:r>
              <a:rPr b="1" i="0" lang="en-US" sz="1900" u="none" cap="none" strike="noStrike">
                <a:solidFill>
                  <a:srgbClr val="C9C9C0"/>
                </a:solidFill>
                <a:latin typeface="Tomorrow SemiBold"/>
                <a:ea typeface="Tomorrow SemiBold"/>
                <a:cs typeface="Tomorrow SemiBold"/>
                <a:sym typeface="Tomorrow SemiBold"/>
              </a:rPr>
              <a:t>Secuenciador de Microinstrucciones</a:t>
            </a:r>
            <a:endParaRPr b="0" i="0" sz="1900" u="none" cap="none" strike="noStrike"/>
          </a:p>
        </p:txBody>
      </p:sp>
      <p:sp>
        <p:nvSpPr>
          <p:cNvPr id="178" name="Google Shape;178;p8"/>
          <p:cNvSpPr/>
          <p:nvPr/>
        </p:nvSpPr>
        <p:spPr>
          <a:xfrm>
            <a:off x="10294858" y="5640943"/>
            <a:ext cx="3646527" cy="1888808"/>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C9C9C0"/>
              </a:buClr>
              <a:buSzPts val="1550"/>
              <a:buFont typeface="Tomorrow"/>
              <a:buNone/>
            </a:pPr>
            <a:r>
              <a:rPr b="0" i="0" lang="en-US" sz="1550" u="none" cap="none" strike="noStrike">
                <a:solidFill>
                  <a:srgbClr val="C9C9C0"/>
                </a:solidFill>
                <a:latin typeface="Tomorrow"/>
                <a:ea typeface="Tomorrow"/>
                <a:cs typeface="Tomorrow"/>
                <a:sym typeface="Tomorrow"/>
              </a:rPr>
              <a:t>El secuenciador de microinstrucciones es el responsable de generar las direcciones de la memoria de control, determinando el orden de ejecución de las microinstrucciones.</a:t>
            </a:r>
            <a:endParaRPr b="0" i="0" sz="15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descr="preencoded.png" id="184" name="Google Shape;184;p9"/>
          <p:cNvPicPr preferRelativeResize="0"/>
          <p:nvPr/>
        </p:nvPicPr>
        <p:blipFill rotWithShape="1">
          <a:blip r:embed="rId3">
            <a:alphaModFix/>
          </a:blip>
          <a:srcRect b="0" l="0" r="0" t="0"/>
          <a:stretch/>
        </p:blipFill>
        <p:spPr>
          <a:xfrm>
            <a:off x="0" y="0"/>
            <a:ext cx="14630400" cy="2599373"/>
          </a:xfrm>
          <a:prstGeom prst="rect">
            <a:avLst/>
          </a:prstGeom>
          <a:noFill/>
          <a:ln>
            <a:noFill/>
          </a:ln>
        </p:spPr>
      </p:pic>
      <p:sp>
        <p:nvSpPr>
          <p:cNvPr id="185" name="Google Shape;185;p9"/>
          <p:cNvSpPr/>
          <p:nvPr/>
        </p:nvSpPr>
        <p:spPr>
          <a:xfrm>
            <a:off x="727829" y="3336250"/>
            <a:ext cx="11844814" cy="649843"/>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EDEDE8"/>
              </a:buClr>
              <a:buSzPts val="4050"/>
              <a:buFont typeface="Tomorrow SemiBold"/>
              <a:buNone/>
            </a:pPr>
            <a:r>
              <a:rPr b="1" i="0" lang="en-US" sz="4050" u="none" cap="none" strike="noStrike">
                <a:solidFill>
                  <a:srgbClr val="EDEDE8"/>
                </a:solidFill>
                <a:latin typeface="Tomorrow SemiBold"/>
                <a:ea typeface="Tomorrow SemiBold"/>
                <a:cs typeface="Tomorrow SemiBold"/>
                <a:sym typeface="Tomorrow SemiBold"/>
              </a:rPr>
              <a:t>Unidades de control alambradas (hardwired)</a:t>
            </a:r>
            <a:endParaRPr b="0" i="0" sz="4050" u="none" cap="none" strike="noStrike"/>
          </a:p>
        </p:txBody>
      </p:sp>
      <p:sp>
        <p:nvSpPr>
          <p:cNvPr id="186" name="Google Shape;186;p9"/>
          <p:cNvSpPr/>
          <p:nvPr/>
        </p:nvSpPr>
        <p:spPr>
          <a:xfrm>
            <a:off x="727829" y="4297918"/>
            <a:ext cx="4253032" cy="3194685"/>
          </a:xfrm>
          <a:prstGeom prst="roundRect">
            <a:avLst>
              <a:gd fmla="val 976"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954862" y="4181001"/>
            <a:ext cx="3139200" cy="324900"/>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C9C9C0"/>
              </a:buClr>
              <a:buSzPts val="2000"/>
              <a:buFont typeface="Tomorrow SemiBold"/>
              <a:buNone/>
            </a:pPr>
            <a:r>
              <a:rPr b="1" i="0" lang="en-US" sz="2000" u="none" cap="none" strike="noStrike">
                <a:solidFill>
                  <a:srgbClr val="C9C9C0"/>
                </a:solidFill>
                <a:latin typeface="Tomorrow SemiBold"/>
                <a:ea typeface="Tomorrow SemiBold"/>
                <a:cs typeface="Tomorrow SemiBold"/>
                <a:sym typeface="Tomorrow SemiBold"/>
              </a:rPr>
              <a:t>Diseño Lógico Cableado</a:t>
            </a:r>
            <a:endParaRPr b="0" i="0" sz="2000" u="none" cap="none" strike="noStrike"/>
          </a:p>
        </p:txBody>
      </p:sp>
      <p:sp>
        <p:nvSpPr>
          <p:cNvPr id="188" name="Google Shape;188;p9"/>
          <p:cNvSpPr/>
          <p:nvPr/>
        </p:nvSpPr>
        <p:spPr>
          <a:xfrm>
            <a:off x="935712" y="4955262"/>
            <a:ext cx="3837265" cy="199667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9C9C0"/>
              </a:buClr>
              <a:buSzPts val="1600"/>
              <a:buFont typeface="Tomorrow"/>
              <a:buNone/>
            </a:pPr>
            <a:r>
              <a:rPr b="0" i="0" lang="en-US" sz="1600" u="none" cap="none" strike="noStrike">
                <a:solidFill>
                  <a:srgbClr val="C9C9C0"/>
                </a:solidFill>
                <a:latin typeface="Tomorrow"/>
                <a:ea typeface="Tomorrow"/>
                <a:cs typeface="Tomorrow"/>
                <a:sym typeface="Tomorrow"/>
              </a:rPr>
              <a:t>Las unidades de control alambradas, también conocidas como hardwired, se basan en un diseño lógico cableado, donde la lógica de control se implementa directamente en circuitos electrónicos.</a:t>
            </a:r>
            <a:endParaRPr b="0" i="0" sz="1600" u="none" cap="none" strike="noStrike"/>
          </a:p>
        </p:txBody>
      </p:sp>
      <p:sp>
        <p:nvSpPr>
          <p:cNvPr id="189" name="Google Shape;189;p9"/>
          <p:cNvSpPr/>
          <p:nvPr/>
        </p:nvSpPr>
        <p:spPr>
          <a:xfrm>
            <a:off x="5188744" y="4297918"/>
            <a:ext cx="4253032" cy="3194685"/>
          </a:xfrm>
          <a:prstGeom prst="roundRect">
            <a:avLst>
              <a:gd fmla="val 976"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5396627" y="4181001"/>
            <a:ext cx="3158400" cy="324900"/>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C9C9C0"/>
              </a:buClr>
              <a:buSzPts val="2000"/>
              <a:buFont typeface="Tomorrow SemiBold"/>
              <a:buNone/>
            </a:pPr>
            <a:r>
              <a:rPr b="1" i="0" lang="en-US" sz="2000" u="none" cap="none" strike="noStrike">
                <a:solidFill>
                  <a:srgbClr val="C9C9C0"/>
                </a:solidFill>
                <a:latin typeface="Tomorrow SemiBold"/>
                <a:ea typeface="Tomorrow SemiBold"/>
                <a:cs typeface="Tomorrow SemiBold"/>
                <a:sym typeface="Tomorrow SemiBold"/>
              </a:rPr>
              <a:t>Señales de Control Fijas</a:t>
            </a:r>
            <a:endParaRPr b="0" i="0" sz="2000" u="none" cap="none" strike="noStrike"/>
          </a:p>
        </p:txBody>
      </p:sp>
      <p:sp>
        <p:nvSpPr>
          <p:cNvPr id="191" name="Google Shape;191;p9"/>
          <p:cNvSpPr/>
          <p:nvPr/>
        </p:nvSpPr>
        <p:spPr>
          <a:xfrm>
            <a:off x="5396627" y="4955262"/>
            <a:ext cx="3837265" cy="199667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9C9C0"/>
              </a:buClr>
              <a:buSzPts val="1600"/>
              <a:buFont typeface="Tomorrow"/>
              <a:buNone/>
            </a:pPr>
            <a:r>
              <a:rPr b="0" i="0" lang="en-US" sz="1600" u="none" cap="none" strike="noStrike">
                <a:solidFill>
                  <a:srgbClr val="C9C9C0"/>
                </a:solidFill>
                <a:latin typeface="Tomorrow"/>
                <a:ea typeface="Tomorrow"/>
                <a:cs typeface="Tomorrow"/>
                <a:sym typeface="Tomorrow"/>
              </a:rPr>
              <a:t>En este enfoque, las señales de control están determinadas por la lógica de control cableada y no pueden ser modificadas fácilmente, a diferencia de las unidades de control microprogramadas.</a:t>
            </a:r>
            <a:endParaRPr b="0" i="0" sz="1600" u="none" cap="none" strike="noStrike"/>
          </a:p>
        </p:txBody>
      </p:sp>
      <p:sp>
        <p:nvSpPr>
          <p:cNvPr id="192" name="Google Shape;192;p9"/>
          <p:cNvSpPr/>
          <p:nvPr/>
        </p:nvSpPr>
        <p:spPr>
          <a:xfrm>
            <a:off x="9649658" y="4297918"/>
            <a:ext cx="4253032" cy="3194685"/>
          </a:xfrm>
          <a:prstGeom prst="roundRect">
            <a:avLst>
              <a:gd fmla="val 976" name="adj"/>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9857542" y="4505801"/>
            <a:ext cx="2599372" cy="324802"/>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C9C9C0"/>
              </a:buClr>
              <a:buSzPts val="2000"/>
              <a:buFont typeface="Tomorrow SemiBold"/>
              <a:buNone/>
            </a:pPr>
            <a:r>
              <a:rPr b="1" i="0" lang="en-US" sz="2000" u="none" cap="none" strike="noStrike">
                <a:solidFill>
                  <a:srgbClr val="C9C9C0"/>
                </a:solidFill>
                <a:latin typeface="Tomorrow SemiBold"/>
                <a:ea typeface="Tomorrow SemiBold"/>
                <a:cs typeface="Tomorrow SemiBold"/>
                <a:sym typeface="Tomorrow SemiBold"/>
              </a:rPr>
              <a:t>Ventajas</a:t>
            </a:r>
            <a:endParaRPr b="0" i="0" sz="2000" u="none" cap="none" strike="noStrike"/>
          </a:p>
        </p:txBody>
      </p:sp>
      <p:sp>
        <p:nvSpPr>
          <p:cNvPr id="194" name="Google Shape;194;p9"/>
          <p:cNvSpPr/>
          <p:nvPr/>
        </p:nvSpPr>
        <p:spPr>
          <a:xfrm>
            <a:off x="9857542" y="4955262"/>
            <a:ext cx="3837265" cy="232945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C9C9C0"/>
              </a:buClr>
              <a:buSzPts val="1600"/>
              <a:buFont typeface="Tomorrow"/>
              <a:buNone/>
            </a:pPr>
            <a:r>
              <a:rPr b="0" i="0" lang="en-US" sz="1600" u="none" cap="none" strike="noStrike">
                <a:solidFill>
                  <a:srgbClr val="C9C9C0"/>
                </a:solidFill>
                <a:latin typeface="Tomorrow"/>
                <a:ea typeface="Tomorrow"/>
                <a:cs typeface="Tomorrow"/>
                <a:sym typeface="Tomorrow"/>
              </a:rPr>
              <a:t>Las principales ventajas de las unidades de control alambradas son su mayor velocidad de ejecución y una implementación más simple y compacta, lo que las hace adecuadas para aplicaciones de alta velocidad y baja complejidad.</a:t>
            </a:r>
            <a:endParaRPr b="0" i="0" sz="16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0"/>
          <p:cNvSpPr/>
          <p:nvPr/>
        </p:nvSpPr>
        <p:spPr>
          <a:xfrm>
            <a:off x="793790" y="1278255"/>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EDEDE8"/>
              </a:buClr>
              <a:buSzPts val="4450"/>
              <a:buFont typeface="Tomorrow SemiBold"/>
              <a:buNone/>
            </a:pPr>
            <a:r>
              <a:rPr b="1" i="0" lang="en-US" sz="4450" u="none" cap="none" strike="noStrike">
                <a:solidFill>
                  <a:srgbClr val="EDEDE8"/>
                </a:solidFill>
                <a:latin typeface="Tomorrow SemiBold"/>
                <a:ea typeface="Tomorrow SemiBold"/>
                <a:cs typeface="Tomorrow SemiBold"/>
                <a:sym typeface="Tomorrow SemiBold"/>
              </a:rPr>
              <a:t>Diferencias entre unidades de control microprogramadas y alambradas</a:t>
            </a:r>
            <a:endParaRPr b="0" i="0" sz="4450" u="none" cap="none" strike="noStrike"/>
          </a:p>
        </p:txBody>
      </p:sp>
      <p:sp>
        <p:nvSpPr>
          <p:cNvPr id="201" name="Google Shape;201;p10"/>
          <p:cNvSpPr/>
          <p:nvPr/>
        </p:nvSpPr>
        <p:spPr>
          <a:xfrm>
            <a:off x="793790" y="326278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DEDE8"/>
              </a:buClr>
              <a:buSzPts val="2200"/>
              <a:buFont typeface="Tomorrow SemiBold"/>
              <a:buNone/>
            </a:pPr>
            <a:r>
              <a:rPr b="1" i="0" lang="en-US" sz="2200" u="none" cap="none" strike="noStrike">
                <a:solidFill>
                  <a:srgbClr val="EDEDE8"/>
                </a:solidFill>
                <a:latin typeface="Tomorrow SemiBold"/>
                <a:ea typeface="Tomorrow SemiBold"/>
                <a:cs typeface="Tomorrow SemiBold"/>
                <a:sym typeface="Tomorrow SemiBold"/>
              </a:rPr>
              <a:t>Flexibilidad</a:t>
            </a:r>
            <a:endParaRPr b="0" i="0" sz="2200" u="none" cap="none" strike="noStrike"/>
          </a:p>
        </p:txBody>
      </p:sp>
      <p:sp>
        <p:nvSpPr>
          <p:cNvPr id="202" name="Google Shape;202;p10"/>
          <p:cNvSpPr/>
          <p:nvPr/>
        </p:nvSpPr>
        <p:spPr>
          <a:xfrm>
            <a:off x="793790" y="3843933"/>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Las unidades de control microprogramadas son más flexibles y pueden ser modificadas fácilmente mediante cambios en el microcodigo. Las unidades de control alambradas tienen una lógica de control fija y son más difíciles de modificar.</a:t>
            </a:r>
            <a:endParaRPr b="0" i="0" sz="1750" u="none" cap="none" strike="noStrike"/>
          </a:p>
        </p:txBody>
      </p:sp>
      <p:sp>
        <p:nvSpPr>
          <p:cNvPr id="203" name="Google Shape;203;p10"/>
          <p:cNvSpPr/>
          <p:nvPr/>
        </p:nvSpPr>
        <p:spPr>
          <a:xfrm>
            <a:off x="5332928" y="3092702"/>
            <a:ext cx="33204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DEDE8"/>
              </a:buClr>
              <a:buSzPts val="2200"/>
              <a:buFont typeface="Tomorrow SemiBold"/>
              <a:buNone/>
            </a:pPr>
            <a:r>
              <a:rPr b="1" i="0" lang="en-US" sz="2200" u="none" cap="none" strike="noStrike">
                <a:solidFill>
                  <a:srgbClr val="EDEDE8"/>
                </a:solidFill>
                <a:latin typeface="Tomorrow SemiBold"/>
                <a:ea typeface="Tomorrow SemiBold"/>
                <a:cs typeface="Tomorrow SemiBold"/>
                <a:sym typeface="Tomorrow SemiBold"/>
              </a:rPr>
              <a:t>Velocidad de Ejecución</a:t>
            </a:r>
            <a:endParaRPr b="0" i="0" sz="2200" u="none" cap="none" strike="noStrike"/>
          </a:p>
        </p:txBody>
      </p:sp>
      <p:sp>
        <p:nvSpPr>
          <p:cNvPr id="204" name="Google Shape;204;p10"/>
          <p:cNvSpPr/>
          <p:nvPr/>
        </p:nvSpPr>
        <p:spPr>
          <a:xfrm>
            <a:off x="5332928" y="3843933"/>
            <a:ext cx="3978116"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Las unidades de control alambradas suelen ser más rápidas en la ejecución de instrucciones, ya que no requieren la decodificación y ejecución de microinstrucciones como en el caso de las unidades microprogramadas.</a:t>
            </a:r>
            <a:endParaRPr b="0" i="0" sz="1750" u="none" cap="none" strike="noStrike"/>
          </a:p>
        </p:txBody>
      </p:sp>
      <p:sp>
        <p:nvSpPr>
          <p:cNvPr id="205" name="Google Shape;205;p10"/>
          <p:cNvSpPr/>
          <p:nvPr/>
        </p:nvSpPr>
        <p:spPr>
          <a:xfrm>
            <a:off x="9872067" y="3092702"/>
            <a:ext cx="33105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DEDE8"/>
              </a:buClr>
              <a:buSzPts val="2200"/>
              <a:buFont typeface="Tomorrow SemiBold"/>
              <a:buNone/>
            </a:pPr>
            <a:r>
              <a:rPr b="1" i="0" lang="en-US" sz="2200" u="none" cap="none" strike="noStrike">
                <a:solidFill>
                  <a:srgbClr val="EDEDE8"/>
                </a:solidFill>
                <a:latin typeface="Tomorrow SemiBold"/>
                <a:ea typeface="Tomorrow SemiBold"/>
                <a:cs typeface="Tomorrow SemiBold"/>
                <a:sym typeface="Tomorrow SemiBold"/>
              </a:rPr>
              <a:t>Complejidad de Diseño</a:t>
            </a:r>
            <a:endParaRPr b="0" i="0" sz="2200" u="none" cap="none" strike="noStrike"/>
          </a:p>
        </p:txBody>
      </p:sp>
      <p:sp>
        <p:nvSpPr>
          <p:cNvPr id="206" name="Google Shape;206;p10"/>
          <p:cNvSpPr/>
          <p:nvPr/>
        </p:nvSpPr>
        <p:spPr>
          <a:xfrm>
            <a:off x="9872067" y="3843933"/>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9C9C0"/>
              </a:buClr>
              <a:buSzPts val="1750"/>
              <a:buFont typeface="Tomorrow"/>
              <a:buNone/>
            </a:pPr>
            <a:r>
              <a:rPr b="0" i="0" lang="en-US" sz="1750" u="none" cap="none" strike="noStrike">
                <a:solidFill>
                  <a:srgbClr val="C9C9C0"/>
                </a:solidFill>
                <a:latin typeface="Tomorrow"/>
                <a:ea typeface="Tomorrow"/>
                <a:cs typeface="Tomorrow"/>
                <a:sym typeface="Tomorrow"/>
              </a:rPr>
              <a:t>El diseño de una unidad de control alambrada es generalmente más simple y compacto, mientras que las unidades microprogramadas requieren una mayor complejidad en el diseño de la memoria de control y el interpretador de microinstrucciones.</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2024-11-04T16:06:54Z</dcterms:created>
  <dc:creator>PptxGenJS</dc:creator>
</cp:coreProperties>
</file>