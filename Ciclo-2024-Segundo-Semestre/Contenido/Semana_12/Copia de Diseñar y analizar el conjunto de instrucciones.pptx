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Tenor Sans"/>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HtSdsl7bCzcQ9bYVvsVBkeruu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enorSans-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609474" y="6630732"/>
            <a:ext cx="4378481" cy="4378481"/>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2531874" y="6886945"/>
            <a:ext cx="1237134" cy="1345610"/>
            <a:chOff x="0" y="-38100"/>
            <a:chExt cx="325830" cy="354399"/>
          </a:xfrm>
        </p:grpSpPr>
        <p:sp>
          <p:nvSpPr>
            <p:cNvPr id="88" name="Google Shape;88;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BFD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0" name="Google Shape;90;p1"/>
          <p:cNvSpPr txBox="1"/>
          <p:nvPr/>
        </p:nvSpPr>
        <p:spPr>
          <a:xfrm>
            <a:off x="3150441" y="2096415"/>
            <a:ext cx="12563700" cy="5919000"/>
          </a:xfrm>
          <a:prstGeom prst="rect">
            <a:avLst/>
          </a:prstGeom>
          <a:noFill/>
          <a:ln>
            <a:noFill/>
          </a:ln>
        </p:spPr>
        <p:txBody>
          <a:bodyPr anchorCtr="0" anchor="t" bIns="0" lIns="0" spcFirstLastPara="1" rIns="0" wrap="square" tIns="0">
            <a:spAutoFit/>
          </a:bodyPr>
          <a:lstStyle/>
          <a:p>
            <a:pPr indent="0" lvl="0" marL="0" marR="0" rtl="0" algn="ctr">
              <a:lnSpc>
                <a:spcPct val="91999"/>
              </a:lnSpc>
              <a:spcBef>
                <a:spcPts val="0"/>
              </a:spcBef>
              <a:spcAft>
                <a:spcPts val="0"/>
              </a:spcAft>
              <a:buClr>
                <a:srgbClr val="000000"/>
              </a:buClr>
              <a:buSzPts val="9600"/>
              <a:buFont typeface="Arial"/>
              <a:buNone/>
            </a:pPr>
            <a:r>
              <a:rPr b="1" i="0" lang="en-US" sz="9600" u="none" cap="none" strike="noStrike">
                <a:solidFill>
                  <a:srgbClr val="022033"/>
                </a:solidFill>
                <a:latin typeface="Arial"/>
                <a:ea typeface="Arial"/>
                <a:cs typeface="Arial"/>
                <a:sym typeface="Arial"/>
              </a:rPr>
              <a:t>DISEÑO Y ANÁLISIS DEL CONJUNTO DE INSTRUCCIONES</a:t>
            </a:r>
            <a:endParaRPr b="0" i="0" sz="9600" u="none" cap="none" strike="noStrike">
              <a:solidFill>
                <a:srgbClr val="000000"/>
              </a:solidFill>
              <a:latin typeface="Arial"/>
              <a:ea typeface="Arial"/>
              <a:cs typeface="Arial"/>
              <a:sym typeface="Arial"/>
            </a:endParaRPr>
          </a:p>
          <a:p>
            <a:pPr indent="0" lvl="0" marL="0" marR="0" rtl="0" algn="ctr">
              <a:lnSpc>
                <a:spcPct val="91999"/>
              </a:lnSpc>
              <a:spcBef>
                <a:spcPts val="0"/>
              </a:spcBef>
              <a:spcAft>
                <a:spcPts val="0"/>
              </a:spcAft>
              <a:buClr>
                <a:srgbClr val="000000"/>
              </a:buClr>
              <a:buSzPts val="12999"/>
              <a:buFont typeface="Arial"/>
              <a:buNone/>
            </a:pPr>
            <a:r>
              <a:t/>
            </a:r>
            <a:endParaRPr b="1" i="0" sz="12999" u="none" cap="none" strike="noStrike">
              <a:solidFill>
                <a:srgbClr val="022033"/>
              </a:solidFill>
              <a:latin typeface="Arial"/>
              <a:ea typeface="Arial"/>
              <a:cs typeface="Arial"/>
              <a:sym typeface="Arial"/>
            </a:endParaRPr>
          </a:p>
        </p:txBody>
      </p:sp>
      <p:sp>
        <p:nvSpPr>
          <p:cNvPr id="91" name="Google Shape;91;p1"/>
          <p:cNvSpPr/>
          <p:nvPr/>
        </p:nvSpPr>
        <p:spPr>
          <a:xfrm rot="-5400000">
            <a:off x="362774" y="-30820"/>
            <a:ext cx="3688357" cy="4114800"/>
          </a:xfrm>
          <a:custGeom>
            <a:rect b="b" l="l" r="r" t="t"/>
            <a:pathLst>
              <a:path extrusionOk="0" h="4114800" w="3688357">
                <a:moveTo>
                  <a:pt x="0" y="0"/>
                </a:moveTo>
                <a:lnTo>
                  <a:pt x="3688357" y="0"/>
                </a:lnTo>
                <a:lnTo>
                  <a:pt x="3688357" y="4114800"/>
                </a:lnTo>
                <a:lnTo>
                  <a:pt x="0" y="4114800"/>
                </a:lnTo>
                <a:lnTo>
                  <a:pt x="0" y="0"/>
                </a:lnTo>
                <a:close/>
              </a:path>
            </a:pathLst>
          </a:custGeom>
          <a:blipFill rotWithShape="1">
            <a:blip r:embed="rId3">
              <a:alphaModFix/>
            </a:blip>
            <a:stretch>
              <a:fillRect b="0" l="0" r="0" t="0"/>
            </a:stretch>
          </a:blipFill>
          <a:ln>
            <a:noFill/>
          </a:ln>
        </p:spPr>
      </p:sp>
      <p:grpSp>
        <p:nvGrpSpPr>
          <p:cNvPr id="92" name="Google Shape;92;p1"/>
          <p:cNvGrpSpPr/>
          <p:nvPr/>
        </p:nvGrpSpPr>
        <p:grpSpPr>
          <a:xfrm>
            <a:off x="15728559" y="1008380"/>
            <a:ext cx="1237134" cy="1345610"/>
            <a:chOff x="0" y="-38100"/>
            <a:chExt cx="325830" cy="354399"/>
          </a:xfrm>
        </p:grpSpPr>
        <p:sp>
          <p:nvSpPr>
            <p:cNvPr id="93" name="Google Shape;93;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14289726" y="63930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grpSp>
        <p:nvGrpSpPr>
          <p:cNvPr id="96" name="Google Shape;96;p1"/>
          <p:cNvGrpSpPr/>
          <p:nvPr/>
        </p:nvGrpSpPr>
        <p:grpSpPr>
          <a:xfrm>
            <a:off x="13804199" y="8305815"/>
            <a:ext cx="971055" cy="1079531"/>
            <a:chOff x="0" y="-38100"/>
            <a:chExt cx="255751" cy="284321"/>
          </a:xfrm>
        </p:grpSpPr>
        <p:sp>
          <p:nvSpPr>
            <p:cNvPr id="97" name="Google Shape;97;p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4232465" y="2920957"/>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3">
              <a:alphaModFix/>
            </a:blip>
            <a:stretch>
              <a:fillRect b="0" l="0" r="0" t="0"/>
            </a:stretch>
          </a:blipFill>
          <a:ln>
            <a:noFill/>
          </a:ln>
        </p:spPr>
      </p:sp>
      <p:sp>
        <p:nvSpPr>
          <p:cNvPr id="104" name="Google Shape;104;p2"/>
          <p:cNvSpPr/>
          <p:nvPr/>
        </p:nvSpPr>
        <p:spPr>
          <a:xfrm>
            <a:off x="4232465" y="4159124"/>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5" name="Google Shape;105;p2"/>
          <p:cNvSpPr/>
          <p:nvPr/>
        </p:nvSpPr>
        <p:spPr>
          <a:xfrm>
            <a:off x="4241908" y="5430646"/>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4241908" y="6701103"/>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6">
              <a:alphaModFix/>
            </a:blip>
            <a:stretch>
              <a:fillRect b="0" l="0" r="0" t="0"/>
            </a:stretch>
          </a:blipFill>
          <a:ln>
            <a:noFill/>
          </a:ln>
        </p:spPr>
      </p:sp>
      <p:sp>
        <p:nvSpPr>
          <p:cNvPr id="107" name="Google Shape;107;p2"/>
          <p:cNvSpPr/>
          <p:nvPr/>
        </p:nvSpPr>
        <p:spPr>
          <a:xfrm>
            <a:off x="4232465" y="7963669"/>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8" name="Google Shape;108;p2"/>
          <p:cNvSpPr/>
          <p:nvPr/>
        </p:nvSpPr>
        <p:spPr>
          <a:xfrm rot="10800000">
            <a:off x="134706" y="5284201"/>
            <a:ext cx="4372659" cy="4878220"/>
          </a:xfrm>
          <a:custGeom>
            <a:rect b="b" l="l" r="r" t="t"/>
            <a:pathLst>
              <a:path extrusionOk="0" h="4878220" w="4372659">
                <a:moveTo>
                  <a:pt x="0" y="0"/>
                </a:moveTo>
                <a:lnTo>
                  <a:pt x="4372659" y="0"/>
                </a:lnTo>
                <a:lnTo>
                  <a:pt x="4372659" y="4878220"/>
                </a:lnTo>
                <a:lnTo>
                  <a:pt x="0" y="4878220"/>
                </a:lnTo>
                <a:lnTo>
                  <a:pt x="0" y="0"/>
                </a:lnTo>
                <a:close/>
              </a:path>
            </a:pathLst>
          </a:custGeom>
          <a:blipFill rotWithShape="1">
            <a:blip r:embed="rId7">
              <a:alphaModFix/>
            </a:blip>
            <a:stretch>
              <a:fillRect b="0" l="0" r="0" t="0"/>
            </a:stretch>
          </a:blipFill>
          <a:ln>
            <a:noFill/>
          </a:ln>
        </p:spPr>
      </p:sp>
      <p:sp>
        <p:nvSpPr>
          <p:cNvPr id="109" name="Google Shape;109;p2"/>
          <p:cNvSpPr txBox="1"/>
          <p:nvPr/>
        </p:nvSpPr>
        <p:spPr>
          <a:xfrm>
            <a:off x="1711560" y="1285875"/>
            <a:ext cx="14865000" cy="8496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Clr>
                <a:srgbClr val="000000"/>
              </a:buClr>
              <a:buSzPts val="6000"/>
              <a:buFont typeface="Arial"/>
              <a:buNone/>
            </a:pPr>
            <a:r>
              <a:rPr b="0" i="0" lang="en-US" sz="6000" u="none" cap="none" strike="noStrike">
                <a:solidFill>
                  <a:srgbClr val="022033"/>
                </a:solidFill>
                <a:latin typeface="Arial"/>
                <a:ea typeface="Arial"/>
                <a:cs typeface="Arial"/>
                <a:sym typeface="Arial"/>
              </a:rPr>
              <a:t>RESUMEN DE CONTENIDOS</a:t>
            </a:r>
            <a:endParaRPr b="0" i="0" sz="6000" u="none" cap="none" strike="noStrike">
              <a:solidFill>
                <a:srgbClr val="000000"/>
              </a:solidFill>
              <a:latin typeface="Arial"/>
              <a:ea typeface="Arial"/>
              <a:cs typeface="Arial"/>
              <a:sym typeface="Arial"/>
            </a:endParaRPr>
          </a:p>
        </p:txBody>
      </p:sp>
      <p:sp>
        <p:nvSpPr>
          <p:cNvPr id="110" name="Google Shape;110;p2"/>
          <p:cNvSpPr txBox="1"/>
          <p:nvPr/>
        </p:nvSpPr>
        <p:spPr>
          <a:xfrm>
            <a:off x="5769175" y="3177800"/>
            <a:ext cx="6907105"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Clr>
                <a:srgbClr val="000000"/>
              </a:buClr>
              <a:buSzPts val="2730"/>
              <a:buFont typeface="Arial"/>
              <a:buNone/>
            </a:pPr>
            <a:r>
              <a:rPr b="0" i="0" lang="en-US" sz="2730" u="none" cap="none" strike="noStrike">
                <a:solidFill>
                  <a:srgbClr val="022033"/>
                </a:solidFill>
                <a:latin typeface="Tenor Sans"/>
                <a:ea typeface="Tenor Sans"/>
                <a:cs typeface="Tenor Sans"/>
                <a:sym typeface="Tenor Sans"/>
              </a:rPr>
              <a:t>DISEÑO DEL CONJUNTO DE INSTRUCCIONES</a:t>
            </a:r>
            <a:endParaRPr b="0" i="0" sz="1400" u="none" cap="none" strike="noStrike">
              <a:solidFill>
                <a:srgbClr val="000000"/>
              </a:solidFill>
              <a:latin typeface="Arial"/>
              <a:ea typeface="Arial"/>
              <a:cs typeface="Arial"/>
              <a:sym typeface="Arial"/>
            </a:endParaRPr>
          </a:p>
        </p:txBody>
      </p:sp>
      <p:sp>
        <p:nvSpPr>
          <p:cNvPr id="111" name="Google Shape;111;p2"/>
          <p:cNvSpPr txBox="1"/>
          <p:nvPr/>
        </p:nvSpPr>
        <p:spPr>
          <a:xfrm>
            <a:off x="6056746" y="4589793"/>
            <a:ext cx="611975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Clr>
                <a:srgbClr val="000000"/>
              </a:buClr>
              <a:buSzPts val="2730"/>
              <a:buFont typeface="Arial"/>
              <a:buNone/>
            </a:pPr>
            <a:r>
              <a:rPr b="0" i="0" lang="en-US" sz="2730" u="none" cap="none" strike="noStrike">
                <a:solidFill>
                  <a:srgbClr val="022033"/>
                </a:solidFill>
                <a:latin typeface="Tenor Sans"/>
                <a:ea typeface="Tenor Sans"/>
                <a:cs typeface="Tenor Sans"/>
                <a:sym typeface="Tenor Sans"/>
              </a:rPr>
              <a:t>COMPONENTES PRINCIPALES</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5874184" y="5699186"/>
            <a:ext cx="653963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Clr>
                <a:srgbClr val="000000"/>
              </a:buClr>
              <a:buSzPts val="2730"/>
              <a:buFont typeface="Arial"/>
              <a:buNone/>
            </a:pPr>
            <a:r>
              <a:rPr b="0" i="0" lang="en-US" sz="2730" u="none" cap="none" strike="noStrike">
                <a:solidFill>
                  <a:srgbClr val="022033"/>
                </a:solidFill>
                <a:latin typeface="Tenor Sans"/>
                <a:ea typeface="Tenor Sans"/>
                <a:cs typeface="Tenor Sans"/>
                <a:sym typeface="Tenor Sans"/>
              </a:rPr>
              <a:t>ELEMENTOS A CONSIDERAR</a:t>
            </a:r>
            <a:endParaRPr b="0" i="0" sz="1400" u="none" cap="none" strike="noStrike">
              <a:solidFill>
                <a:srgbClr val="000000"/>
              </a:solidFill>
              <a:latin typeface="Arial"/>
              <a:ea typeface="Arial"/>
              <a:cs typeface="Arial"/>
              <a:sym typeface="Arial"/>
            </a:endParaRPr>
          </a:p>
        </p:txBody>
      </p:sp>
      <p:sp>
        <p:nvSpPr>
          <p:cNvPr id="113" name="Google Shape;113;p2"/>
          <p:cNvSpPr txBox="1"/>
          <p:nvPr/>
        </p:nvSpPr>
        <p:spPr>
          <a:xfrm>
            <a:off x="6345413" y="6957414"/>
            <a:ext cx="576407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Clr>
                <a:srgbClr val="000000"/>
              </a:buClr>
              <a:buSzPts val="2730"/>
              <a:buFont typeface="Arial"/>
              <a:buNone/>
            </a:pPr>
            <a:r>
              <a:rPr b="0" i="0" lang="en-US" sz="2730" u="none" cap="none" strike="noStrike">
                <a:solidFill>
                  <a:srgbClr val="022033"/>
                </a:solidFill>
                <a:latin typeface="Tenor Sans"/>
                <a:ea typeface="Tenor Sans"/>
                <a:cs typeface="Tenor Sans"/>
                <a:sym typeface="Tenor Sans"/>
              </a:rPr>
              <a:t>EJEMPLOS</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6345413" y="8244216"/>
            <a:ext cx="5542416"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Clr>
                <a:srgbClr val="000000"/>
              </a:buClr>
              <a:buSzPts val="2730"/>
              <a:buFont typeface="Arial"/>
              <a:buNone/>
            </a:pPr>
            <a:r>
              <a:rPr b="0" i="0" lang="en-US" sz="2730" u="none" cap="none" strike="noStrike">
                <a:solidFill>
                  <a:srgbClr val="022033"/>
                </a:solidFill>
                <a:latin typeface="Tenor Sans"/>
                <a:ea typeface="Tenor Sans"/>
                <a:cs typeface="Tenor Sans"/>
                <a:sym typeface="Tenor Sans"/>
              </a:rPr>
              <a:t>ANALISIS DEL CONJUNTO DE INSTRUCCIONES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nvSpPr>
        <p:spPr>
          <a:xfrm>
            <a:off x="2915814" y="7596881"/>
            <a:ext cx="12456300" cy="135930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Clr>
                <a:srgbClr val="000000"/>
              </a:buClr>
              <a:buSzPts val="9600"/>
              <a:buFont typeface="Arial"/>
              <a:buNone/>
            </a:pPr>
            <a:r>
              <a:rPr b="0" i="0" lang="en-US" sz="9600" u="none" cap="none" strike="noStrike">
                <a:solidFill>
                  <a:srgbClr val="022033"/>
                </a:solidFill>
                <a:latin typeface="Arial"/>
                <a:ea typeface="Arial"/>
                <a:cs typeface="Arial"/>
                <a:sym typeface="Arial"/>
              </a:rPr>
              <a:t>INTRODUCCION</a:t>
            </a:r>
            <a:endParaRPr b="0" i="0" sz="9600" u="none" cap="none" strike="noStrike">
              <a:solidFill>
                <a:srgbClr val="000000"/>
              </a:solidFill>
              <a:latin typeface="Arial"/>
              <a:ea typeface="Arial"/>
              <a:cs typeface="Arial"/>
              <a:sym typeface="Arial"/>
            </a:endParaRPr>
          </a:p>
        </p:txBody>
      </p:sp>
      <p:grpSp>
        <p:nvGrpSpPr>
          <p:cNvPr id="120" name="Google Shape;120;p3"/>
          <p:cNvGrpSpPr/>
          <p:nvPr/>
        </p:nvGrpSpPr>
        <p:grpSpPr>
          <a:xfrm>
            <a:off x="1764733" y="4162438"/>
            <a:ext cx="971055" cy="1079531"/>
            <a:chOff x="0" y="-38100"/>
            <a:chExt cx="255751" cy="284321"/>
          </a:xfrm>
        </p:grpSpPr>
        <p:sp>
          <p:nvSpPr>
            <p:cNvPr id="121" name="Google Shape;121;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a:off x="13642983" y="6451073"/>
            <a:ext cx="971055" cy="1079531"/>
            <a:chOff x="0" y="-38100"/>
            <a:chExt cx="255751" cy="284321"/>
          </a:xfrm>
        </p:grpSpPr>
        <p:sp>
          <p:nvSpPr>
            <p:cNvPr id="124" name="Google Shape;124;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3E7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3"/>
          <p:cNvGrpSpPr/>
          <p:nvPr/>
        </p:nvGrpSpPr>
        <p:grpSpPr>
          <a:xfrm>
            <a:off x="16487255" y="530831"/>
            <a:ext cx="971055" cy="1079531"/>
            <a:chOff x="0" y="-38100"/>
            <a:chExt cx="255751" cy="284321"/>
          </a:xfrm>
        </p:grpSpPr>
        <p:sp>
          <p:nvSpPr>
            <p:cNvPr id="127" name="Google Shape;127;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3"/>
          <p:cNvSpPr/>
          <p:nvPr/>
        </p:nvSpPr>
        <p:spPr>
          <a:xfrm>
            <a:off x="4657607" y="898874"/>
            <a:ext cx="7996924" cy="6164296"/>
          </a:xfrm>
          <a:custGeom>
            <a:rect b="b" l="l" r="r" t="t"/>
            <a:pathLst>
              <a:path extrusionOk="0" h="6164296" w="7996924">
                <a:moveTo>
                  <a:pt x="0" y="0"/>
                </a:moveTo>
                <a:lnTo>
                  <a:pt x="7996924" y="0"/>
                </a:lnTo>
                <a:lnTo>
                  <a:pt x="7996924" y="6164296"/>
                </a:lnTo>
                <a:lnTo>
                  <a:pt x="0" y="616429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4"/>
          <p:cNvGrpSpPr/>
          <p:nvPr/>
        </p:nvGrpSpPr>
        <p:grpSpPr>
          <a:xfrm>
            <a:off x="16098759" y="604794"/>
            <a:ext cx="4378481" cy="4378481"/>
            <a:chOff x="0" y="0"/>
            <a:chExt cx="812800" cy="812800"/>
          </a:xfrm>
        </p:grpSpPr>
        <p:sp>
          <p:nvSpPr>
            <p:cNvPr id="135" name="Google Shape;13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4"/>
          <p:cNvSpPr txBox="1"/>
          <p:nvPr/>
        </p:nvSpPr>
        <p:spPr>
          <a:xfrm>
            <a:off x="836809" y="3770855"/>
            <a:ext cx="15936963"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diseño y análisis del conjunto de instrucciones (ISA) es un componente clave en la arquitectura de cualquier procesador, ya que establece las operaciones que el procesador puede realizar y cómo interactúa con la memoria y los datos.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Este conjunto de instrucciones se considera la interfaz entre el hardware (procesador) y el software, permitiendo que el código que escribe un programador pueda ejecutarse de manera eficiente en el procesador.</a:t>
            </a:r>
            <a:endParaRPr b="0" i="0" sz="1400" u="none" cap="none" strike="noStrike">
              <a:solidFill>
                <a:srgbClr val="000000"/>
              </a:solidFill>
              <a:latin typeface="Arial"/>
              <a:ea typeface="Arial"/>
              <a:cs typeface="Arial"/>
              <a:sym typeface="Arial"/>
            </a:endParaRPr>
          </a:p>
        </p:txBody>
      </p:sp>
      <p:sp>
        <p:nvSpPr>
          <p:cNvPr id="138" name="Google Shape;138;p4"/>
          <p:cNvSpPr txBox="1"/>
          <p:nvPr/>
        </p:nvSpPr>
        <p:spPr>
          <a:xfrm>
            <a:off x="689991" y="709179"/>
            <a:ext cx="16230600" cy="2718900"/>
          </a:xfrm>
          <a:prstGeom prst="rect">
            <a:avLst/>
          </a:prstGeom>
          <a:noFill/>
          <a:ln>
            <a:noFill/>
          </a:ln>
        </p:spPr>
        <p:txBody>
          <a:bodyPr anchorCtr="0" anchor="t" bIns="0" lIns="0" spcFirstLastPara="1" rIns="0" wrap="square" tIns="0">
            <a:spAutoFit/>
          </a:bodyPr>
          <a:lstStyle/>
          <a:p>
            <a:pPr indent="0" lvl="0" marL="0" marR="0" rtl="0" algn="l">
              <a:lnSpc>
                <a:spcPct val="91996"/>
              </a:lnSpc>
              <a:spcBef>
                <a:spcPts val="0"/>
              </a:spcBef>
              <a:spcAft>
                <a:spcPts val="0"/>
              </a:spcAft>
              <a:buClr>
                <a:srgbClr val="000000"/>
              </a:buClr>
              <a:buSzPts val="9600"/>
              <a:buFont typeface="Arial"/>
              <a:buNone/>
            </a:pPr>
            <a:r>
              <a:rPr b="0" i="0" lang="en-US" sz="9600" u="none" cap="none" strike="noStrike">
                <a:solidFill>
                  <a:srgbClr val="022033"/>
                </a:solidFill>
                <a:latin typeface="Arial"/>
                <a:ea typeface="Arial"/>
                <a:cs typeface="Arial"/>
                <a:sym typeface="Arial"/>
              </a:rPr>
              <a:t>DISEÑO DEL CONJUNTO DE INSTRUCCIONES (ISA)</a:t>
            </a:r>
            <a:endParaRPr b="0" i="0" sz="9600" u="none" cap="none" strike="noStrike">
              <a:solidFill>
                <a:srgbClr val="000000"/>
              </a:solidFill>
              <a:latin typeface="Arial"/>
              <a:ea typeface="Arial"/>
              <a:cs typeface="Arial"/>
              <a:sym typeface="Arial"/>
            </a:endParaRPr>
          </a:p>
        </p:txBody>
      </p:sp>
      <p:grpSp>
        <p:nvGrpSpPr>
          <p:cNvPr id="139" name="Google Shape;139;p4"/>
          <p:cNvGrpSpPr/>
          <p:nvPr/>
        </p:nvGrpSpPr>
        <p:grpSpPr>
          <a:xfrm>
            <a:off x="16288245" y="5635551"/>
            <a:ext cx="971055" cy="1079531"/>
            <a:chOff x="0" y="-38100"/>
            <a:chExt cx="255751" cy="284321"/>
          </a:xfrm>
        </p:grpSpPr>
        <p:sp>
          <p:nvSpPr>
            <p:cNvPr id="140" name="Google Shape;140;p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1186709" y="692887"/>
            <a:ext cx="13905095" cy="7107601"/>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diseño del conjunto de instrucciones abarca la definición de las operaciones básicas que el procesador debe ser capaz de ejecutar y la manera en que estas operaciones se codifican en instrucciones binarias para que el procesador las entienda.</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Componentes principales de un ISA:</a:t>
            </a:r>
            <a:endParaRPr b="0" i="0" sz="1400" u="none" cap="none" strike="noStrike">
              <a:solidFill>
                <a:srgbClr val="000000"/>
              </a:solidFill>
              <a:latin typeface="Arial"/>
              <a:ea typeface="Arial"/>
              <a:cs typeface="Arial"/>
              <a:sym typeface="Arial"/>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Opcodes (Códigos de operación)</a:t>
            </a:r>
            <a:endParaRPr b="0" i="0" sz="1400" u="none" cap="none" strike="noStrike">
              <a:solidFill>
                <a:srgbClr val="000000"/>
              </a:solidFill>
              <a:latin typeface="Arial"/>
              <a:ea typeface="Arial"/>
              <a:cs typeface="Arial"/>
              <a:sym typeface="Arial"/>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Operandos</a:t>
            </a:r>
            <a:endParaRPr b="0" i="0" sz="1400" u="none" cap="none" strike="noStrike">
              <a:solidFill>
                <a:srgbClr val="000000"/>
              </a:solidFill>
              <a:latin typeface="Arial"/>
              <a:ea typeface="Arial"/>
              <a:cs typeface="Arial"/>
              <a:sym typeface="Arial"/>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Modificadores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grpSp>
        <p:nvGrpSpPr>
          <p:cNvPr id="147" name="Google Shape;147;p5"/>
          <p:cNvGrpSpPr/>
          <p:nvPr/>
        </p:nvGrpSpPr>
        <p:grpSpPr>
          <a:xfrm>
            <a:off x="16098759" y="604794"/>
            <a:ext cx="4378481" cy="4378481"/>
            <a:chOff x="0" y="0"/>
            <a:chExt cx="812800" cy="812800"/>
          </a:xfrm>
        </p:grpSpPr>
        <p:sp>
          <p:nvSpPr>
            <p:cNvPr id="148" name="Google Shape;148;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5"/>
          <p:cNvGrpSpPr/>
          <p:nvPr/>
        </p:nvGrpSpPr>
        <p:grpSpPr>
          <a:xfrm>
            <a:off x="16288245" y="5635551"/>
            <a:ext cx="971055" cy="1079531"/>
            <a:chOff x="0" y="-38100"/>
            <a:chExt cx="255751" cy="284321"/>
          </a:xfrm>
        </p:grpSpPr>
        <p:sp>
          <p:nvSpPr>
            <p:cNvPr id="151" name="Google Shape;151;p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5"/>
          <p:cNvSpPr/>
          <p:nvPr/>
        </p:nvSpPr>
        <p:spPr>
          <a:xfrm>
            <a:off x="9870538" y="5985372"/>
            <a:ext cx="6228223" cy="3568982"/>
          </a:xfrm>
          <a:custGeom>
            <a:rect b="b" l="l" r="r" t="t"/>
            <a:pathLst>
              <a:path extrusionOk="0" h="3568982" w="6228223">
                <a:moveTo>
                  <a:pt x="0" y="0"/>
                </a:moveTo>
                <a:lnTo>
                  <a:pt x="6228224" y="0"/>
                </a:lnTo>
                <a:lnTo>
                  <a:pt x="6228224" y="3568982"/>
                </a:lnTo>
                <a:lnTo>
                  <a:pt x="0" y="3568982"/>
                </a:lnTo>
                <a:lnTo>
                  <a:pt x="0" y="0"/>
                </a:lnTo>
                <a:close/>
              </a:path>
            </a:pathLst>
          </a:custGeom>
          <a:blipFill rotWithShape="1">
            <a:blip r:embed="rId3">
              <a:alphaModFix/>
            </a:blip>
            <a:stretch>
              <a:fillRect b="-22214" l="-23669" r="-29222" t="-37532"/>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pSp>
        <p:nvGrpSpPr>
          <p:cNvPr id="158" name="Google Shape;158;p6"/>
          <p:cNvGrpSpPr/>
          <p:nvPr/>
        </p:nvGrpSpPr>
        <p:grpSpPr>
          <a:xfrm>
            <a:off x="-2603406" y="2751568"/>
            <a:ext cx="4378481" cy="4378481"/>
            <a:chOff x="0" y="0"/>
            <a:chExt cx="812800" cy="812800"/>
          </a:xfrm>
        </p:grpSpPr>
        <p:sp>
          <p:nvSpPr>
            <p:cNvPr id="159" name="Google Shape;15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6"/>
          <p:cNvGrpSpPr/>
          <p:nvPr/>
        </p:nvGrpSpPr>
        <p:grpSpPr>
          <a:xfrm>
            <a:off x="3954263" y="8646204"/>
            <a:ext cx="971055" cy="1079531"/>
            <a:chOff x="0" y="-38100"/>
            <a:chExt cx="255751" cy="284321"/>
          </a:xfrm>
        </p:grpSpPr>
        <p:sp>
          <p:nvSpPr>
            <p:cNvPr id="162" name="Google Shape;162;p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6"/>
          <p:cNvSpPr txBox="1"/>
          <p:nvPr/>
        </p:nvSpPr>
        <p:spPr>
          <a:xfrm>
            <a:off x="853750" y="1475607"/>
            <a:ext cx="16405550" cy="8402947"/>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Opcodes (Códigos de operación)</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Es la parte de la instrucción que especifica la operación que debe ejecutar el procesador, como suma, resta, mover datos, comparar valores, entre otros.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Operandos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Son los datos que la operación utilizará. Pueden ser valores constantes, direcciones de memoria o registros del procesador. Por ejemplo, una instrucción de suma puede tener dos operandos, como los registros en los que se encuentran los valores a sumar.</a:t>
            </a:r>
            <a:endParaRPr b="0" i="0" sz="1400" u="none" cap="none" strike="noStrike">
              <a:solidFill>
                <a:srgbClr val="000000"/>
              </a:solidFill>
              <a:latin typeface="Arial"/>
              <a:ea typeface="Arial"/>
              <a:cs typeface="Arial"/>
              <a:sym typeface="Arial"/>
            </a:endParaRPr>
          </a:p>
        </p:txBody>
      </p:sp>
      <p:sp>
        <p:nvSpPr>
          <p:cNvPr id="165" name="Google Shape;165;p6"/>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COMPONENTES PRINCIPALES DE UN ISA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7"/>
          <p:cNvGrpSpPr/>
          <p:nvPr/>
        </p:nvGrpSpPr>
        <p:grpSpPr>
          <a:xfrm>
            <a:off x="-2603406" y="2751568"/>
            <a:ext cx="4378481" cy="4378481"/>
            <a:chOff x="0" y="0"/>
            <a:chExt cx="812800" cy="812800"/>
          </a:xfrm>
        </p:grpSpPr>
        <p:sp>
          <p:nvSpPr>
            <p:cNvPr id="171" name="Google Shape;17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p7"/>
          <p:cNvGrpSpPr/>
          <p:nvPr/>
        </p:nvGrpSpPr>
        <p:grpSpPr>
          <a:xfrm>
            <a:off x="3954263" y="8646204"/>
            <a:ext cx="971055" cy="1079531"/>
            <a:chOff x="0" y="-38100"/>
            <a:chExt cx="255751" cy="284321"/>
          </a:xfrm>
        </p:grpSpPr>
        <p:sp>
          <p:nvSpPr>
            <p:cNvPr id="174" name="Google Shape;174;p7"/>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7"/>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7"/>
          <p:cNvSpPr txBox="1"/>
          <p:nvPr/>
        </p:nvSpPr>
        <p:spPr>
          <a:xfrm>
            <a:off x="1028700" y="1598072"/>
            <a:ext cx="15915203" cy="451691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Modificadores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Algunas instrucciones pueden incluir modificadores que definan detalles adicionales sobre la operación, como el modo de direccionamiento o las condiciones bajo las cuales se debe ejecutar la instrucción (por ejemplo, si se cumple una condición de salto).</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COMPONENTES PRINCIPALES DE UN ISA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8"/>
          <p:cNvGrpSpPr/>
          <p:nvPr/>
        </p:nvGrpSpPr>
        <p:grpSpPr>
          <a:xfrm>
            <a:off x="-2603406" y="2751568"/>
            <a:ext cx="4378481" cy="4378481"/>
            <a:chOff x="0" y="0"/>
            <a:chExt cx="812800" cy="812800"/>
          </a:xfrm>
        </p:grpSpPr>
        <p:sp>
          <p:nvSpPr>
            <p:cNvPr id="183" name="Google Shape;18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8"/>
          <p:cNvGrpSpPr/>
          <p:nvPr/>
        </p:nvGrpSpPr>
        <p:grpSpPr>
          <a:xfrm>
            <a:off x="3954263" y="8646204"/>
            <a:ext cx="971055" cy="1079531"/>
            <a:chOff x="0" y="-38100"/>
            <a:chExt cx="255751" cy="284321"/>
          </a:xfrm>
        </p:grpSpPr>
        <p:sp>
          <p:nvSpPr>
            <p:cNvPr id="186" name="Google Shape;186;p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8"/>
          <p:cNvSpPr txBox="1"/>
          <p:nvPr/>
        </p:nvSpPr>
        <p:spPr>
          <a:xfrm>
            <a:off x="1028700" y="1598072"/>
            <a:ext cx="15915203" cy="8402947"/>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Tipos de datos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Determinar qué tipos de datos y operaciones son necesarios para el conjunto de instrucciones, como enteros, punto flotante, cadenas de texto, etc.</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Codificación de instrucciones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Cada instrucción debe tener una representación binaria en el procesador. Las instrucciones deben estar codificadas de manera que sean fáciles de decodificar y ejecutar. Esto influye en la longitud y estructura de las instrucciones.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sp>
        <p:nvSpPr>
          <p:cNvPr id="189" name="Google Shape;189;p8"/>
          <p:cNvSpPr txBox="1"/>
          <p:nvPr/>
        </p:nvSpPr>
        <p:spPr>
          <a:xfrm>
            <a:off x="853750" y="251278"/>
            <a:ext cx="13902600" cy="1132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ELEMENTOS IMPORTANTES A CONSIDERAR EN EL DISEÑO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pSp>
        <p:nvGrpSpPr>
          <p:cNvPr id="194" name="Google Shape;194;p9"/>
          <p:cNvGrpSpPr/>
          <p:nvPr/>
        </p:nvGrpSpPr>
        <p:grpSpPr>
          <a:xfrm>
            <a:off x="-2603406" y="2751568"/>
            <a:ext cx="4378481" cy="4378481"/>
            <a:chOff x="0" y="0"/>
            <a:chExt cx="812800" cy="812800"/>
          </a:xfrm>
        </p:grpSpPr>
        <p:sp>
          <p:nvSpPr>
            <p:cNvPr id="195" name="Google Shape;19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9"/>
          <p:cNvGrpSpPr/>
          <p:nvPr/>
        </p:nvGrpSpPr>
        <p:grpSpPr>
          <a:xfrm>
            <a:off x="3954263" y="8646204"/>
            <a:ext cx="971055" cy="1079531"/>
            <a:chOff x="0" y="-38100"/>
            <a:chExt cx="255751" cy="284321"/>
          </a:xfrm>
        </p:grpSpPr>
        <p:sp>
          <p:nvSpPr>
            <p:cNvPr id="198" name="Google Shape;198;p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9"/>
          <p:cNvSpPr txBox="1"/>
          <p:nvPr/>
        </p:nvSpPr>
        <p:spPr>
          <a:xfrm>
            <a:off x="1028700" y="1962835"/>
            <a:ext cx="15915300" cy="6875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Modos de direccionamiento</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Son las formas en que los operandos de una instrucción pueden ser referenciados en memoria.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Existen diversos tipos de modos de direccionamiento, como inmediato, directo, indirecto, por registro, y indexado, que afectan cómo el procesador accederá a la memoria para obtener los datos necesarios.</a:t>
            </a:r>
            <a:endParaRPr b="0" i="0" sz="1400" u="none" cap="none" strike="noStrike">
              <a:solidFill>
                <a:srgbClr val="000000"/>
              </a:solidFill>
              <a:latin typeface="Arial"/>
              <a:ea typeface="Arial"/>
              <a:cs typeface="Arial"/>
              <a:sym typeface="Arial"/>
            </a:endParaRPr>
          </a:p>
        </p:txBody>
      </p:sp>
      <p:sp>
        <p:nvSpPr>
          <p:cNvPr id="201" name="Google Shape;201;p9"/>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ELEMENTOS IMPORTANTES A CONSIDERAR EN EL DISEÑO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p10"/>
          <p:cNvGrpSpPr/>
          <p:nvPr/>
        </p:nvGrpSpPr>
        <p:grpSpPr>
          <a:xfrm>
            <a:off x="-2603406" y="2751568"/>
            <a:ext cx="4378481" cy="4378481"/>
            <a:chOff x="0" y="0"/>
            <a:chExt cx="812800" cy="812800"/>
          </a:xfrm>
        </p:grpSpPr>
        <p:sp>
          <p:nvSpPr>
            <p:cNvPr id="207" name="Google Shape;20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10"/>
          <p:cNvGrpSpPr/>
          <p:nvPr/>
        </p:nvGrpSpPr>
        <p:grpSpPr>
          <a:xfrm>
            <a:off x="3954263" y="8646204"/>
            <a:ext cx="971055" cy="1079531"/>
            <a:chOff x="0" y="-38100"/>
            <a:chExt cx="255751" cy="284321"/>
          </a:xfrm>
        </p:grpSpPr>
        <p:sp>
          <p:nvSpPr>
            <p:cNvPr id="210" name="Google Shape;210;p1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2" name="Google Shape;212;p10"/>
          <p:cNvSpPr txBox="1"/>
          <p:nvPr/>
        </p:nvSpPr>
        <p:spPr>
          <a:xfrm>
            <a:off x="1028700" y="2149172"/>
            <a:ext cx="10474200" cy="7664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RISC (Reduced Instruction Set Computer)</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Un diseño RISC busca simplificar el conjunto de instrucciones utilizando un número reducido de instrucciones, cada una de las cuales se ejecuta rápidamente.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Las instrucciones son de longitud fija, lo que hace que la decodificación sea más sencilla.</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sp>
        <p:nvSpPr>
          <p:cNvPr id="213" name="Google Shape;213;p10"/>
          <p:cNvSpPr/>
          <p:nvPr/>
        </p:nvSpPr>
        <p:spPr>
          <a:xfrm>
            <a:off x="12214921" y="1974319"/>
            <a:ext cx="5474093" cy="8074649"/>
          </a:xfrm>
          <a:custGeom>
            <a:rect b="b" l="l" r="r" t="t"/>
            <a:pathLst>
              <a:path extrusionOk="0" h="8074649" w="5474093">
                <a:moveTo>
                  <a:pt x="0" y="0"/>
                </a:moveTo>
                <a:lnTo>
                  <a:pt x="5474093" y="0"/>
                </a:lnTo>
                <a:lnTo>
                  <a:pt x="5474093" y="8074649"/>
                </a:lnTo>
                <a:lnTo>
                  <a:pt x="0" y="8074649"/>
                </a:lnTo>
                <a:lnTo>
                  <a:pt x="0" y="0"/>
                </a:lnTo>
                <a:close/>
              </a:path>
            </a:pathLst>
          </a:custGeom>
          <a:blipFill rotWithShape="1">
            <a:blip r:embed="rId3">
              <a:alphaModFix/>
            </a:blip>
            <a:stretch>
              <a:fillRect b="0" l="0" r="-101535" t="0"/>
            </a:stretch>
          </a:blipFill>
          <a:ln>
            <a:noFill/>
          </a:ln>
        </p:spPr>
      </p:sp>
      <p:sp>
        <p:nvSpPr>
          <p:cNvPr id="214" name="Google Shape;214;p10"/>
          <p:cNvSpPr txBox="1"/>
          <p:nvPr/>
        </p:nvSpPr>
        <p:spPr>
          <a:xfrm>
            <a:off x="1028700" y="647922"/>
            <a:ext cx="14165081"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EJEMPLO DE DISEÑO DEL CONJUNTO DE INSTRUCCIONES (ISA)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pSp>
        <p:nvGrpSpPr>
          <p:cNvPr id="219" name="Google Shape;219;p11"/>
          <p:cNvGrpSpPr/>
          <p:nvPr/>
        </p:nvGrpSpPr>
        <p:grpSpPr>
          <a:xfrm>
            <a:off x="-2603406" y="2751568"/>
            <a:ext cx="4378481" cy="4378481"/>
            <a:chOff x="0" y="0"/>
            <a:chExt cx="812800" cy="812800"/>
          </a:xfrm>
        </p:grpSpPr>
        <p:sp>
          <p:nvSpPr>
            <p:cNvPr id="220" name="Google Shape;22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11"/>
          <p:cNvGrpSpPr/>
          <p:nvPr/>
        </p:nvGrpSpPr>
        <p:grpSpPr>
          <a:xfrm>
            <a:off x="3954263" y="8646204"/>
            <a:ext cx="971055" cy="1079531"/>
            <a:chOff x="0" y="-38100"/>
            <a:chExt cx="255751" cy="284321"/>
          </a:xfrm>
        </p:grpSpPr>
        <p:sp>
          <p:nvSpPr>
            <p:cNvPr id="223" name="Google Shape;223;p1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11"/>
          <p:cNvSpPr txBox="1"/>
          <p:nvPr/>
        </p:nvSpPr>
        <p:spPr>
          <a:xfrm>
            <a:off x="853750" y="1875436"/>
            <a:ext cx="10491900" cy="7664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CISC (Complex Instruction Set Computer)</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En un diseño CISC, las instrucciones son más complejas y no pueden realizar </a:t>
            </a:r>
            <a:r>
              <a:rPr lang="en-US" sz="3661">
                <a:solidFill>
                  <a:srgbClr val="022033"/>
                </a:solidFill>
                <a:latin typeface="Tenor Sans"/>
                <a:ea typeface="Tenor Sans"/>
                <a:cs typeface="Tenor Sans"/>
                <a:sym typeface="Tenor Sans"/>
              </a:rPr>
              <a:t>l</a:t>
            </a:r>
            <a:r>
              <a:rPr b="0" i="0" lang="en-US" sz="3661" u="none" cap="none" strike="noStrike">
                <a:solidFill>
                  <a:srgbClr val="022033"/>
                </a:solidFill>
                <a:latin typeface="Tenor Sans"/>
                <a:ea typeface="Tenor Sans"/>
                <a:cs typeface="Tenor Sans"/>
                <a:sym typeface="Tenor Sans"/>
              </a:rPr>
              <a:t>as operaciones en un solo ciclo.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a:t>
            </a:r>
            <a:r>
              <a:rPr lang="en-US" sz="3661">
                <a:solidFill>
                  <a:srgbClr val="022033"/>
                </a:solidFill>
                <a:latin typeface="Tenor Sans"/>
                <a:ea typeface="Tenor Sans"/>
                <a:cs typeface="Tenor Sans"/>
                <a:sym typeface="Tenor Sans"/>
              </a:rPr>
              <a:t>l</a:t>
            </a:r>
            <a:r>
              <a:rPr b="0" i="0" lang="en-US" sz="3661" u="none" cap="none" strike="noStrike">
                <a:solidFill>
                  <a:srgbClr val="022033"/>
                </a:solidFill>
                <a:latin typeface="Tenor Sans"/>
                <a:ea typeface="Tenor Sans"/>
                <a:cs typeface="Tenor Sans"/>
                <a:sym typeface="Tenor Sans"/>
              </a:rPr>
              <a:t> el código de máquina en CISC </a:t>
            </a:r>
            <a:r>
              <a:rPr lang="en-US" sz="3661">
                <a:solidFill>
                  <a:srgbClr val="022033"/>
                </a:solidFill>
                <a:latin typeface="Tenor Sans"/>
                <a:ea typeface="Tenor Sans"/>
                <a:cs typeface="Tenor Sans"/>
                <a:sym typeface="Tenor Sans"/>
              </a:rPr>
              <a:t>es</a:t>
            </a:r>
            <a:r>
              <a:rPr b="0" i="0" lang="en-US" sz="3661" u="none" cap="none" strike="noStrike">
                <a:solidFill>
                  <a:srgbClr val="022033"/>
                </a:solidFill>
                <a:latin typeface="Tenor Sans"/>
                <a:ea typeface="Tenor Sans"/>
                <a:cs typeface="Tenor Sans"/>
                <a:sym typeface="Tenor Sans"/>
              </a:rPr>
              <a:t> más denso, </a:t>
            </a:r>
            <a:r>
              <a:rPr lang="en-US" sz="3661">
                <a:solidFill>
                  <a:srgbClr val="022033"/>
                </a:solidFill>
                <a:latin typeface="Tenor Sans"/>
                <a:ea typeface="Tenor Sans"/>
                <a:cs typeface="Tenor Sans"/>
                <a:sym typeface="Tenor Sans"/>
              </a:rPr>
              <a:t>y debido a ello</a:t>
            </a:r>
            <a:r>
              <a:rPr b="0" i="0" lang="en-US" sz="3661" u="none" cap="none" strike="noStrike">
                <a:solidFill>
                  <a:srgbClr val="022033"/>
                </a:solidFill>
                <a:latin typeface="Tenor Sans"/>
                <a:ea typeface="Tenor Sans"/>
                <a:cs typeface="Tenor Sans"/>
                <a:sym typeface="Tenor Sans"/>
              </a:rPr>
              <a:t> las instrucciones son más lentas y complejas de procesar.</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sp>
        <p:nvSpPr>
          <p:cNvPr id="226" name="Google Shape;226;p11"/>
          <p:cNvSpPr/>
          <p:nvPr/>
        </p:nvSpPr>
        <p:spPr>
          <a:xfrm>
            <a:off x="12079669" y="1359362"/>
            <a:ext cx="5353473" cy="8074649"/>
          </a:xfrm>
          <a:custGeom>
            <a:rect b="b" l="l" r="r" t="t"/>
            <a:pathLst>
              <a:path extrusionOk="0" h="8074649" w="5353473">
                <a:moveTo>
                  <a:pt x="0" y="0"/>
                </a:moveTo>
                <a:lnTo>
                  <a:pt x="5353473" y="0"/>
                </a:lnTo>
                <a:lnTo>
                  <a:pt x="5353473" y="8074649"/>
                </a:lnTo>
                <a:lnTo>
                  <a:pt x="0" y="8074649"/>
                </a:lnTo>
                <a:lnTo>
                  <a:pt x="0" y="0"/>
                </a:lnTo>
                <a:close/>
              </a:path>
            </a:pathLst>
          </a:custGeom>
          <a:blipFill rotWithShape="1">
            <a:blip r:embed="rId3">
              <a:alphaModFix/>
            </a:blip>
            <a:stretch>
              <a:fillRect b="0" l="-106058" r="-4" t="0"/>
            </a:stretch>
          </a:blipFill>
          <a:ln>
            <a:noFill/>
          </a:ln>
        </p:spPr>
      </p:sp>
      <p:sp>
        <p:nvSpPr>
          <p:cNvPr id="227" name="Google Shape;227;p11"/>
          <p:cNvSpPr txBox="1"/>
          <p:nvPr/>
        </p:nvSpPr>
        <p:spPr>
          <a:xfrm>
            <a:off x="853750" y="577942"/>
            <a:ext cx="14427506"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EJEMPLO DE DISEÑO DEL CONJUNTO DE INSTRUCCIONES (ISA)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12"/>
          <p:cNvGrpSpPr/>
          <p:nvPr/>
        </p:nvGrpSpPr>
        <p:grpSpPr>
          <a:xfrm>
            <a:off x="16098759" y="604794"/>
            <a:ext cx="4378481" cy="4378481"/>
            <a:chOff x="0" y="0"/>
            <a:chExt cx="812800" cy="812800"/>
          </a:xfrm>
        </p:grpSpPr>
        <p:sp>
          <p:nvSpPr>
            <p:cNvPr id="233" name="Google Shape;23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5" name="Google Shape;235;p12"/>
          <p:cNvSpPr txBox="1"/>
          <p:nvPr/>
        </p:nvSpPr>
        <p:spPr>
          <a:xfrm>
            <a:off x="1807782" y="4208587"/>
            <a:ext cx="13995017" cy="5164582"/>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análisis del conjunto de instrucciones implica estudiar cómo las instrucciones diseñadas se ejecutan en un procesador, cómo afectan el rendimiento del sistema y cómo optimizar su uso.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análisis ayuda a identificar los puntos fuertes y las debilidades del conjunto de instrucciones y a mejorar la eficiencia del procesador.</a:t>
            </a:r>
            <a:endParaRPr b="0" i="0" sz="1400" u="none" cap="none" strike="noStrike">
              <a:solidFill>
                <a:srgbClr val="000000"/>
              </a:solidFill>
              <a:latin typeface="Arial"/>
              <a:ea typeface="Arial"/>
              <a:cs typeface="Arial"/>
              <a:sym typeface="Arial"/>
            </a:endParaRPr>
          </a:p>
        </p:txBody>
      </p:sp>
      <p:sp>
        <p:nvSpPr>
          <p:cNvPr id="236" name="Google Shape;236;p12"/>
          <p:cNvSpPr txBox="1"/>
          <p:nvPr/>
        </p:nvSpPr>
        <p:spPr>
          <a:xfrm>
            <a:off x="689991" y="709179"/>
            <a:ext cx="16230600" cy="2718900"/>
          </a:xfrm>
          <a:prstGeom prst="rect">
            <a:avLst/>
          </a:prstGeom>
          <a:noFill/>
          <a:ln>
            <a:noFill/>
          </a:ln>
        </p:spPr>
        <p:txBody>
          <a:bodyPr anchorCtr="0" anchor="t" bIns="0" lIns="0" spcFirstLastPara="1" rIns="0" wrap="square" tIns="0">
            <a:spAutoFit/>
          </a:bodyPr>
          <a:lstStyle/>
          <a:p>
            <a:pPr indent="0" lvl="0" marL="0" marR="0" rtl="0" algn="l">
              <a:lnSpc>
                <a:spcPct val="91996"/>
              </a:lnSpc>
              <a:spcBef>
                <a:spcPts val="0"/>
              </a:spcBef>
              <a:spcAft>
                <a:spcPts val="0"/>
              </a:spcAft>
              <a:buClr>
                <a:srgbClr val="000000"/>
              </a:buClr>
              <a:buSzPts val="9600"/>
              <a:buFont typeface="Arial"/>
              <a:buNone/>
            </a:pPr>
            <a:r>
              <a:rPr b="0" i="0" lang="en-US" sz="9600" u="none" cap="none" strike="noStrike">
                <a:solidFill>
                  <a:srgbClr val="022033"/>
                </a:solidFill>
                <a:latin typeface="Arial"/>
                <a:ea typeface="Arial"/>
                <a:cs typeface="Arial"/>
                <a:sym typeface="Arial"/>
              </a:rPr>
              <a:t>ANALISIS DEL CONJUNTO DE INSTRUCCIONES (ISA)</a:t>
            </a:r>
            <a:endParaRPr b="0" i="0" sz="9600" u="none" cap="none" strike="noStrike">
              <a:solidFill>
                <a:srgbClr val="000000"/>
              </a:solidFill>
              <a:latin typeface="Arial"/>
              <a:ea typeface="Arial"/>
              <a:cs typeface="Arial"/>
              <a:sym typeface="Arial"/>
            </a:endParaRPr>
          </a:p>
        </p:txBody>
      </p:sp>
      <p:grpSp>
        <p:nvGrpSpPr>
          <p:cNvPr id="237" name="Google Shape;237;p12"/>
          <p:cNvGrpSpPr/>
          <p:nvPr/>
        </p:nvGrpSpPr>
        <p:grpSpPr>
          <a:xfrm>
            <a:off x="16288245" y="5635551"/>
            <a:ext cx="971055" cy="1079531"/>
            <a:chOff x="0" y="-38100"/>
            <a:chExt cx="255751" cy="284321"/>
          </a:xfrm>
        </p:grpSpPr>
        <p:sp>
          <p:nvSpPr>
            <p:cNvPr id="238" name="Google Shape;238;p12"/>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pSp>
        <p:nvGrpSpPr>
          <p:cNvPr id="244" name="Google Shape;244;p13"/>
          <p:cNvGrpSpPr/>
          <p:nvPr/>
        </p:nvGrpSpPr>
        <p:grpSpPr>
          <a:xfrm>
            <a:off x="-2603406" y="2751568"/>
            <a:ext cx="4378481" cy="4378481"/>
            <a:chOff x="0" y="0"/>
            <a:chExt cx="812800" cy="812800"/>
          </a:xfrm>
        </p:grpSpPr>
        <p:sp>
          <p:nvSpPr>
            <p:cNvPr id="245" name="Google Shape;245;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13"/>
          <p:cNvGrpSpPr/>
          <p:nvPr/>
        </p:nvGrpSpPr>
        <p:grpSpPr>
          <a:xfrm>
            <a:off x="3954263" y="8646204"/>
            <a:ext cx="971055" cy="1079531"/>
            <a:chOff x="0" y="-38100"/>
            <a:chExt cx="255751" cy="284321"/>
          </a:xfrm>
        </p:grpSpPr>
        <p:sp>
          <p:nvSpPr>
            <p:cNvPr id="248" name="Google Shape;248;p1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13"/>
          <p:cNvSpPr txBox="1"/>
          <p:nvPr/>
        </p:nvSpPr>
        <p:spPr>
          <a:xfrm>
            <a:off x="1028700" y="1569497"/>
            <a:ext cx="15915203" cy="7366128"/>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Rendimiento y eficiencia</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Velocidad de ejecución</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Las instrucciones más simples, como las utilizadas en RISC, generalmente se ejecutan más rápido, ya que el procesador puede decodificarlas y ejecutarlas en un solo ciclo de reloj.</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Por el contrario, las instrucciones complejas en CISC pueden requerir más ciclos de reloj.</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sp>
        <p:nvSpPr>
          <p:cNvPr id="251" name="Google Shape;251;p13"/>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14"/>
          <p:cNvGrpSpPr/>
          <p:nvPr/>
        </p:nvGrpSpPr>
        <p:grpSpPr>
          <a:xfrm>
            <a:off x="-2603406" y="2751568"/>
            <a:ext cx="4378481" cy="4378481"/>
            <a:chOff x="0" y="0"/>
            <a:chExt cx="812800" cy="812800"/>
          </a:xfrm>
        </p:grpSpPr>
        <p:sp>
          <p:nvSpPr>
            <p:cNvPr id="257" name="Google Shape;25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4"/>
          <p:cNvGrpSpPr/>
          <p:nvPr/>
        </p:nvGrpSpPr>
        <p:grpSpPr>
          <a:xfrm>
            <a:off x="3954263" y="8646204"/>
            <a:ext cx="971055" cy="1079531"/>
            <a:chOff x="0" y="-38100"/>
            <a:chExt cx="255751" cy="284321"/>
          </a:xfrm>
        </p:grpSpPr>
        <p:sp>
          <p:nvSpPr>
            <p:cNvPr id="260" name="Google Shape;260;p1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4"/>
          <p:cNvSpPr txBox="1"/>
          <p:nvPr/>
        </p:nvSpPr>
        <p:spPr>
          <a:xfrm>
            <a:off x="1028700" y="1569497"/>
            <a:ext cx="15915203" cy="6070782"/>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Rendimiento y eficiencia</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Complejidad de las instrucciones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Instrucciones más complejas pueden realizar tareas más complejas en menos pasos, lo que puede reducir la cantidad de código necesario, pero también puede introducir complejidad en la decodificación y ejecución.</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p:txBody>
      </p:sp>
      <p:sp>
        <p:nvSpPr>
          <p:cNvPr id="263" name="Google Shape;263;p14"/>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15"/>
          <p:cNvGrpSpPr/>
          <p:nvPr/>
        </p:nvGrpSpPr>
        <p:grpSpPr>
          <a:xfrm>
            <a:off x="-2603406" y="2751568"/>
            <a:ext cx="4378481" cy="4378481"/>
            <a:chOff x="0" y="0"/>
            <a:chExt cx="812800" cy="812800"/>
          </a:xfrm>
        </p:grpSpPr>
        <p:sp>
          <p:nvSpPr>
            <p:cNvPr id="269" name="Google Shape;269;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p15"/>
          <p:cNvGrpSpPr/>
          <p:nvPr/>
        </p:nvGrpSpPr>
        <p:grpSpPr>
          <a:xfrm>
            <a:off x="3954263" y="8646204"/>
            <a:ext cx="971055" cy="1079531"/>
            <a:chOff x="0" y="-38100"/>
            <a:chExt cx="255751" cy="284321"/>
          </a:xfrm>
        </p:grpSpPr>
        <p:sp>
          <p:nvSpPr>
            <p:cNvPr id="272" name="Google Shape;272;p1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15"/>
          <p:cNvSpPr txBox="1"/>
          <p:nvPr/>
        </p:nvSpPr>
        <p:spPr>
          <a:xfrm>
            <a:off x="1028700" y="1534507"/>
            <a:ext cx="15915203" cy="8013801"/>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Impacto en la programación</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Programación a bajo nivel</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conjunto de instrucciones influye directamente en cómo los programadores deben escribir su código. En un sistema RISC, los programadores deben optimizar el código de manera que utilicen más instrucciones simples.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En un sistema CISC, el código puede ser más corto, pero puede ser más difícil de optimizar para obtener un alto rendimiento.</a:t>
            </a:r>
            <a:endParaRPr b="0" i="0" sz="1400" u="none" cap="none" strike="noStrike">
              <a:solidFill>
                <a:srgbClr val="000000"/>
              </a:solidFill>
              <a:latin typeface="Arial"/>
              <a:ea typeface="Arial"/>
              <a:cs typeface="Arial"/>
              <a:sym typeface="Arial"/>
            </a:endParaRPr>
          </a:p>
        </p:txBody>
      </p:sp>
      <p:sp>
        <p:nvSpPr>
          <p:cNvPr id="275" name="Google Shape;275;p15"/>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grpSp>
        <p:nvGrpSpPr>
          <p:cNvPr id="280" name="Google Shape;280;p16"/>
          <p:cNvGrpSpPr/>
          <p:nvPr/>
        </p:nvGrpSpPr>
        <p:grpSpPr>
          <a:xfrm>
            <a:off x="-2603406" y="2751568"/>
            <a:ext cx="4378481" cy="4378481"/>
            <a:chOff x="0" y="0"/>
            <a:chExt cx="812800" cy="812800"/>
          </a:xfrm>
        </p:grpSpPr>
        <p:sp>
          <p:nvSpPr>
            <p:cNvPr id="281" name="Google Shape;281;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6"/>
          <p:cNvGrpSpPr/>
          <p:nvPr/>
        </p:nvGrpSpPr>
        <p:grpSpPr>
          <a:xfrm>
            <a:off x="3954263" y="8646204"/>
            <a:ext cx="971055" cy="1079531"/>
            <a:chOff x="0" y="-38100"/>
            <a:chExt cx="255751" cy="284321"/>
          </a:xfrm>
        </p:grpSpPr>
        <p:sp>
          <p:nvSpPr>
            <p:cNvPr id="284" name="Google Shape;284;p1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16"/>
          <p:cNvSpPr txBox="1"/>
          <p:nvPr/>
        </p:nvSpPr>
        <p:spPr>
          <a:xfrm>
            <a:off x="1028700" y="1534507"/>
            <a:ext cx="15915203" cy="6070782"/>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Impacto en la programación</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Uso de memoria</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En CISC, donde las instrucciones pueden realizar múltiples operaciones, se necesita menos código en memoria para lograr lo mismo que con RISC, pero la decodificación de esas instrucciones puede ser más costosa en términos de ciclos de reloj.</a:t>
            </a:r>
            <a:endParaRPr b="0" i="0" sz="1400" u="none" cap="none" strike="noStrike">
              <a:solidFill>
                <a:srgbClr val="000000"/>
              </a:solidFill>
              <a:latin typeface="Arial"/>
              <a:ea typeface="Arial"/>
              <a:cs typeface="Arial"/>
              <a:sym typeface="Arial"/>
            </a:endParaRPr>
          </a:p>
        </p:txBody>
      </p:sp>
      <p:sp>
        <p:nvSpPr>
          <p:cNvPr id="287" name="Google Shape;287;p16"/>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17"/>
          <p:cNvGrpSpPr/>
          <p:nvPr/>
        </p:nvGrpSpPr>
        <p:grpSpPr>
          <a:xfrm>
            <a:off x="-2603406" y="2751568"/>
            <a:ext cx="4378481" cy="4378481"/>
            <a:chOff x="0" y="0"/>
            <a:chExt cx="812800" cy="812800"/>
          </a:xfrm>
        </p:grpSpPr>
        <p:sp>
          <p:nvSpPr>
            <p:cNvPr id="293" name="Google Shape;29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17"/>
          <p:cNvGrpSpPr/>
          <p:nvPr/>
        </p:nvGrpSpPr>
        <p:grpSpPr>
          <a:xfrm>
            <a:off x="3954263" y="8646204"/>
            <a:ext cx="971055" cy="1079531"/>
            <a:chOff x="0" y="-38100"/>
            <a:chExt cx="255751" cy="284321"/>
          </a:xfrm>
        </p:grpSpPr>
        <p:sp>
          <p:nvSpPr>
            <p:cNvPr id="296" name="Google Shape;296;p17"/>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7"/>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17"/>
          <p:cNvSpPr txBox="1"/>
          <p:nvPr/>
        </p:nvSpPr>
        <p:spPr>
          <a:xfrm>
            <a:off x="1028700" y="1706941"/>
            <a:ext cx="15915203" cy="8013801"/>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Modos de direccionamiento</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modo de direccionamiento utilizado por una ISA determina cómo se accede a la memoria. Modos más complejos, como los indirectos o indexados, pueden ser más lentos porque requieren operaciones adicionales para calcular la dirección de memoria del operando. Modos simples como el inmediato o directo permiten un acceso más rápido a los datos.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diseño de la ISA debe equilibrar los modos de direccionamiento para proporcionar flexibilidad sin sacrificar la eficiencia.</a:t>
            </a:r>
            <a:endParaRPr b="0" i="0" sz="1400" u="none" cap="none" strike="noStrike">
              <a:solidFill>
                <a:srgbClr val="000000"/>
              </a:solidFill>
              <a:latin typeface="Arial"/>
              <a:ea typeface="Arial"/>
              <a:cs typeface="Arial"/>
              <a:sym typeface="Arial"/>
            </a:endParaRPr>
          </a:p>
        </p:txBody>
      </p:sp>
      <p:sp>
        <p:nvSpPr>
          <p:cNvPr id="299" name="Google Shape;299;p17"/>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pSp>
        <p:nvGrpSpPr>
          <p:cNvPr id="304" name="Google Shape;304;p18"/>
          <p:cNvGrpSpPr/>
          <p:nvPr/>
        </p:nvGrpSpPr>
        <p:grpSpPr>
          <a:xfrm>
            <a:off x="-2603406" y="2751568"/>
            <a:ext cx="4378481" cy="4378481"/>
            <a:chOff x="0" y="0"/>
            <a:chExt cx="812800" cy="812800"/>
          </a:xfrm>
        </p:grpSpPr>
        <p:sp>
          <p:nvSpPr>
            <p:cNvPr id="305" name="Google Shape;305;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18"/>
          <p:cNvGrpSpPr/>
          <p:nvPr/>
        </p:nvGrpSpPr>
        <p:grpSpPr>
          <a:xfrm>
            <a:off x="3954263" y="8646204"/>
            <a:ext cx="971055" cy="1079531"/>
            <a:chOff x="0" y="-38100"/>
            <a:chExt cx="255751" cy="284321"/>
          </a:xfrm>
        </p:grpSpPr>
        <p:sp>
          <p:nvSpPr>
            <p:cNvPr id="308" name="Google Shape;308;p1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8"/>
          <p:cNvSpPr txBox="1"/>
          <p:nvPr/>
        </p:nvSpPr>
        <p:spPr>
          <a:xfrm>
            <a:off x="1028700" y="1706941"/>
            <a:ext cx="15915203" cy="6718455"/>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Ciclo de ejecución</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Ciclo de búsqueda-decodificación-ejecución</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conjunto de instrucciones y su formato influencian cómo un procesador pasa por los pasos de fetch (buscar), decode (decodificar) y execute (ejecutar).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Un ISA bien diseñado permite que el procesador complete estos ciclos de manera más rápida y eficiente.</a:t>
            </a:r>
            <a:endParaRPr b="0" i="0" sz="1400" u="none" cap="none" strike="noStrike">
              <a:solidFill>
                <a:srgbClr val="000000"/>
              </a:solidFill>
              <a:latin typeface="Arial"/>
              <a:ea typeface="Arial"/>
              <a:cs typeface="Arial"/>
              <a:sym typeface="Arial"/>
            </a:endParaRPr>
          </a:p>
        </p:txBody>
      </p:sp>
      <p:sp>
        <p:nvSpPr>
          <p:cNvPr id="311" name="Google Shape;311;p18"/>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p19"/>
          <p:cNvGrpSpPr/>
          <p:nvPr/>
        </p:nvGrpSpPr>
        <p:grpSpPr>
          <a:xfrm>
            <a:off x="-2603406" y="2751568"/>
            <a:ext cx="4378481" cy="4378481"/>
            <a:chOff x="0" y="0"/>
            <a:chExt cx="812800" cy="812800"/>
          </a:xfrm>
        </p:grpSpPr>
        <p:sp>
          <p:nvSpPr>
            <p:cNvPr id="317" name="Google Shape;317;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9"/>
          <p:cNvGrpSpPr/>
          <p:nvPr/>
        </p:nvGrpSpPr>
        <p:grpSpPr>
          <a:xfrm>
            <a:off x="3954263" y="8646204"/>
            <a:ext cx="971055" cy="1079531"/>
            <a:chOff x="0" y="-38100"/>
            <a:chExt cx="255751" cy="284321"/>
          </a:xfrm>
        </p:grpSpPr>
        <p:sp>
          <p:nvSpPr>
            <p:cNvPr id="320" name="Google Shape;320;p1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9"/>
          <p:cNvSpPr txBox="1"/>
          <p:nvPr/>
        </p:nvSpPr>
        <p:spPr>
          <a:xfrm>
            <a:off x="1028700" y="1706941"/>
            <a:ext cx="15915203" cy="5423109"/>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Ciclo de ejecución</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Optimización de los ciclos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En arquitecturas RISC, el uso de instrucciones simples permite optimizar cada ciclo de ejecución, mientras que en CISC, la complejidad de la instrucción puede hacer que el ciclo de ejecución sea más largo.</a:t>
            </a:r>
            <a:endParaRPr b="0" i="0" sz="1400" u="none" cap="none" strike="noStrike">
              <a:solidFill>
                <a:srgbClr val="000000"/>
              </a:solidFill>
              <a:latin typeface="Arial"/>
              <a:ea typeface="Arial"/>
              <a:cs typeface="Arial"/>
              <a:sym typeface="Arial"/>
            </a:endParaRPr>
          </a:p>
        </p:txBody>
      </p:sp>
      <p:sp>
        <p:nvSpPr>
          <p:cNvPr id="323" name="Google Shape;323;p19"/>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grpSp>
        <p:nvGrpSpPr>
          <p:cNvPr id="328" name="Google Shape;328;p20"/>
          <p:cNvGrpSpPr/>
          <p:nvPr/>
        </p:nvGrpSpPr>
        <p:grpSpPr>
          <a:xfrm>
            <a:off x="-2603406" y="2751568"/>
            <a:ext cx="4378481" cy="4378481"/>
            <a:chOff x="0" y="0"/>
            <a:chExt cx="812800" cy="812800"/>
          </a:xfrm>
        </p:grpSpPr>
        <p:sp>
          <p:nvSpPr>
            <p:cNvPr id="329" name="Google Shape;329;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20"/>
          <p:cNvGrpSpPr/>
          <p:nvPr/>
        </p:nvGrpSpPr>
        <p:grpSpPr>
          <a:xfrm>
            <a:off x="3954263" y="8646204"/>
            <a:ext cx="971055" cy="1079531"/>
            <a:chOff x="0" y="-38100"/>
            <a:chExt cx="255751" cy="284321"/>
          </a:xfrm>
        </p:grpSpPr>
        <p:sp>
          <p:nvSpPr>
            <p:cNvPr id="332" name="Google Shape;332;p2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20"/>
          <p:cNvSpPr txBox="1"/>
          <p:nvPr/>
        </p:nvSpPr>
        <p:spPr>
          <a:xfrm>
            <a:off x="1028700" y="1706941"/>
            <a:ext cx="15915203" cy="7366128"/>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Clr>
                <a:srgbClr val="000000"/>
              </a:buClr>
              <a:buSzPts val="5061"/>
              <a:buFont typeface="Arial"/>
              <a:buNone/>
            </a:pPr>
            <a:r>
              <a:rPr b="0" i="0" lang="en-US" sz="5061" u="none" cap="none" strike="noStrike">
                <a:solidFill>
                  <a:srgbClr val="022033"/>
                </a:solidFill>
                <a:latin typeface="Tenor Sans"/>
                <a:ea typeface="Tenor Sans"/>
                <a:cs typeface="Tenor Sans"/>
                <a:sym typeface="Tenor Sans"/>
              </a:rPr>
              <a:t>Evaluación de la arquitectura y sus efectos</a:t>
            </a:r>
            <a:endParaRPr b="0" i="0" sz="1400" u="none" cap="none" strike="noStrike">
              <a:solidFill>
                <a:srgbClr val="000000"/>
              </a:solidFill>
              <a:latin typeface="Arial"/>
              <a:ea typeface="Arial"/>
              <a:cs typeface="Arial"/>
              <a:sym typeface="Arial"/>
            </a:endParaRPr>
          </a:p>
          <a:p>
            <a:pPr indent="0" lvl="0" marL="0" marR="0" rtl="0" algn="just">
              <a:lnSpc>
                <a:spcPct val="101284"/>
              </a:lnSpc>
              <a:spcBef>
                <a:spcPts val="0"/>
              </a:spcBef>
              <a:spcAft>
                <a:spcPts val="0"/>
              </a:spcAft>
              <a:buClr>
                <a:srgbClr val="000000"/>
              </a:buClr>
              <a:buSzPts val="5061"/>
              <a:buFont typeface="Arial"/>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El análisis del ISA ayuda a determinar cuál arquitectura es más adecuada según las necesidades del sistema. </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3661"/>
              <a:buFont typeface="Arial"/>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Clr>
                <a:srgbClr val="000000"/>
              </a:buClr>
              <a:buSzPts val="3661"/>
              <a:buFont typeface="Arial"/>
              <a:buNone/>
            </a:pPr>
            <a:r>
              <a:rPr b="0" i="0" lang="en-US" sz="3661" u="none" cap="none" strike="noStrike">
                <a:solidFill>
                  <a:srgbClr val="022033"/>
                </a:solidFill>
                <a:latin typeface="Tenor Sans"/>
                <a:ea typeface="Tenor Sans"/>
                <a:cs typeface="Tenor Sans"/>
                <a:sym typeface="Tenor Sans"/>
              </a:rPr>
              <a:t>Por ejemplo, un procesador RISC es ideal para aplicaciones de alto rendimiento y sistemas embebidos donde la eficiencia es crucial, mientras que un procesador CISC puede ser más adecuado para aplicaciones que necesitan manejar tareas complejas en menos pasos, pero con un costo de ejecución mayor.</a:t>
            </a:r>
            <a:endParaRPr b="0" i="0" sz="1400" u="none" cap="none" strike="noStrike">
              <a:solidFill>
                <a:srgbClr val="000000"/>
              </a:solidFill>
              <a:latin typeface="Arial"/>
              <a:ea typeface="Arial"/>
              <a:cs typeface="Arial"/>
              <a:sym typeface="Arial"/>
            </a:endParaRPr>
          </a:p>
        </p:txBody>
      </p:sp>
      <p:sp>
        <p:nvSpPr>
          <p:cNvPr id="335" name="Google Shape;335;p20"/>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4000"/>
              <a:buFont typeface="Arial"/>
              <a:buNone/>
            </a:pPr>
            <a:r>
              <a:rPr b="0" i="0" lang="en-US" sz="4000" u="none" cap="none" strike="noStrike">
                <a:solidFill>
                  <a:srgbClr val="022033"/>
                </a:solidFill>
                <a:latin typeface="Arial"/>
                <a:ea typeface="Arial"/>
                <a:cs typeface="Arial"/>
                <a:sym typeface="Arial"/>
              </a:rPr>
              <a:t>ÁREAS CLAVE EN EL ANÁLISIS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