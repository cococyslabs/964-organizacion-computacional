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Lst>
  <p:sldSz cy="10287000" cx="18288000"/>
  <p:notesSz cx="6858000" cy="9144000"/>
  <p:embeddedFontLst>
    <p:embeddedFont>
      <p:font typeface="Tenor Sans"/>
      <p:regular r:id="rId2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GoogleSlidesCustomDataVersion2">
      <go:slidesCustomData xmlns:go="http://customooxmlschemas.google.com/" r:id="rId27" roundtripDataSignature="AMtx7mgcbmzGa9gVn/ZrZmIAdILIQ9u3Z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TenorSans-regular.fntdata"/><Relationship Id="rId25" Type="http://schemas.openxmlformats.org/officeDocument/2006/relationships/slide" Target="slides/slide20.xml"/><Relationship Id="rId27" Type="http://customschemas.google.com/relationships/presentationmetadata" Target="meta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1" name="Google Shape;101;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2" name="Google Shape;132;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4" name="Google Shape;144;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6" name="Google Shape;156;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8" name="Google Shape;168;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0" name="Google Shape;180;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2" name="Google Shape;192;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4" name="Google Shape;204;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 name="Shape 215"/>
        <p:cNvGrpSpPr/>
        <p:nvPr/>
      </p:nvGrpSpPr>
      <p:grpSpPr>
        <a:xfrm>
          <a:off x="0" y="0"/>
          <a:ext cx="0" cy="0"/>
          <a:chOff x="0" y="0"/>
          <a:chExt cx="0" cy="0"/>
        </a:xfrm>
      </p:grpSpPr>
      <p:sp>
        <p:nvSpPr>
          <p:cNvPr id="216" name="Google Shape;216;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7" name="Google Shape;217;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 name="Shape 228"/>
        <p:cNvGrpSpPr/>
        <p:nvPr/>
      </p:nvGrpSpPr>
      <p:grpSpPr>
        <a:xfrm>
          <a:off x="0" y="0"/>
          <a:ext cx="0" cy="0"/>
          <a:chOff x="0" y="0"/>
          <a:chExt cx="0" cy="0"/>
        </a:xfrm>
      </p:grpSpPr>
      <p:sp>
        <p:nvSpPr>
          <p:cNvPr id="229" name="Google Shape;229;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0" name="Google Shape;230;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 name="Shape 240"/>
        <p:cNvGrpSpPr/>
        <p:nvPr/>
      </p:nvGrpSpPr>
      <p:grpSpPr>
        <a:xfrm>
          <a:off x="0" y="0"/>
          <a:ext cx="0" cy="0"/>
          <a:chOff x="0" y="0"/>
          <a:chExt cx="0" cy="0"/>
        </a:xfrm>
      </p:grpSpPr>
      <p:sp>
        <p:nvSpPr>
          <p:cNvPr id="241" name="Google Shape;241;p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2" name="Google Shape;242;p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 name="Shape 252"/>
        <p:cNvGrpSpPr/>
        <p:nvPr/>
      </p:nvGrpSpPr>
      <p:grpSpPr>
        <a:xfrm>
          <a:off x="0" y="0"/>
          <a:ext cx="0" cy="0"/>
          <a:chOff x="0" y="0"/>
          <a:chExt cx="0" cy="0"/>
        </a:xfrm>
      </p:grpSpPr>
      <p:sp>
        <p:nvSpPr>
          <p:cNvPr id="253" name="Google Shape;253;p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4" name="Google Shape;254;p1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p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6" name="Google Shape;266;p1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6" name="Shape 276"/>
        <p:cNvGrpSpPr/>
        <p:nvPr/>
      </p:nvGrpSpPr>
      <p:grpSpPr>
        <a:xfrm>
          <a:off x="0" y="0"/>
          <a:ext cx="0" cy="0"/>
          <a:chOff x="0" y="0"/>
          <a:chExt cx="0" cy="0"/>
        </a:xfrm>
      </p:grpSpPr>
      <p:sp>
        <p:nvSpPr>
          <p:cNvPr id="277" name="Google Shape;277;p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78" name="Google Shape;278;p1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8" name="Shape 288"/>
        <p:cNvGrpSpPr/>
        <p:nvPr/>
      </p:nvGrpSpPr>
      <p:grpSpPr>
        <a:xfrm>
          <a:off x="0" y="0"/>
          <a:ext cx="0" cy="0"/>
          <a:chOff x="0" y="0"/>
          <a:chExt cx="0" cy="0"/>
        </a:xfrm>
      </p:grpSpPr>
      <p:sp>
        <p:nvSpPr>
          <p:cNvPr id="289" name="Google Shape;289;p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90" name="Google Shape;290;p1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0" name="Shape 300"/>
        <p:cNvGrpSpPr/>
        <p:nvPr/>
      </p:nvGrpSpPr>
      <p:grpSpPr>
        <a:xfrm>
          <a:off x="0" y="0"/>
          <a:ext cx="0" cy="0"/>
          <a:chOff x="0" y="0"/>
          <a:chExt cx="0" cy="0"/>
        </a:xfrm>
      </p:grpSpPr>
      <p:sp>
        <p:nvSpPr>
          <p:cNvPr id="301" name="Google Shape;301;p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02" name="Google Shape;302;p1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2" name="Shape 312"/>
        <p:cNvGrpSpPr/>
        <p:nvPr/>
      </p:nvGrpSpPr>
      <p:grpSpPr>
        <a:xfrm>
          <a:off x="0" y="0"/>
          <a:ext cx="0" cy="0"/>
          <a:chOff x="0" y="0"/>
          <a:chExt cx="0" cy="0"/>
        </a:xfrm>
      </p:grpSpPr>
      <p:sp>
        <p:nvSpPr>
          <p:cNvPr id="313" name="Google Shape;313;p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14" name="Google Shape;314;p1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4" name="Shape 324"/>
        <p:cNvGrpSpPr/>
        <p:nvPr/>
      </p:nvGrpSpPr>
      <p:grpSpPr>
        <a:xfrm>
          <a:off x="0" y="0"/>
          <a:ext cx="0" cy="0"/>
          <a:chOff x="0" y="0"/>
          <a:chExt cx="0" cy="0"/>
        </a:xfrm>
      </p:grpSpPr>
      <p:sp>
        <p:nvSpPr>
          <p:cNvPr id="325" name="Google Shape;325;p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26" name="Google Shape;326;p2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2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2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2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23"/>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23"/>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2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2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2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2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2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2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2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2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25"/>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25"/>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0" name="Google Shape;30;p2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2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2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2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26"/>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6" name="Google Shape;36;p26"/>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7" name="Google Shape;37;p2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2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2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2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27"/>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3" name="Google Shape;43;p27"/>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4" name="Google Shape;44;p27"/>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5" name="Google Shape;45;p27"/>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6" name="Google Shape;46;p2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2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2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2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2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2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2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29"/>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29"/>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7" name="Google Shape;57;p29"/>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8" name="Google Shape;58;p2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2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2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30"/>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30"/>
          <p:cNvSpPr/>
          <p:nvPr>
            <p:ph idx="2" type="pic"/>
          </p:nvPr>
        </p:nvSpPr>
        <p:spPr>
          <a:xfrm>
            <a:off x="1792288" y="612775"/>
            <a:ext cx="5486400" cy="4114800"/>
          </a:xfrm>
          <a:prstGeom prst="rect">
            <a:avLst/>
          </a:prstGeom>
          <a:noFill/>
          <a:ln>
            <a:noFill/>
          </a:ln>
        </p:spPr>
      </p:sp>
      <p:sp>
        <p:nvSpPr>
          <p:cNvPr id="64" name="Google Shape;64;p30"/>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5" name="Google Shape;65;p3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3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3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3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31"/>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1" name="Google Shape;71;p3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3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3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32"/>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32"/>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 name="Google Shape;77;p3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3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3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2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2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2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2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2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4.png"/><Relationship Id="rId4" Type="http://schemas.openxmlformats.org/officeDocument/2006/relationships/image" Target="../media/image6.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7.png"/><Relationship Id="rId4" Type="http://schemas.openxmlformats.org/officeDocument/2006/relationships/image" Target="../media/image1.png"/><Relationship Id="rId5" Type="http://schemas.openxmlformats.org/officeDocument/2006/relationships/image" Target="../media/image5.png"/><Relationship Id="rId6" Type="http://schemas.openxmlformats.org/officeDocument/2006/relationships/image" Target="../media/image9.png"/><Relationship Id="rId7" Type="http://schemas.openxmlformats.org/officeDocument/2006/relationships/image" Target="../media/image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8.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grpSp>
        <p:nvGrpSpPr>
          <p:cNvPr id="84" name="Google Shape;84;p1"/>
          <p:cNvGrpSpPr/>
          <p:nvPr/>
        </p:nvGrpSpPr>
        <p:grpSpPr>
          <a:xfrm>
            <a:off x="-609474" y="6630732"/>
            <a:ext cx="4378481" cy="4378481"/>
            <a:chOff x="0" y="0"/>
            <a:chExt cx="812800" cy="812800"/>
          </a:xfrm>
        </p:grpSpPr>
        <p:sp>
          <p:nvSpPr>
            <p:cNvPr id="85" name="Google Shape;85;p1"/>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68AB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 name="Google Shape;86;p1"/>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87" name="Google Shape;87;p1"/>
          <p:cNvGrpSpPr/>
          <p:nvPr/>
        </p:nvGrpSpPr>
        <p:grpSpPr>
          <a:xfrm>
            <a:off x="2531874" y="6886945"/>
            <a:ext cx="1237134" cy="1345610"/>
            <a:chOff x="0" y="-38100"/>
            <a:chExt cx="325830" cy="354399"/>
          </a:xfrm>
        </p:grpSpPr>
        <p:sp>
          <p:nvSpPr>
            <p:cNvPr id="88" name="Google Shape;88;p1"/>
            <p:cNvSpPr/>
            <p:nvPr/>
          </p:nvSpPr>
          <p:spPr>
            <a:xfrm>
              <a:off x="0" y="0"/>
              <a:ext cx="325830" cy="316299"/>
            </a:xfrm>
            <a:custGeom>
              <a:rect b="b" l="l" r="r" t="t"/>
              <a:pathLst>
                <a:path extrusionOk="0" h="316299" w="325830">
                  <a:moveTo>
                    <a:pt x="158150" y="0"/>
                  </a:moveTo>
                  <a:lnTo>
                    <a:pt x="167680" y="0"/>
                  </a:lnTo>
                  <a:cubicBezTo>
                    <a:pt x="255024" y="0"/>
                    <a:pt x="325830" y="70806"/>
                    <a:pt x="325830" y="158150"/>
                  </a:cubicBezTo>
                  <a:lnTo>
                    <a:pt x="325830" y="158150"/>
                  </a:lnTo>
                  <a:cubicBezTo>
                    <a:pt x="325830" y="245493"/>
                    <a:pt x="255024" y="316299"/>
                    <a:pt x="167680" y="316299"/>
                  </a:cubicBezTo>
                  <a:lnTo>
                    <a:pt x="158150" y="316299"/>
                  </a:lnTo>
                  <a:cubicBezTo>
                    <a:pt x="70806" y="316299"/>
                    <a:pt x="0" y="245493"/>
                    <a:pt x="0" y="158150"/>
                  </a:cubicBezTo>
                  <a:lnTo>
                    <a:pt x="0" y="158150"/>
                  </a:lnTo>
                  <a:cubicBezTo>
                    <a:pt x="0" y="70806"/>
                    <a:pt x="70806" y="0"/>
                    <a:pt x="158150" y="0"/>
                  </a:cubicBezTo>
                  <a:close/>
                </a:path>
              </a:pathLst>
            </a:custGeom>
            <a:solidFill>
              <a:srgbClr val="BFD1E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 name="Google Shape;89;p1"/>
            <p:cNvSpPr txBox="1"/>
            <p:nvPr/>
          </p:nvSpPr>
          <p:spPr>
            <a:xfrm>
              <a:off x="0" y="-38100"/>
              <a:ext cx="325830" cy="354399"/>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90" name="Google Shape;90;p1"/>
          <p:cNvSpPr txBox="1"/>
          <p:nvPr/>
        </p:nvSpPr>
        <p:spPr>
          <a:xfrm>
            <a:off x="3150441" y="2096415"/>
            <a:ext cx="12563700" cy="5919000"/>
          </a:xfrm>
          <a:prstGeom prst="rect">
            <a:avLst/>
          </a:prstGeom>
          <a:noFill/>
          <a:ln>
            <a:noFill/>
          </a:ln>
        </p:spPr>
        <p:txBody>
          <a:bodyPr anchorCtr="0" anchor="t" bIns="0" lIns="0" spcFirstLastPara="1" rIns="0" wrap="square" tIns="0">
            <a:spAutoFit/>
          </a:bodyPr>
          <a:lstStyle/>
          <a:p>
            <a:pPr indent="0" lvl="0" marL="0" marR="0" rtl="0" algn="ctr">
              <a:lnSpc>
                <a:spcPct val="91999"/>
              </a:lnSpc>
              <a:spcBef>
                <a:spcPts val="0"/>
              </a:spcBef>
              <a:spcAft>
                <a:spcPts val="0"/>
              </a:spcAft>
              <a:buNone/>
            </a:pPr>
            <a:r>
              <a:rPr b="1" i="0" lang="en-US" sz="9600" u="none" cap="none" strike="noStrike">
                <a:solidFill>
                  <a:srgbClr val="022033"/>
                </a:solidFill>
                <a:latin typeface="Arial"/>
                <a:ea typeface="Arial"/>
                <a:cs typeface="Arial"/>
                <a:sym typeface="Arial"/>
              </a:rPr>
              <a:t>DISEÑO Y ANÁLISIS DEL CONJUNTO DE INSTRUCCIONES</a:t>
            </a:r>
            <a:endParaRPr sz="9600"/>
          </a:p>
          <a:p>
            <a:pPr indent="0" lvl="0" marL="0" marR="0" rtl="0" algn="ctr">
              <a:lnSpc>
                <a:spcPct val="91999"/>
              </a:lnSpc>
              <a:spcBef>
                <a:spcPts val="0"/>
              </a:spcBef>
              <a:spcAft>
                <a:spcPts val="0"/>
              </a:spcAft>
              <a:buNone/>
            </a:pPr>
            <a:r>
              <a:t/>
            </a:r>
            <a:endParaRPr b="1" i="0" sz="12999" u="none" cap="none" strike="noStrike">
              <a:solidFill>
                <a:srgbClr val="022033"/>
              </a:solidFill>
              <a:latin typeface="Arial"/>
              <a:ea typeface="Arial"/>
              <a:cs typeface="Arial"/>
              <a:sym typeface="Arial"/>
            </a:endParaRPr>
          </a:p>
        </p:txBody>
      </p:sp>
      <p:sp>
        <p:nvSpPr>
          <p:cNvPr id="91" name="Google Shape;91;p1"/>
          <p:cNvSpPr/>
          <p:nvPr/>
        </p:nvSpPr>
        <p:spPr>
          <a:xfrm rot="-5400000">
            <a:off x="362774" y="-30820"/>
            <a:ext cx="3688357" cy="4114800"/>
          </a:xfrm>
          <a:custGeom>
            <a:rect b="b" l="l" r="r" t="t"/>
            <a:pathLst>
              <a:path extrusionOk="0" h="4114800" w="3688357">
                <a:moveTo>
                  <a:pt x="0" y="0"/>
                </a:moveTo>
                <a:lnTo>
                  <a:pt x="3688357" y="0"/>
                </a:lnTo>
                <a:lnTo>
                  <a:pt x="3688357" y="4114800"/>
                </a:lnTo>
                <a:lnTo>
                  <a:pt x="0" y="4114800"/>
                </a:lnTo>
                <a:lnTo>
                  <a:pt x="0" y="0"/>
                </a:lnTo>
                <a:close/>
              </a:path>
            </a:pathLst>
          </a:custGeom>
          <a:blipFill rotWithShape="1">
            <a:blip r:embed="rId3">
              <a:alphaModFix/>
            </a:blip>
            <a:stretch>
              <a:fillRect b="0" l="0" r="0" t="0"/>
            </a:stretch>
          </a:blipFill>
          <a:ln>
            <a:noFill/>
          </a:ln>
        </p:spPr>
      </p:sp>
      <p:grpSp>
        <p:nvGrpSpPr>
          <p:cNvPr id="92" name="Google Shape;92;p1"/>
          <p:cNvGrpSpPr/>
          <p:nvPr/>
        </p:nvGrpSpPr>
        <p:grpSpPr>
          <a:xfrm>
            <a:off x="15728559" y="1008380"/>
            <a:ext cx="1237134" cy="1345610"/>
            <a:chOff x="0" y="-38100"/>
            <a:chExt cx="325830" cy="354399"/>
          </a:xfrm>
        </p:grpSpPr>
        <p:sp>
          <p:nvSpPr>
            <p:cNvPr id="93" name="Google Shape;93;p1"/>
            <p:cNvSpPr/>
            <p:nvPr/>
          </p:nvSpPr>
          <p:spPr>
            <a:xfrm>
              <a:off x="0" y="0"/>
              <a:ext cx="325830" cy="316299"/>
            </a:xfrm>
            <a:custGeom>
              <a:rect b="b" l="l" r="r" t="t"/>
              <a:pathLst>
                <a:path extrusionOk="0" h="316299" w="325830">
                  <a:moveTo>
                    <a:pt x="158150" y="0"/>
                  </a:moveTo>
                  <a:lnTo>
                    <a:pt x="167680" y="0"/>
                  </a:lnTo>
                  <a:cubicBezTo>
                    <a:pt x="255024" y="0"/>
                    <a:pt x="325830" y="70806"/>
                    <a:pt x="325830" y="158150"/>
                  </a:cubicBezTo>
                  <a:lnTo>
                    <a:pt x="325830" y="158150"/>
                  </a:lnTo>
                  <a:cubicBezTo>
                    <a:pt x="325830" y="245493"/>
                    <a:pt x="255024" y="316299"/>
                    <a:pt x="167680" y="316299"/>
                  </a:cubicBezTo>
                  <a:lnTo>
                    <a:pt x="158150" y="316299"/>
                  </a:lnTo>
                  <a:cubicBezTo>
                    <a:pt x="70806" y="316299"/>
                    <a:pt x="0" y="245493"/>
                    <a:pt x="0" y="158150"/>
                  </a:cubicBezTo>
                  <a:lnTo>
                    <a:pt x="0" y="158150"/>
                  </a:lnTo>
                  <a:cubicBezTo>
                    <a:pt x="0" y="70806"/>
                    <a:pt x="70806" y="0"/>
                    <a:pt x="158150" y="0"/>
                  </a:cubicBezTo>
                  <a:close/>
                </a:path>
              </a:pathLst>
            </a:custGeom>
            <a:solidFill>
              <a:srgbClr val="568AB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1"/>
            <p:cNvSpPr txBox="1"/>
            <p:nvPr/>
          </p:nvSpPr>
          <p:spPr>
            <a:xfrm>
              <a:off x="0" y="-38100"/>
              <a:ext cx="325830" cy="354399"/>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95" name="Google Shape;95;p1"/>
          <p:cNvSpPr/>
          <p:nvPr/>
        </p:nvSpPr>
        <p:spPr>
          <a:xfrm>
            <a:off x="14289726" y="6393076"/>
            <a:ext cx="4114800" cy="4114800"/>
          </a:xfrm>
          <a:custGeom>
            <a:rect b="b" l="l" r="r" t="t"/>
            <a:pathLst>
              <a:path extrusionOk="0" h="4114800" w="4114800">
                <a:moveTo>
                  <a:pt x="0" y="0"/>
                </a:moveTo>
                <a:lnTo>
                  <a:pt x="4114800" y="0"/>
                </a:lnTo>
                <a:lnTo>
                  <a:pt x="4114800" y="4114800"/>
                </a:lnTo>
                <a:lnTo>
                  <a:pt x="0" y="4114800"/>
                </a:lnTo>
                <a:lnTo>
                  <a:pt x="0" y="0"/>
                </a:lnTo>
                <a:close/>
              </a:path>
            </a:pathLst>
          </a:custGeom>
          <a:blipFill rotWithShape="1">
            <a:blip r:embed="rId4">
              <a:alphaModFix/>
            </a:blip>
            <a:stretch>
              <a:fillRect b="0" l="0" r="0" t="0"/>
            </a:stretch>
          </a:blipFill>
          <a:ln>
            <a:noFill/>
          </a:ln>
        </p:spPr>
      </p:sp>
      <p:grpSp>
        <p:nvGrpSpPr>
          <p:cNvPr id="96" name="Google Shape;96;p1"/>
          <p:cNvGrpSpPr/>
          <p:nvPr/>
        </p:nvGrpSpPr>
        <p:grpSpPr>
          <a:xfrm>
            <a:off x="13804199" y="8305815"/>
            <a:ext cx="971055" cy="1079531"/>
            <a:chOff x="0" y="-38100"/>
            <a:chExt cx="255751" cy="284321"/>
          </a:xfrm>
        </p:grpSpPr>
        <p:sp>
          <p:nvSpPr>
            <p:cNvPr id="97" name="Google Shape;97;p1"/>
            <p:cNvSpPr/>
            <p:nvPr/>
          </p:nvSpPr>
          <p:spPr>
            <a:xfrm>
              <a:off x="0" y="0"/>
              <a:ext cx="255751" cy="246221"/>
            </a:xfrm>
            <a:custGeom>
              <a:rect b="b" l="l" r="r" t="t"/>
              <a:pathLst>
                <a:path extrusionOk="0" h="246221" w="255751">
                  <a:moveTo>
                    <a:pt x="123111" y="0"/>
                  </a:moveTo>
                  <a:lnTo>
                    <a:pt x="132641" y="0"/>
                  </a:lnTo>
                  <a:cubicBezTo>
                    <a:pt x="200633" y="0"/>
                    <a:pt x="255751" y="55118"/>
                    <a:pt x="255751" y="123111"/>
                  </a:cubicBezTo>
                  <a:lnTo>
                    <a:pt x="255751" y="123111"/>
                  </a:lnTo>
                  <a:cubicBezTo>
                    <a:pt x="255751" y="155761"/>
                    <a:pt x="242781" y="187075"/>
                    <a:pt x="219693" y="210163"/>
                  </a:cubicBezTo>
                  <a:cubicBezTo>
                    <a:pt x="196605" y="233251"/>
                    <a:pt x="165292" y="246221"/>
                    <a:pt x="132641" y="246221"/>
                  </a:cubicBezTo>
                  <a:lnTo>
                    <a:pt x="123111" y="246221"/>
                  </a:lnTo>
                  <a:cubicBezTo>
                    <a:pt x="55118" y="246221"/>
                    <a:pt x="0" y="191103"/>
                    <a:pt x="0" y="123111"/>
                  </a:cubicBezTo>
                  <a:lnTo>
                    <a:pt x="0" y="123111"/>
                  </a:lnTo>
                  <a:cubicBezTo>
                    <a:pt x="0" y="55118"/>
                    <a:pt x="55118" y="0"/>
                    <a:pt x="123111" y="0"/>
                  </a:cubicBezTo>
                  <a:close/>
                </a:path>
              </a:pathLst>
            </a:custGeom>
            <a:solidFill>
              <a:srgbClr val="96B5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 name="Google Shape;98;p1"/>
            <p:cNvSpPr txBox="1"/>
            <p:nvPr/>
          </p:nvSpPr>
          <p:spPr>
            <a:xfrm>
              <a:off x="0" y="-38100"/>
              <a:ext cx="255751" cy="284321"/>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sp>
        <p:nvSpPr>
          <p:cNvPr id="103" name="Google Shape;103;p2"/>
          <p:cNvSpPr/>
          <p:nvPr/>
        </p:nvSpPr>
        <p:spPr>
          <a:xfrm>
            <a:off x="4232465" y="2920957"/>
            <a:ext cx="9980524" cy="1125077"/>
          </a:xfrm>
          <a:custGeom>
            <a:rect b="b" l="l" r="r" t="t"/>
            <a:pathLst>
              <a:path extrusionOk="0" h="1125077" w="9980524">
                <a:moveTo>
                  <a:pt x="0" y="0"/>
                </a:moveTo>
                <a:lnTo>
                  <a:pt x="9980525" y="0"/>
                </a:lnTo>
                <a:lnTo>
                  <a:pt x="9980525" y="1125077"/>
                </a:lnTo>
                <a:lnTo>
                  <a:pt x="0" y="1125077"/>
                </a:lnTo>
                <a:lnTo>
                  <a:pt x="0" y="0"/>
                </a:lnTo>
                <a:close/>
              </a:path>
            </a:pathLst>
          </a:custGeom>
          <a:blipFill rotWithShape="1">
            <a:blip r:embed="rId3">
              <a:alphaModFix/>
            </a:blip>
            <a:stretch>
              <a:fillRect b="0" l="0" r="0" t="0"/>
            </a:stretch>
          </a:blipFill>
          <a:ln>
            <a:noFill/>
          </a:ln>
        </p:spPr>
      </p:sp>
      <p:sp>
        <p:nvSpPr>
          <p:cNvPr id="104" name="Google Shape;104;p2"/>
          <p:cNvSpPr/>
          <p:nvPr/>
        </p:nvSpPr>
        <p:spPr>
          <a:xfrm>
            <a:off x="4232465" y="4159124"/>
            <a:ext cx="9980524" cy="1125077"/>
          </a:xfrm>
          <a:custGeom>
            <a:rect b="b" l="l" r="r" t="t"/>
            <a:pathLst>
              <a:path extrusionOk="0" h="1125077" w="9980524">
                <a:moveTo>
                  <a:pt x="0" y="0"/>
                </a:moveTo>
                <a:lnTo>
                  <a:pt x="9980525" y="0"/>
                </a:lnTo>
                <a:lnTo>
                  <a:pt x="9980525" y="1125077"/>
                </a:lnTo>
                <a:lnTo>
                  <a:pt x="0" y="1125077"/>
                </a:lnTo>
                <a:lnTo>
                  <a:pt x="0" y="0"/>
                </a:lnTo>
                <a:close/>
              </a:path>
            </a:pathLst>
          </a:custGeom>
          <a:blipFill rotWithShape="1">
            <a:blip r:embed="rId4">
              <a:alphaModFix/>
            </a:blip>
            <a:stretch>
              <a:fillRect b="0" l="0" r="0" t="0"/>
            </a:stretch>
          </a:blipFill>
          <a:ln>
            <a:noFill/>
          </a:ln>
        </p:spPr>
      </p:sp>
      <p:sp>
        <p:nvSpPr>
          <p:cNvPr id="105" name="Google Shape;105;p2"/>
          <p:cNvSpPr/>
          <p:nvPr/>
        </p:nvSpPr>
        <p:spPr>
          <a:xfrm>
            <a:off x="4241908" y="5430646"/>
            <a:ext cx="9971081" cy="1124013"/>
          </a:xfrm>
          <a:custGeom>
            <a:rect b="b" l="l" r="r" t="t"/>
            <a:pathLst>
              <a:path extrusionOk="0" h="1124013" w="9971081">
                <a:moveTo>
                  <a:pt x="0" y="0"/>
                </a:moveTo>
                <a:lnTo>
                  <a:pt x="9971082" y="0"/>
                </a:lnTo>
                <a:lnTo>
                  <a:pt x="9971082" y="1124013"/>
                </a:lnTo>
                <a:lnTo>
                  <a:pt x="0" y="1124013"/>
                </a:lnTo>
                <a:lnTo>
                  <a:pt x="0" y="0"/>
                </a:lnTo>
                <a:close/>
              </a:path>
            </a:pathLst>
          </a:custGeom>
          <a:blipFill rotWithShape="1">
            <a:blip r:embed="rId5">
              <a:alphaModFix/>
            </a:blip>
            <a:stretch>
              <a:fillRect b="0" l="0" r="0" t="0"/>
            </a:stretch>
          </a:blipFill>
          <a:ln>
            <a:noFill/>
          </a:ln>
        </p:spPr>
      </p:sp>
      <p:sp>
        <p:nvSpPr>
          <p:cNvPr id="106" name="Google Shape;106;p2"/>
          <p:cNvSpPr/>
          <p:nvPr/>
        </p:nvSpPr>
        <p:spPr>
          <a:xfrm>
            <a:off x="4241908" y="6701103"/>
            <a:ext cx="9971081" cy="1124013"/>
          </a:xfrm>
          <a:custGeom>
            <a:rect b="b" l="l" r="r" t="t"/>
            <a:pathLst>
              <a:path extrusionOk="0" h="1124013" w="9971081">
                <a:moveTo>
                  <a:pt x="0" y="0"/>
                </a:moveTo>
                <a:lnTo>
                  <a:pt x="9971082" y="0"/>
                </a:lnTo>
                <a:lnTo>
                  <a:pt x="9971082" y="1124013"/>
                </a:lnTo>
                <a:lnTo>
                  <a:pt x="0" y="1124013"/>
                </a:lnTo>
                <a:lnTo>
                  <a:pt x="0" y="0"/>
                </a:lnTo>
                <a:close/>
              </a:path>
            </a:pathLst>
          </a:custGeom>
          <a:blipFill rotWithShape="1">
            <a:blip r:embed="rId6">
              <a:alphaModFix/>
            </a:blip>
            <a:stretch>
              <a:fillRect b="0" l="0" r="0" t="0"/>
            </a:stretch>
          </a:blipFill>
          <a:ln>
            <a:noFill/>
          </a:ln>
        </p:spPr>
      </p:sp>
      <p:sp>
        <p:nvSpPr>
          <p:cNvPr id="107" name="Google Shape;107;p2"/>
          <p:cNvSpPr/>
          <p:nvPr/>
        </p:nvSpPr>
        <p:spPr>
          <a:xfrm>
            <a:off x="4232465" y="7963669"/>
            <a:ext cx="9980524" cy="1125077"/>
          </a:xfrm>
          <a:custGeom>
            <a:rect b="b" l="l" r="r" t="t"/>
            <a:pathLst>
              <a:path extrusionOk="0" h="1125077" w="9980524">
                <a:moveTo>
                  <a:pt x="0" y="0"/>
                </a:moveTo>
                <a:lnTo>
                  <a:pt x="9980525" y="0"/>
                </a:lnTo>
                <a:lnTo>
                  <a:pt x="9980525" y="1125077"/>
                </a:lnTo>
                <a:lnTo>
                  <a:pt x="0" y="1125077"/>
                </a:lnTo>
                <a:lnTo>
                  <a:pt x="0" y="0"/>
                </a:lnTo>
                <a:close/>
              </a:path>
            </a:pathLst>
          </a:custGeom>
          <a:blipFill rotWithShape="1">
            <a:blip r:embed="rId4">
              <a:alphaModFix/>
            </a:blip>
            <a:stretch>
              <a:fillRect b="0" l="0" r="0" t="0"/>
            </a:stretch>
          </a:blipFill>
          <a:ln>
            <a:noFill/>
          </a:ln>
        </p:spPr>
      </p:sp>
      <p:sp>
        <p:nvSpPr>
          <p:cNvPr id="108" name="Google Shape;108;p2"/>
          <p:cNvSpPr/>
          <p:nvPr/>
        </p:nvSpPr>
        <p:spPr>
          <a:xfrm rot="10800000">
            <a:off x="134706" y="5284201"/>
            <a:ext cx="4372659" cy="4878220"/>
          </a:xfrm>
          <a:custGeom>
            <a:rect b="b" l="l" r="r" t="t"/>
            <a:pathLst>
              <a:path extrusionOk="0" h="4878220" w="4372659">
                <a:moveTo>
                  <a:pt x="0" y="0"/>
                </a:moveTo>
                <a:lnTo>
                  <a:pt x="4372659" y="0"/>
                </a:lnTo>
                <a:lnTo>
                  <a:pt x="4372659" y="4878220"/>
                </a:lnTo>
                <a:lnTo>
                  <a:pt x="0" y="4878220"/>
                </a:lnTo>
                <a:lnTo>
                  <a:pt x="0" y="0"/>
                </a:lnTo>
                <a:close/>
              </a:path>
            </a:pathLst>
          </a:custGeom>
          <a:blipFill rotWithShape="1">
            <a:blip r:embed="rId7">
              <a:alphaModFix/>
            </a:blip>
            <a:stretch>
              <a:fillRect b="0" l="0" r="0" t="0"/>
            </a:stretch>
          </a:blipFill>
          <a:ln>
            <a:noFill/>
          </a:ln>
        </p:spPr>
      </p:sp>
      <p:sp>
        <p:nvSpPr>
          <p:cNvPr id="109" name="Google Shape;109;p2"/>
          <p:cNvSpPr txBox="1"/>
          <p:nvPr/>
        </p:nvSpPr>
        <p:spPr>
          <a:xfrm>
            <a:off x="1711560" y="1285875"/>
            <a:ext cx="14865000" cy="849600"/>
          </a:xfrm>
          <a:prstGeom prst="rect">
            <a:avLst/>
          </a:prstGeom>
          <a:noFill/>
          <a:ln>
            <a:noFill/>
          </a:ln>
        </p:spPr>
        <p:txBody>
          <a:bodyPr anchorCtr="0" anchor="t" bIns="0" lIns="0" spcFirstLastPara="1" rIns="0" wrap="square" tIns="0">
            <a:spAutoFit/>
          </a:bodyPr>
          <a:lstStyle/>
          <a:p>
            <a:pPr indent="0" lvl="0" marL="0" marR="0" rtl="0" algn="ctr">
              <a:lnSpc>
                <a:spcPct val="91996"/>
              </a:lnSpc>
              <a:spcBef>
                <a:spcPts val="0"/>
              </a:spcBef>
              <a:spcAft>
                <a:spcPts val="0"/>
              </a:spcAft>
              <a:buNone/>
            </a:pPr>
            <a:r>
              <a:rPr b="0" i="0" lang="en-US" sz="6000" u="none" cap="none" strike="noStrike">
                <a:solidFill>
                  <a:srgbClr val="022033"/>
                </a:solidFill>
                <a:latin typeface="Arial"/>
                <a:ea typeface="Arial"/>
                <a:cs typeface="Arial"/>
                <a:sym typeface="Arial"/>
              </a:rPr>
              <a:t>RESUMEN DE CONTENIDOS</a:t>
            </a:r>
            <a:endParaRPr sz="6000"/>
          </a:p>
        </p:txBody>
      </p:sp>
      <p:sp>
        <p:nvSpPr>
          <p:cNvPr id="110" name="Google Shape;110;p2"/>
          <p:cNvSpPr txBox="1"/>
          <p:nvPr/>
        </p:nvSpPr>
        <p:spPr>
          <a:xfrm>
            <a:off x="5769175" y="3177800"/>
            <a:ext cx="6907105" cy="668542"/>
          </a:xfrm>
          <a:prstGeom prst="rect">
            <a:avLst/>
          </a:prstGeom>
          <a:noFill/>
          <a:ln>
            <a:noFill/>
          </a:ln>
        </p:spPr>
        <p:txBody>
          <a:bodyPr anchorCtr="0" anchor="t" bIns="0" lIns="0" spcFirstLastPara="1" rIns="0" wrap="square" tIns="0">
            <a:spAutoFit/>
          </a:bodyPr>
          <a:lstStyle/>
          <a:p>
            <a:pPr indent="0" lvl="0" marL="0" marR="0" rtl="0" algn="ctr">
              <a:lnSpc>
                <a:spcPct val="92014"/>
              </a:lnSpc>
              <a:spcBef>
                <a:spcPts val="0"/>
              </a:spcBef>
              <a:spcAft>
                <a:spcPts val="0"/>
              </a:spcAft>
              <a:buNone/>
            </a:pPr>
            <a:r>
              <a:rPr b="0" i="0" lang="en-US" sz="2730" u="none" cap="none" strike="noStrike">
                <a:solidFill>
                  <a:srgbClr val="022033"/>
                </a:solidFill>
                <a:latin typeface="Tenor Sans"/>
                <a:ea typeface="Tenor Sans"/>
                <a:cs typeface="Tenor Sans"/>
                <a:sym typeface="Tenor Sans"/>
              </a:rPr>
              <a:t>DISEÑO DEL CONJUNTO DE INSTRUCCIONES</a:t>
            </a:r>
            <a:endParaRPr/>
          </a:p>
        </p:txBody>
      </p:sp>
      <p:sp>
        <p:nvSpPr>
          <p:cNvPr id="111" name="Google Shape;111;p2"/>
          <p:cNvSpPr txBox="1"/>
          <p:nvPr/>
        </p:nvSpPr>
        <p:spPr>
          <a:xfrm>
            <a:off x="6056746" y="4589793"/>
            <a:ext cx="6119752" cy="354244"/>
          </a:xfrm>
          <a:prstGeom prst="rect">
            <a:avLst/>
          </a:prstGeom>
          <a:noFill/>
          <a:ln>
            <a:noFill/>
          </a:ln>
        </p:spPr>
        <p:txBody>
          <a:bodyPr anchorCtr="0" anchor="t" bIns="0" lIns="0" spcFirstLastPara="1" rIns="0" wrap="square" tIns="0">
            <a:spAutoFit/>
          </a:bodyPr>
          <a:lstStyle/>
          <a:p>
            <a:pPr indent="0" lvl="0" marL="0" marR="0" rtl="0" algn="ctr">
              <a:lnSpc>
                <a:spcPct val="92014"/>
              </a:lnSpc>
              <a:spcBef>
                <a:spcPts val="0"/>
              </a:spcBef>
              <a:spcAft>
                <a:spcPts val="0"/>
              </a:spcAft>
              <a:buNone/>
            </a:pPr>
            <a:r>
              <a:rPr b="0" i="0" lang="en-US" sz="2730" u="none" cap="none" strike="noStrike">
                <a:solidFill>
                  <a:srgbClr val="022033"/>
                </a:solidFill>
                <a:latin typeface="Tenor Sans"/>
                <a:ea typeface="Tenor Sans"/>
                <a:cs typeface="Tenor Sans"/>
                <a:sym typeface="Tenor Sans"/>
              </a:rPr>
              <a:t>COMPONENTES PRINCIPALES</a:t>
            </a:r>
            <a:endParaRPr/>
          </a:p>
        </p:txBody>
      </p:sp>
      <p:sp>
        <p:nvSpPr>
          <p:cNvPr id="112" name="Google Shape;112;p2"/>
          <p:cNvSpPr txBox="1"/>
          <p:nvPr/>
        </p:nvSpPr>
        <p:spPr>
          <a:xfrm>
            <a:off x="5874184" y="5699186"/>
            <a:ext cx="6539632" cy="354244"/>
          </a:xfrm>
          <a:prstGeom prst="rect">
            <a:avLst/>
          </a:prstGeom>
          <a:noFill/>
          <a:ln>
            <a:noFill/>
          </a:ln>
        </p:spPr>
        <p:txBody>
          <a:bodyPr anchorCtr="0" anchor="t" bIns="0" lIns="0" spcFirstLastPara="1" rIns="0" wrap="square" tIns="0">
            <a:spAutoFit/>
          </a:bodyPr>
          <a:lstStyle/>
          <a:p>
            <a:pPr indent="0" lvl="0" marL="0" marR="0" rtl="0" algn="ctr">
              <a:lnSpc>
                <a:spcPct val="92014"/>
              </a:lnSpc>
              <a:spcBef>
                <a:spcPts val="0"/>
              </a:spcBef>
              <a:spcAft>
                <a:spcPts val="0"/>
              </a:spcAft>
              <a:buNone/>
            </a:pPr>
            <a:r>
              <a:rPr b="0" i="0" lang="en-US" sz="2730" u="none" cap="none" strike="noStrike">
                <a:solidFill>
                  <a:srgbClr val="022033"/>
                </a:solidFill>
                <a:latin typeface="Tenor Sans"/>
                <a:ea typeface="Tenor Sans"/>
                <a:cs typeface="Tenor Sans"/>
                <a:sym typeface="Tenor Sans"/>
              </a:rPr>
              <a:t>ELEMENTOS A CONSIDERAR</a:t>
            </a:r>
            <a:endParaRPr/>
          </a:p>
        </p:txBody>
      </p:sp>
      <p:sp>
        <p:nvSpPr>
          <p:cNvPr id="113" name="Google Shape;113;p2"/>
          <p:cNvSpPr txBox="1"/>
          <p:nvPr/>
        </p:nvSpPr>
        <p:spPr>
          <a:xfrm>
            <a:off x="6345413" y="6957414"/>
            <a:ext cx="5764072" cy="354244"/>
          </a:xfrm>
          <a:prstGeom prst="rect">
            <a:avLst/>
          </a:prstGeom>
          <a:noFill/>
          <a:ln>
            <a:noFill/>
          </a:ln>
        </p:spPr>
        <p:txBody>
          <a:bodyPr anchorCtr="0" anchor="t" bIns="0" lIns="0" spcFirstLastPara="1" rIns="0" wrap="square" tIns="0">
            <a:spAutoFit/>
          </a:bodyPr>
          <a:lstStyle/>
          <a:p>
            <a:pPr indent="0" lvl="0" marL="0" marR="0" rtl="0" algn="ctr">
              <a:lnSpc>
                <a:spcPct val="92014"/>
              </a:lnSpc>
              <a:spcBef>
                <a:spcPts val="0"/>
              </a:spcBef>
              <a:spcAft>
                <a:spcPts val="0"/>
              </a:spcAft>
              <a:buNone/>
            </a:pPr>
            <a:r>
              <a:rPr b="0" i="0" lang="en-US" sz="2730" u="none" cap="none" strike="noStrike">
                <a:solidFill>
                  <a:srgbClr val="022033"/>
                </a:solidFill>
                <a:latin typeface="Tenor Sans"/>
                <a:ea typeface="Tenor Sans"/>
                <a:cs typeface="Tenor Sans"/>
                <a:sym typeface="Tenor Sans"/>
              </a:rPr>
              <a:t>EJEMPLOS</a:t>
            </a:r>
            <a:endParaRPr/>
          </a:p>
        </p:txBody>
      </p:sp>
      <p:sp>
        <p:nvSpPr>
          <p:cNvPr id="114" name="Google Shape;114;p2"/>
          <p:cNvSpPr txBox="1"/>
          <p:nvPr/>
        </p:nvSpPr>
        <p:spPr>
          <a:xfrm>
            <a:off x="6345413" y="8244216"/>
            <a:ext cx="5542416" cy="668542"/>
          </a:xfrm>
          <a:prstGeom prst="rect">
            <a:avLst/>
          </a:prstGeom>
          <a:noFill/>
          <a:ln>
            <a:noFill/>
          </a:ln>
        </p:spPr>
        <p:txBody>
          <a:bodyPr anchorCtr="0" anchor="t" bIns="0" lIns="0" spcFirstLastPara="1" rIns="0" wrap="square" tIns="0">
            <a:spAutoFit/>
          </a:bodyPr>
          <a:lstStyle/>
          <a:p>
            <a:pPr indent="0" lvl="0" marL="0" marR="0" rtl="0" algn="ctr">
              <a:lnSpc>
                <a:spcPct val="92014"/>
              </a:lnSpc>
              <a:spcBef>
                <a:spcPts val="0"/>
              </a:spcBef>
              <a:spcAft>
                <a:spcPts val="0"/>
              </a:spcAft>
              <a:buNone/>
            </a:pPr>
            <a:r>
              <a:rPr b="0" i="0" lang="en-US" sz="2730" u="none" cap="none" strike="noStrike">
                <a:solidFill>
                  <a:srgbClr val="022033"/>
                </a:solidFill>
                <a:latin typeface="Tenor Sans"/>
                <a:ea typeface="Tenor Sans"/>
                <a:cs typeface="Tenor Sans"/>
                <a:sym typeface="Tenor Sans"/>
              </a:rPr>
              <a:t>ANALISIS DEL CONJUNTO DE INSTRUCCIONES</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sp>
        <p:nvSpPr>
          <p:cNvPr id="119" name="Google Shape;119;p3"/>
          <p:cNvSpPr txBox="1"/>
          <p:nvPr/>
        </p:nvSpPr>
        <p:spPr>
          <a:xfrm>
            <a:off x="2915814" y="7596881"/>
            <a:ext cx="12456300" cy="1359300"/>
          </a:xfrm>
          <a:prstGeom prst="rect">
            <a:avLst/>
          </a:prstGeom>
          <a:noFill/>
          <a:ln>
            <a:noFill/>
          </a:ln>
        </p:spPr>
        <p:txBody>
          <a:bodyPr anchorCtr="0" anchor="t" bIns="0" lIns="0" spcFirstLastPara="1" rIns="0" wrap="square" tIns="0">
            <a:spAutoFit/>
          </a:bodyPr>
          <a:lstStyle/>
          <a:p>
            <a:pPr indent="0" lvl="0" marL="0" marR="0" rtl="0" algn="ctr">
              <a:lnSpc>
                <a:spcPct val="91998"/>
              </a:lnSpc>
              <a:spcBef>
                <a:spcPts val="0"/>
              </a:spcBef>
              <a:spcAft>
                <a:spcPts val="0"/>
              </a:spcAft>
              <a:buNone/>
            </a:pPr>
            <a:r>
              <a:rPr b="0" i="0" lang="en-US" sz="9600" u="none" cap="none" strike="noStrike">
                <a:solidFill>
                  <a:srgbClr val="022033"/>
                </a:solidFill>
                <a:latin typeface="Arial"/>
                <a:ea typeface="Arial"/>
                <a:cs typeface="Arial"/>
                <a:sym typeface="Arial"/>
              </a:rPr>
              <a:t>INTRODUCCION</a:t>
            </a:r>
            <a:endParaRPr sz="9600"/>
          </a:p>
        </p:txBody>
      </p:sp>
      <p:grpSp>
        <p:nvGrpSpPr>
          <p:cNvPr id="120" name="Google Shape;120;p3"/>
          <p:cNvGrpSpPr/>
          <p:nvPr/>
        </p:nvGrpSpPr>
        <p:grpSpPr>
          <a:xfrm>
            <a:off x="1764733" y="4162438"/>
            <a:ext cx="971055" cy="1079531"/>
            <a:chOff x="0" y="-38100"/>
            <a:chExt cx="255751" cy="284321"/>
          </a:xfrm>
        </p:grpSpPr>
        <p:sp>
          <p:nvSpPr>
            <p:cNvPr id="121" name="Google Shape;121;p3"/>
            <p:cNvSpPr/>
            <p:nvPr/>
          </p:nvSpPr>
          <p:spPr>
            <a:xfrm>
              <a:off x="0" y="0"/>
              <a:ext cx="255751" cy="246221"/>
            </a:xfrm>
            <a:custGeom>
              <a:rect b="b" l="l" r="r" t="t"/>
              <a:pathLst>
                <a:path extrusionOk="0" h="246221" w="255751">
                  <a:moveTo>
                    <a:pt x="123111" y="0"/>
                  </a:moveTo>
                  <a:lnTo>
                    <a:pt x="132641" y="0"/>
                  </a:lnTo>
                  <a:cubicBezTo>
                    <a:pt x="200633" y="0"/>
                    <a:pt x="255751" y="55118"/>
                    <a:pt x="255751" y="123111"/>
                  </a:cubicBezTo>
                  <a:lnTo>
                    <a:pt x="255751" y="123111"/>
                  </a:lnTo>
                  <a:cubicBezTo>
                    <a:pt x="255751" y="155761"/>
                    <a:pt x="242781" y="187075"/>
                    <a:pt x="219693" y="210163"/>
                  </a:cubicBezTo>
                  <a:cubicBezTo>
                    <a:pt x="196605" y="233251"/>
                    <a:pt x="165292" y="246221"/>
                    <a:pt x="132641" y="246221"/>
                  </a:cubicBezTo>
                  <a:lnTo>
                    <a:pt x="123111" y="246221"/>
                  </a:lnTo>
                  <a:cubicBezTo>
                    <a:pt x="55118" y="246221"/>
                    <a:pt x="0" y="191103"/>
                    <a:pt x="0" y="123111"/>
                  </a:cubicBezTo>
                  <a:lnTo>
                    <a:pt x="0" y="123111"/>
                  </a:lnTo>
                  <a:cubicBezTo>
                    <a:pt x="0" y="55118"/>
                    <a:pt x="55118" y="0"/>
                    <a:pt x="123111" y="0"/>
                  </a:cubicBezTo>
                  <a:close/>
                </a:path>
              </a:pathLst>
            </a:custGeom>
            <a:solidFill>
              <a:srgbClr val="BFD1E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 name="Google Shape;122;p3"/>
            <p:cNvSpPr txBox="1"/>
            <p:nvPr/>
          </p:nvSpPr>
          <p:spPr>
            <a:xfrm>
              <a:off x="0" y="-38100"/>
              <a:ext cx="255751" cy="284321"/>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23" name="Google Shape;123;p3"/>
          <p:cNvGrpSpPr/>
          <p:nvPr/>
        </p:nvGrpSpPr>
        <p:grpSpPr>
          <a:xfrm>
            <a:off x="13642983" y="6451073"/>
            <a:ext cx="971055" cy="1079531"/>
            <a:chOff x="0" y="-38100"/>
            <a:chExt cx="255751" cy="284321"/>
          </a:xfrm>
        </p:grpSpPr>
        <p:sp>
          <p:nvSpPr>
            <p:cNvPr id="124" name="Google Shape;124;p3"/>
            <p:cNvSpPr/>
            <p:nvPr/>
          </p:nvSpPr>
          <p:spPr>
            <a:xfrm>
              <a:off x="0" y="0"/>
              <a:ext cx="255751" cy="246221"/>
            </a:xfrm>
            <a:custGeom>
              <a:rect b="b" l="l" r="r" t="t"/>
              <a:pathLst>
                <a:path extrusionOk="0" h="246221" w="255751">
                  <a:moveTo>
                    <a:pt x="123111" y="0"/>
                  </a:moveTo>
                  <a:lnTo>
                    <a:pt x="132641" y="0"/>
                  </a:lnTo>
                  <a:cubicBezTo>
                    <a:pt x="200633" y="0"/>
                    <a:pt x="255751" y="55118"/>
                    <a:pt x="255751" y="123111"/>
                  </a:cubicBezTo>
                  <a:lnTo>
                    <a:pt x="255751" y="123111"/>
                  </a:lnTo>
                  <a:cubicBezTo>
                    <a:pt x="255751" y="155761"/>
                    <a:pt x="242781" y="187075"/>
                    <a:pt x="219693" y="210163"/>
                  </a:cubicBezTo>
                  <a:cubicBezTo>
                    <a:pt x="196605" y="233251"/>
                    <a:pt x="165292" y="246221"/>
                    <a:pt x="132641" y="246221"/>
                  </a:cubicBezTo>
                  <a:lnTo>
                    <a:pt x="123111" y="246221"/>
                  </a:lnTo>
                  <a:cubicBezTo>
                    <a:pt x="55118" y="246221"/>
                    <a:pt x="0" y="191103"/>
                    <a:pt x="0" y="123111"/>
                  </a:cubicBezTo>
                  <a:lnTo>
                    <a:pt x="0" y="123111"/>
                  </a:lnTo>
                  <a:cubicBezTo>
                    <a:pt x="0" y="55118"/>
                    <a:pt x="55118" y="0"/>
                    <a:pt x="123111" y="0"/>
                  </a:cubicBezTo>
                  <a:close/>
                </a:path>
              </a:pathLst>
            </a:custGeom>
            <a:solidFill>
              <a:srgbClr val="F3E78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 name="Google Shape;125;p3"/>
            <p:cNvSpPr txBox="1"/>
            <p:nvPr/>
          </p:nvSpPr>
          <p:spPr>
            <a:xfrm>
              <a:off x="0" y="-38100"/>
              <a:ext cx="255751" cy="284321"/>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26" name="Google Shape;126;p3"/>
          <p:cNvGrpSpPr/>
          <p:nvPr/>
        </p:nvGrpSpPr>
        <p:grpSpPr>
          <a:xfrm>
            <a:off x="16487255" y="530831"/>
            <a:ext cx="971055" cy="1079531"/>
            <a:chOff x="0" y="-38100"/>
            <a:chExt cx="255751" cy="284321"/>
          </a:xfrm>
        </p:grpSpPr>
        <p:sp>
          <p:nvSpPr>
            <p:cNvPr id="127" name="Google Shape;127;p3"/>
            <p:cNvSpPr/>
            <p:nvPr/>
          </p:nvSpPr>
          <p:spPr>
            <a:xfrm>
              <a:off x="0" y="0"/>
              <a:ext cx="255751" cy="246221"/>
            </a:xfrm>
            <a:custGeom>
              <a:rect b="b" l="l" r="r" t="t"/>
              <a:pathLst>
                <a:path extrusionOk="0" h="246221" w="255751">
                  <a:moveTo>
                    <a:pt x="123111" y="0"/>
                  </a:moveTo>
                  <a:lnTo>
                    <a:pt x="132641" y="0"/>
                  </a:lnTo>
                  <a:cubicBezTo>
                    <a:pt x="200633" y="0"/>
                    <a:pt x="255751" y="55118"/>
                    <a:pt x="255751" y="123111"/>
                  </a:cubicBezTo>
                  <a:lnTo>
                    <a:pt x="255751" y="123111"/>
                  </a:lnTo>
                  <a:cubicBezTo>
                    <a:pt x="255751" y="155761"/>
                    <a:pt x="242781" y="187075"/>
                    <a:pt x="219693" y="210163"/>
                  </a:cubicBezTo>
                  <a:cubicBezTo>
                    <a:pt x="196605" y="233251"/>
                    <a:pt x="165292" y="246221"/>
                    <a:pt x="132641" y="246221"/>
                  </a:cubicBezTo>
                  <a:lnTo>
                    <a:pt x="123111" y="246221"/>
                  </a:lnTo>
                  <a:cubicBezTo>
                    <a:pt x="55118" y="246221"/>
                    <a:pt x="0" y="191103"/>
                    <a:pt x="0" y="123111"/>
                  </a:cubicBezTo>
                  <a:lnTo>
                    <a:pt x="0" y="123111"/>
                  </a:lnTo>
                  <a:cubicBezTo>
                    <a:pt x="0" y="55118"/>
                    <a:pt x="55118" y="0"/>
                    <a:pt x="123111" y="0"/>
                  </a:cubicBezTo>
                  <a:close/>
                </a:path>
              </a:pathLst>
            </a:custGeom>
            <a:solidFill>
              <a:srgbClr val="568AB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 name="Google Shape;128;p3"/>
            <p:cNvSpPr txBox="1"/>
            <p:nvPr/>
          </p:nvSpPr>
          <p:spPr>
            <a:xfrm>
              <a:off x="0" y="-38100"/>
              <a:ext cx="255751" cy="284321"/>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129" name="Google Shape;129;p3"/>
          <p:cNvSpPr/>
          <p:nvPr/>
        </p:nvSpPr>
        <p:spPr>
          <a:xfrm>
            <a:off x="4657607" y="898874"/>
            <a:ext cx="7996924" cy="6164296"/>
          </a:xfrm>
          <a:custGeom>
            <a:rect b="b" l="l" r="r" t="t"/>
            <a:pathLst>
              <a:path extrusionOk="0" h="6164296" w="7996924">
                <a:moveTo>
                  <a:pt x="0" y="0"/>
                </a:moveTo>
                <a:lnTo>
                  <a:pt x="7996924" y="0"/>
                </a:lnTo>
                <a:lnTo>
                  <a:pt x="7996924" y="6164296"/>
                </a:lnTo>
                <a:lnTo>
                  <a:pt x="0" y="6164296"/>
                </a:lnTo>
                <a:lnTo>
                  <a:pt x="0" y="0"/>
                </a:lnTo>
                <a:close/>
              </a:path>
            </a:pathLst>
          </a:custGeom>
          <a:blipFill rotWithShape="1">
            <a:blip r:embed="rId3">
              <a:alphaModFix/>
            </a:blip>
            <a:stretch>
              <a:fillRect b="0" l="0" r="0" t="0"/>
            </a:stretch>
          </a:blipFill>
          <a:ln>
            <a:noFill/>
          </a:ln>
        </p:spPr>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grpSp>
        <p:nvGrpSpPr>
          <p:cNvPr id="134" name="Google Shape;134;p4"/>
          <p:cNvGrpSpPr/>
          <p:nvPr/>
        </p:nvGrpSpPr>
        <p:grpSpPr>
          <a:xfrm>
            <a:off x="16098759" y="604794"/>
            <a:ext cx="4378481" cy="4378481"/>
            <a:chOff x="0" y="0"/>
            <a:chExt cx="812800" cy="812800"/>
          </a:xfrm>
        </p:grpSpPr>
        <p:sp>
          <p:nvSpPr>
            <p:cNvPr id="135" name="Google Shape;135;p4"/>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6B5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 name="Google Shape;136;p4"/>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137" name="Google Shape;137;p4"/>
          <p:cNvSpPr txBox="1"/>
          <p:nvPr/>
        </p:nvSpPr>
        <p:spPr>
          <a:xfrm>
            <a:off x="836809" y="3770855"/>
            <a:ext cx="15936963" cy="5812255"/>
          </a:xfrm>
          <a:prstGeom prst="rect">
            <a:avLst/>
          </a:prstGeom>
          <a:noFill/>
          <a:ln>
            <a:noFill/>
          </a:ln>
        </p:spPr>
        <p:txBody>
          <a:bodyPr anchorCtr="0" anchor="t" bIns="0" lIns="0" spcFirstLastPara="1" rIns="0" wrap="square" tIns="0">
            <a:spAutoFit/>
          </a:bodyPr>
          <a:lstStyle/>
          <a:p>
            <a:pPr indent="0" lvl="0" marL="0" marR="0" rtl="0" algn="just">
              <a:lnSpc>
                <a:spcPct val="140016"/>
              </a:lnSpc>
              <a:spcBef>
                <a:spcPts val="0"/>
              </a:spcBef>
              <a:spcAft>
                <a:spcPts val="0"/>
              </a:spcAft>
              <a:buNone/>
            </a:pPr>
            <a:r>
              <a:rPr b="0" i="0" lang="en-US" sz="3661" u="none" cap="none" strike="noStrike">
                <a:solidFill>
                  <a:srgbClr val="022033"/>
                </a:solidFill>
                <a:latin typeface="Tenor Sans"/>
                <a:ea typeface="Tenor Sans"/>
                <a:cs typeface="Tenor Sans"/>
                <a:sym typeface="Tenor Sans"/>
              </a:rPr>
              <a:t>El diseño y análisis del conjunto de instrucciones (ISA) es un componente clave en la arquitectura de cualquier procesador, ya que establece las operaciones que el procesador puede realizar y cómo interactúa con la memoria y los datos. </a:t>
            </a:r>
            <a:endParaRPr/>
          </a:p>
          <a:p>
            <a:pPr indent="0" lvl="0" marL="0" marR="0" rtl="0" algn="just">
              <a:lnSpc>
                <a:spcPct val="140016"/>
              </a:lnSpc>
              <a:spcBef>
                <a:spcPts val="0"/>
              </a:spcBef>
              <a:spcAft>
                <a:spcPts val="0"/>
              </a:spcAft>
              <a:buNone/>
            </a:pPr>
            <a:r>
              <a:t/>
            </a:r>
            <a:endParaRPr b="0" i="0" sz="3661" u="none" cap="none" strike="noStrike">
              <a:solidFill>
                <a:srgbClr val="022033"/>
              </a:solidFill>
              <a:latin typeface="Tenor Sans"/>
              <a:ea typeface="Tenor Sans"/>
              <a:cs typeface="Tenor Sans"/>
              <a:sym typeface="Tenor Sans"/>
            </a:endParaRPr>
          </a:p>
          <a:p>
            <a:pPr indent="0" lvl="0" marL="0" marR="0" rtl="0" algn="just">
              <a:lnSpc>
                <a:spcPct val="140016"/>
              </a:lnSpc>
              <a:spcBef>
                <a:spcPts val="0"/>
              </a:spcBef>
              <a:spcAft>
                <a:spcPts val="0"/>
              </a:spcAft>
              <a:buNone/>
            </a:pPr>
            <a:r>
              <a:rPr b="0" i="0" lang="en-US" sz="3661" u="none" cap="none" strike="noStrike">
                <a:solidFill>
                  <a:srgbClr val="022033"/>
                </a:solidFill>
                <a:latin typeface="Tenor Sans"/>
                <a:ea typeface="Tenor Sans"/>
                <a:cs typeface="Tenor Sans"/>
                <a:sym typeface="Tenor Sans"/>
              </a:rPr>
              <a:t>Este conjunto de instrucciones se considera la interfaz entre el hardware (procesador) y el software, permitiendo que el código que escribe un programador pueda ejecutarse de manera eficiente en el procesador.</a:t>
            </a:r>
            <a:endParaRPr/>
          </a:p>
        </p:txBody>
      </p:sp>
      <p:sp>
        <p:nvSpPr>
          <p:cNvPr id="138" name="Google Shape;138;p4"/>
          <p:cNvSpPr txBox="1"/>
          <p:nvPr/>
        </p:nvSpPr>
        <p:spPr>
          <a:xfrm>
            <a:off x="689991" y="709179"/>
            <a:ext cx="16230600" cy="2718900"/>
          </a:xfrm>
          <a:prstGeom prst="rect">
            <a:avLst/>
          </a:prstGeom>
          <a:noFill/>
          <a:ln>
            <a:noFill/>
          </a:ln>
        </p:spPr>
        <p:txBody>
          <a:bodyPr anchorCtr="0" anchor="t" bIns="0" lIns="0" spcFirstLastPara="1" rIns="0" wrap="square" tIns="0">
            <a:spAutoFit/>
          </a:bodyPr>
          <a:lstStyle/>
          <a:p>
            <a:pPr indent="0" lvl="0" marL="0" marR="0" rtl="0" algn="l">
              <a:lnSpc>
                <a:spcPct val="91996"/>
              </a:lnSpc>
              <a:spcBef>
                <a:spcPts val="0"/>
              </a:spcBef>
              <a:spcAft>
                <a:spcPts val="0"/>
              </a:spcAft>
              <a:buNone/>
            </a:pPr>
            <a:r>
              <a:rPr b="0" i="0" lang="en-US" sz="9600" u="none" cap="none" strike="noStrike">
                <a:solidFill>
                  <a:srgbClr val="022033"/>
                </a:solidFill>
                <a:latin typeface="Arial"/>
                <a:ea typeface="Arial"/>
                <a:cs typeface="Arial"/>
                <a:sym typeface="Arial"/>
              </a:rPr>
              <a:t>DISEÑO DEL CONJUNTO DE INSTRUCCIONES (ISA)</a:t>
            </a:r>
            <a:endParaRPr sz="9600"/>
          </a:p>
        </p:txBody>
      </p:sp>
      <p:grpSp>
        <p:nvGrpSpPr>
          <p:cNvPr id="139" name="Google Shape;139;p4"/>
          <p:cNvGrpSpPr/>
          <p:nvPr/>
        </p:nvGrpSpPr>
        <p:grpSpPr>
          <a:xfrm>
            <a:off x="16288245" y="5635551"/>
            <a:ext cx="971055" cy="1079531"/>
            <a:chOff x="0" y="-38100"/>
            <a:chExt cx="255751" cy="284321"/>
          </a:xfrm>
        </p:grpSpPr>
        <p:sp>
          <p:nvSpPr>
            <p:cNvPr id="140" name="Google Shape;140;p4"/>
            <p:cNvSpPr/>
            <p:nvPr/>
          </p:nvSpPr>
          <p:spPr>
            <a:xfrm>
              <a:off x="0" y="0"/>
              <a:ext cx="255751" cy="246221"/>
            </a:xfrm>
            <a:custGeom>
              <a:rect b="b" l="l" r="r" t="t"/>
              <a:pathLst>
                <a:path extrusionOk="0" h="246221" w="255751">
                  <a:moveTo>
                    <a:pt x="123111" y="0"/>
                  </a:moveTo>
                  <a:lnTo>
                    <a:pt x="132641" y="0"/>
                  </a:lnTo>
                  <a:cubicBezTo>
                    <a:pt x="200633" y="0"/>
                    <a:pt x="255751" y="55118"/>
                    <a:pt x="255751" y="123111"/>
                  </a:cubicBezTo>
                  <a:lnTo>
                    <a:pt x="255751" y="123111"/>
                  </a:lnTo>
                  <a:cubicBezTo>
                    <a:pt x="255751" y="155761"/>
                    <a:pt x="242781" y="187075"/>
                    <a:pt x="219693" y="210163"/>
                  </a:cubicBezTo>
                  <a:cubicBezTo>
                    <a:pt x="196605" y="233251"/>
                    <a:pt x="165292" y="246221"/>
                    <a:pt x="132641" y="246221"/>
                  </a:cubicBezTo>
                  <a:lnTo>
                    <a:pt x="123111" y="246221"/>
                  </a:lnTo>
                  <a:cubicBezTo>
                    <a:pt x="55118" y="246221"/>
                    <a:pt x="0" y="191103"/>
                    <a:pt x="0" y="123111"/>
                  </a:cubicBezTo>
                  <a:lnTo>
                    <a:pt x="0" y="123111"/>
                  </a:lnTo>
                  <a:cubicBezTo>
                    <a:pt x="0" y="55118"/>
                    <a:pt x="55118" y="0"/>
                    <a:pt x="123111" y="0"/>
                  </a:cubicBezTo>
                  <a:close/>
                </a:path>
              </a:pathLst>
            </a:custGeom>
            <a:solidFill>
              <a:srgbClr val="568AB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 name="Google Shape;141;p4"/>
            <p:cNvSpPr txBox="1"/>
            <p:nvPr/>
          </p:nvSpPr>
          <p:spPr>
            <a:xfrm>
              <a:off x="0" y="-38100"/>
              <a:ext cx="255751" cy="284321"/>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p5"/>
          <p:cNvSpPr txBox="1"/>
          <p:nvPr/>
        </p:nvSpPr>
        <p:spPr>
          <a:xfrm>
            <a:off x="1186709" y="692887"/>
            <a:ext cx="13905095" cy="7107601"/>
          </a:xfrm>
          <a:prstGeom prst="rect">
            <a:avLst/>
          </a:prstGeom>
          <a:noFill/>
          <a:ln>
            <a:noFill/>
          </a:ln>
        </p:spPr>
        <p:txBody>
          <a:bodyPr anchorCtr="0" anchor="t" bIns="0" lIns="0" spcFirstLastPara="1" rIns="0" wrap="square" tIns="0">
            <a:spAutoFit/>
          </a:bodyPr>
          <a:lstStyle/>
          <a:p>
            <a:pPr indent="0" lvl="0" marL="0" marR="0" rtl="0" algn="just">
              <a:lnSpc>
                <a:spcPct val="140016"/>
              </a:lnSpc>
              <a:spcBef>
                <a:spcPts val="0"/>
              </a:spcBef>
              <a:spcAft>
                <a:spcPts val="0"/>
              </a:spcAft>
              <a:buNone/>
            </a:pPr>
            <a:r>
              <a:rPr b="0" i="0" lang="en-US" sz="3661" u="none" cap="none" strike="noStrike">
                <a:solidFill>
                  <a:srgbClr val="022033"/>
                </a:solidFill>
                <a:latin typeface="Tenor Sans"/>
                <a:ea typeface="Tenor Sans"/>
                <a:cs typeface="Tenor Sans"/>
                <a:sym typeface="Tenor Sans"/>
              </a:rPr>
              <a:t>El diseño del conjunto de instrucciones abarca la definición de las operaciones básicas que el procesador debe ser capaz de ejecutar y la manera en que estas operaciones se codifican en instrucciones binarias para que el procesador las entienda.</a:t>
            </a:r>
            <a:endParaRPr/>
          </a:p>
          <a:p>
            <a:pPr indent="0" lvl="0" marL="0" marR="0" rtl="0" algn="just">
              <a:lnSpc>
                <a:spcPct val="140016"/>
              </a:lnSpc>
              <a:spcBef>
                <a:spcPts val="0"/>
              </a:spcBef>
              <a:spcAft>
                <a:spcPts val="0"/>
              </a:spcAft>
              <a:buNone/>
            </a:pPr>
            <a:r>
              <a:t/>
            </a:r>
            <a:endParaRPr b="0" i="0" sz="3661" u="none" cap="none" strike="noStrike">
              <a:solidFill>
                <a:srgbClr val="022033"/>
              </a:solidFill>
              <a:latin typeface="Tenor Sans"/>
              <a:ea typeface="Tenor Sans"/>
              <a:cs typeface="Tenor Sans"/>
              <a:sym typeface="Tenor Sans"/>
            </a:endParaRPr>
          </a:p>
          <a:p>
            <a:pPr indent="0" lvl="0" marL="0" marR="0" rtl="0" algn="just">
              <a:lnSpc>
                <a:spcPct val="140016"/>
              </a:lnSpc>
              <a:spcBef>
                <a:spcPts val="0"/>
              </a:spcBef>
              <a:spcAft>
                <a:spcPts val="0"/>
              </a:spcAft>
              <a:buNone/>
            </a:pPr>
            <a:r>
              <a:rPr b="0" i="0" lang="en-US" sz="3661" u="none" cap="none" strike="noStrike">
                <a:solidFill>
                  <a:srgbClr val="022033"/>
                </a:solidFill>
                <a:latin typeface="Tenor Sans"/>
                <a:ea typeface="Tenor Sans"/>
                <a:cs typeface="Tenor Sans"/>
                <a:sym typeface="Tenor Sans"/>
              </a:rPr>
              <a:t>Componentes principales de un ISA:</a:t>
            </a:r>
            <a:endParaRPr/>
          </a:p>
          <a:p>
            <a:pPr indent="-395254" lvl="1" marL="790508" marR="0" rtl="0" algn="just">
              <a:lnSpc>
                <a:spcPct val="140016"/>
              </a:lnSpc>
              <a:spcBef>
                <a:spcPts val="0"/>
              </a:spcBef>
              <a:spcAft>
                <a:spcPts val="0"/>
              </a:spcAft>
              <a:buClr>
                <a:srgbClr val="022033"/>
              </a:buClr>
              <a:buSzPts val="3661"/>
              <a:buFont typeface="Arial"/>
              <a:buChar char="•"/>
            </a:pPr>
            <a:r>
              <a:rPr b="0" i="0" lang="en-US" sz="3661" u="none" cap="none" strike="noStrike">
                <a:solidFill>
                  <a:srgbClr val="022033"/>
                </a:solidFill>
                <a:latin typeface="Tenor Sans"/>
                <a:ea typeface="Tenor Sans"/>
                <a:cs typeface="Tenor Sans"/>
                <a:sym typeface="Tenor Sans"/>
              </a:rPr>
              <a:t>Opcodes (Códigos de operación)</a:t>
            </a:r>
            <a:endParaRPr/>
          </a:p>
          <a:p>
            <a:pPr indent="-395254" lvl="1" marL="790508" marR="0" rtl="0" algn="just">
              <a:lnSpc>
                <a:spcPct val="140016"/>
              </a:lnSpc>
              <a:spcBef>
                <a:spcPts val="0"/>
              </a:spcBef>
              <a:spcAft>
                <a:spcPts val="0"/>
              </a:spcAft>
              <a:buClr>
                <a:srgbClr val="022033"/>
              </a:buClr>
              <a:buSzPts val="3661"/>
              <a:buFont typeface="Arial"/>
              <a:buChar char="•"/>
            </a:pPr>
            <a:r>
              <a:rPr b="0" i="0" lang="en-US" sz="3661" u="none" cap="none" strike="noStrike">
                <a:solidFill>
                  <a:srgbClr val="022033"/>
                </a:solidFill>
                <a:latin typeface="Tenor Sans"/>
                <a:ea typeface="Tenor Sans"/>
                <a:cs typeface="Tenor Sans"/>
                <a:sym typeface="Tenor Sans"/>
              </a:rPr>
              <a:t>Operandos</a:t>
            </a:r>
            <a:endParaRPr/>
          </a:p>
          <a:p>
            <a:pPr indent="-395254" lvl="1" marL="790508" marR="0" rtl="0" algn="just">
              <a:lnSpc>
                <a:spcPct val="140016"/>
              </a:lnSpc>
              <a:spcBef>
                <a:spcPts val="0"/>
              </a:spcBef>
              <a:spcAft>
                <a:spcPts val="0"/>
              </a:spcAft>
              <a:buClr>
                <a:srgbClr val="022033"/>
              </a:buClr>
              <a:buSzPts val="3661"/>
              <a:buFont typeface="Arial"/>
              <a:buChar char="•"/>
            </a:pPr>
            <a:r>
              <a:rPr b="0" i="0" lang="en-US" sz="3661" u="none" cap="none" strike="noStrike">
                <a:solidFill>
                  <a:srgbClr val="022033"/>
                </a:solidFill>
                <a:latin typeface="Tenor Sans"/>
                <a:ea typeface="Tenor Sans"/>
                <a:cs typeface="Tenor Sans"/>
                <a:sym typeface="Tenor Sans"/>
              </a:rPr>
              <a:t>Modificadores</a:t>
            </a:r>
            <a:endParaRPr/>
          </a:p>
          <a:p>
            <a:pPr indent="0" lvl="0" marL="0" marR="0" rtl="0" algn="just">
              <a:lnSpc>
                <a:spcPct val="140016"/>
              </a:lnSpc>
              <a:spcBef>
                <a:spcPts val="0"/>
              </a:spcBef>
              <a:spcAft>
                <a:spcPts val="0"/>
              </a:spcAft>
              <a:buNone/>
            </a:pPr>
            <a:r>
              <a:t/>
            </a:r>
            <a:endParaRPr b="0" i="0" sz="3661" u="none" cap="none" strike="noStrike">
              <a:solidFill>
                <a:srgbClr val="022033"/>
              </a:solidFill>
              <a:latin typeface="Tenor Sans"/>
              <a:ea typeface="Tenor Sans"/>
              <a:cs typeface="Tenor Sans"/>
              <a:sym typeface="Tenor Sans"/>
            </a:endParaRPr>
          </a:p>
        </p:txBody>
      </p:sp>
      <p:grpSp>
        <p:nvGrpSpPr>
          <p:cNvPr id="147" name="Google Shape;147;p5"/>
          <p:cNvGrpSpPr/>
          <p:nvPr/>
        </p:nvGrpSpPr>
        <p:grpSpPr>
          <a:xfrm>
            <a:off x="16098759" y="604794"/>
            <a:ext cx="4378481" cy="4378481"/>
            <a:chOff x="0" y="0"/>
            <a:chExt cx="812800" cy="812800"/>
          </a:xfrm>
        </p:grpSpPr>
        <p:sp>
          <p:nvSpPr>
            <p:cNvPr id="148" name="Google Shape;148;p5"/>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6B5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 name="Google Shape;149;p5"/>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50" name="Google Shape;150;p5"/>
          <p:cNvGrpSpPr/>
          <p:nvPr/>
        </p:nvGrpSpPr>
        <p:grpSpPr>
          <a:xfrm>
            <a:off x="16288245" y="5635551"/>
            <a:ext cx="971055" cy="1079531"/>
            <a:chOff x="0" y="-38100"/>
            <a:chExt cx="255751" cy="284321"/>
          </a:xfrm>
        </p:grpSpPr>
        <p:sp>
          <p:nvSpPr>
            <p:cNvPr id="151" name="Google Shape;151;p5"/>
            <p:cNvSpPr/>
            <p:nvPr/>
          </p:nvSpPr>
          <p:spPr>
            <a:xfrm>
              <a:off x="0" y="0"/>
              <a:ext cx="255751" cy="246221"/>
            </a:xfrm>
            <a:custGeom>
              <a:rect b="b" l="l" r="r" t="t"/>
              <a:pathLst>
                <a:path extrusionOk="0" h="246221" w="255751">
                  <a:moveTo>
                    <a:pt x="123111" y="0"/>
                  </a:moveTo>
                  <a:lnTo>
                    <a:pt x="132641" y="0"/>
                  </a:lnTo>
                  <a:cubicBezTo>
                    <a:pt x="200633" y="0"/>
                    <a:pt x="255751" y="55118"/>
                    <a:pt x="255751" y="123111"/>
                  </a:cubicBezTo>
                  <a:lnTo>
                    <a:pt x="255751" y="123111"/>
                  </a:lnTo>
                  <a:cubicBezTo>
                    <a:pt x="255751" y="155761"/>
                    <a:pt x="242781" y="187075"/>
                    <a:pt x="219693" y="210163"/>
                  </a:cubicBezTo>
                  <a:cubicBezTo>
                    <a:pt x="196605" y="233251"/>
                    <a:pt x="165292" y="246221"/>
                    <a:pt x="132641" y="246221"/>
                  </a:cubicBezTo>
                  <a:lnTo>
                    <a:pt x="123111" y="246221"/>
                  </a:lnTo>
                  <a:cubicBezTo>
                    <a:pt x="55118" y="246221"/>
                    <a:pt x="0" y="191103"/>
                    <a:pt x="0" y="123111"/>
                  </a:cubicBezTo>
                  <a:lnTo>
                    <a:pt x="0" y="123111"/>
                  </a:lnTo>
                  <a:cubicBezTo>
                    <a:pt x="0" y="55118"/>
                    <a:pt x="55118" y="0"/>
                    <a:pt x="123111" y="0"/>
                  </a:cubicBezTo>
                  <a:close/>
                </a:path>
              </a:pathLst>
            </a:custGeom>
            <a:solidFill>
              <a:srgbClr val="568AB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 name="Google Shape;152;p5"/>
            <p:cNvSpPr txBox="1"/>
            <p:nvPr/>
          </p:nvSpPr>
          <p:spPr>
            <a:xfrm>
              <a:off x="0" y="-38100"/>
              <a:ext cx="255751" cy="284321"/>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153" name="Google Shape;153;p5"/>
          <p:cNvSpPr/>
          <p:nvPr/>
        </p:nvSpPr>
        <p:spPr>
          <a:xfrm>
            <a:off x="8533638" y="6015997"/>
            <a:ext cx="6228223" cy="3568982"/>
          </a:xfrm>
          <a:custGeom>
            <a:rect b="b" l="l" r="r" t="t"/>
            <a:pathLst>
              <a:path extrusionOk="0" h="3568982" w="6228223">
                <a:moveTo>
                  <a:pt x="0" y="0"/>
                </a:moveTo>
                <a:lnTo>
                  <a:pt x="6228224" y="0"/>
                </a:lnTo>
                <a:lnTo>
                  <a:pt x="6228224" y="3568982"/>
                </a:lnTo>
                <a:lnTo>
                  <a:pt x="0" y="3568982"/>
                </a:lnTo>
                <a:lnTo>
                  <a:pt x="0" y="0"/>
                </a:lnTo>
                <a:close/>
              </a:path>
            </a:pathLst>
          </a:custGeom>
          <a:blipFill rotWithShape="1">
            <a:blip r:embed="rId3">
              <a:alphaModFix/>
            </a:blip>
            <a:stretch>
              <a:fillRect b="-22218" l="-23671" r="-29226" t="-37535"/>
            </a:stretch>
          </a:blipFill>
          <a:ln>
            <a:noFill/>
          </a:ln>
        </p:spPr>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grpSp>
        <p:nvGrpSpPr>
          <p:cNvPr id="158" name="Google Shape;158;p6"/>
          <p:cNvGrpSpPr/>
          <p:nvPr/>
        </p:nvGrpSpPr>
        <p:grpSpPr>
          <a:xfrm>
            <a:off x="-2603406" y="2751568"/>
            <a:ext cx="4378481" cy="4378481"/>
            <a:chOff x="0" y="0"/>
            <a:chExt cx="812800" cy="812800"/>
          </a:xfrm>
        </p:grpSpPr>
        <p:sp>
          <p:nvSpPr>
            <p:cNvPr id="159" name="Google Shape;159;p6"/>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6B5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 name="Google Shape;160;p6"/>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61" name="Google Shape;161;p6"/>
          <p:cNvGrpSpPr/>
          <p:nvPr/>
        </p:nvGrpSpPr>
        <p:grpSpPr>
          <a:xfrm>
            <a:off x="3954263" y="8646204"/>
            <a:ext cx="971055" cy="1079531"/>
            <a:chOff x="0" y="-38100"/>
            <a:chExt cx="255751" cy="284321"/>
          </a:xfrm>
        </p:grpSpPr>
        <p:sp>
          <p:nvSpPr>
            <p:cNvPr id="162" name="Google Shape;162;p6"/>
            <p:cNvSpPr/>
            <p:nvPr/>
          </p:nvSpPr>
          <p:spPr>
            <a:xfrm>
              <a:off x="0" y="0"/>
              <a:ext cx="255751" cy="246221"/>
            </a:xfrm>
            <a:custGeom>
              <a:rect b="b" l="l" r="r" t="t"/>
              <a:pathLst>
                <a:path extrusionOk="0" h="246221" w="255751">
                  <a:moveTo>
                    <a:pt x="123111" y="0"/>
                  </a:moveTo>
                  <a:lnTo>
                    <a:pt x="132641" y="0"/>
                  </a:lnTo>
                  <a:cubicBezTo>
                    <a:pt x="200633" y="0"/>
                    <a:pt x="255751" y="55118"/>
                    <a:pt x="255751" y="123111"/>
                  </a:cubicBezTo>
                  <a:lnTo>
                    <a:pt x="255751" y="123111"/>
                  </a:lnTo>
                  <a:cubicBezTo>
                    <a:pt x="255751" y="155761"/>
                    <a:pt x="242781" y="187075"/>
                    <a:pt x="219693" y="210163"/>
                  </a:cubicBezTo>
                  <a:cubicBezTo>
                    <a:pt x="196605" y="233251"/>
                    <a:pt x="165292" y="246221"/>
                    <a:pt x="132641" y="246221"/>
                  </a:cubicBezTo>
                  <a:lnTo>
                    <a:pt x="123111" y="246221"/>
                  </a:lnTo>
                  <a:cubicBezTo>
                    <a:pt x="55118" y="246221"/>
                    <a:pt x="0" y="191103"/>
                    <a:pt x="0" y="123111"/>
                  </a:cubicBezTo>
                  <a:lnTo>
                    <a:pt x="0" y="123111"/>
                  </a:lnTo>
                  <a:cubicBezTo>
                    <a:pt x="0" y="55118"/>
                    <a:pt x="55118" y="0"/>
                    <a:pt x="123111" y="0"/>
                  </a:cubicBezTo>
                  <a:close/>
                </a:path>
              </a:pathLst>
            </a:custGeom>
            <a:solidFill>
              <a:srgbClr val="568AB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 name="Google Shape;163;p6"/>
            <p:cNvSpPr txBox="1"/>
            <p:nvPr/>
          </p:nvSpPr>
          <p:spPr>
            <a:xfrm>
              <a:off x="0" y="-38100"/>
              <a:ext cx="255751" cy="284321"/>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164" name="Google Shape;164;p6"/>
          <p:cNvSpPr txBox="1"/>
          <p:nvPr/>
        </p:nvSpPr>
        <p:spPr>
          <a:xfrm>
            <a:off x="853750" y="1475607"/>
            <a:ext cx="16405550" cy="8402947"/>
          </a:xfrm>
          <a:prstGeom prst="rect">
            <a:avLst/>
          </a:prstGeom>
          <a:noFill/>
          <a:ln>
            <a:noFill/>
          </a:ln>
        </p:spPr>
        <p:txBody>
          <a:bodyPr anchorCtr="0" anchor="t" bIns="0" lIns="0" spcFirstLastPara="1" rIns="0" wrap="square" tIns="0">
            <a:spAutoFit/>
          </a:bodyPr>
          <a:lstStyle/>
          <a:p>
            <a:pPr indent="0" lvl="0" marL="0" marR="0" rtl="0" algn="just">
              <a:lnSpc>
                <a:spcPct val="140016"/>
              </a:lnSpc>
              <a:spcBef>
                <a:spcPts val="0"/>
              </a:spcBef>
              <a:spcAft>
                <a:spcPts val="0"/>
              </a:spcAft>
              <a:buNone/>
            </a:pPr>
            <a:r>
              <a:rPr b="0" i="0" lang="en-US" sz="3661" u="none" cap="none" strike="noStrike">
                <a:solidFill>
                  <a:srgbClr val="022033"/>
                </a:solidFill>
                <a:latin typeface="Tenor Sans"/>
                <a:ea typeface="Tenor Sans"/>
                <a:cs typeface="Tenor Sans"/>
                <a:sym typeface="Tenor Sans"/>
              </a:rPr>
              <a:t>Opcodes (Códigos de operación)</a:t>
            </a:r>
            <a:endParaRPr/>
          </a:p>
          <a:p>
            <a:pPr indent="0" lvl="0" marL="0" marR="0" rtl="0" algn="just">
              <a:lnSpc>
                <a:spcPct val="140016"/>
              </a:lnSpc>
              <a:spcBef>
                <a:spcPts val="0"/>
              </a:spcBef>
              <a:spcAft>
                <a:spcPts val="0"/>
              </a:spcAft>
              <a:buNone/>
            </a:pPr>
            <a:r>
              <a:t/>
            </a:r>
            <a:endParaRPr b="0" i="0" sz="3661" u="none" cap="none" strike="noStrike">
              <a:solidFill>
                <a:srgbClr val="022033"/>
              </a:solidFill>
              <a:latin typeface="Tenor Sans"/>
              <a:ea typeface="Tenor Sans"/>
              <a:cs typeface="Tenor Sans"/>
              <a:sym typeface="Tenor Sans"/>
            </a:endParaRPr>
          </a:p>
          <a:p>
            <a:pPr indent="0" lvl="0" marL="0" marR="0" rtl="0" algn="just">
              <a:lnSpc>
                <a:spcPct val="140016"/>
              </a:lnSpc>
              <a:spcBef>
                <a:spcPts val="0"/>
              </a:spcBef>
              <a:spcAft>
                <a:spcPts val="0"/>
              </a:spcAft>
              <a:buNone/>
            </a:pPr>
            <a:r>
              <a:rPr b="0" i="0" lang="en-US" sz="3661" u="none" cap="none" strike="noStrike">
                <a:solidFill>
                  <a:srgbClr val="022033"/>
                </a:solidFill>
                <a:latin typeface="Tenor Sans"/>
                <a:ea typeface="Tenor Sans"/>
                <a:cs typeface="Tenor Sans"/>
                <a:sym typeface="Tenor Sans"/>
              </a:rPr>
              <a:t>Es la parte de la instrucción que especifica la operación que debe ejecutar el procesador, como suma, resta, mover datos, comparar valores, entre otros.</a:t>
            </a:r>
            <a:endParaRPr/>
          </a:p>
          <a:p>
            <a:pPr indent="0" lvl="0" marL="0" marR="0" rtl="0" algn="just">
              <a:lnSpc>
                <a:spcPct val="140016"/>
              </a:lnSpc>
              <a:spcBef>
                <a:spcPts val="0"/>
              </a:spcBef>
              <a:spcAft>
                <a:spcPts val="0"/>
              </a:spcAft>
              <a:buNone/>
            </a:pPr>
            <a:r>
              <a:t/>
            </a:r>
            <a:endParaRPr b="0" i="0" sz="3661" u="none" cap="none" strike="noStrike">
              <a:solidFill>
                <a:srgbClr val="022033"/>
              </a:solidFill>
              <a:latin typeface="Tenor Sans"/>
              <a:ea typeface="Tenor Sans"/>
              <a:cs typeface="Tenor Sans"/>
              <a:sym typeface="Tenor Sans"/>
            </a:endParaRPr>
          </a:p>
          <a:p>
            <a:pPr indent="0" lvl="0" marL="0" marR="0" rtl="0" algn="just">
              <a:lnSpc>
                <a:spcPct val="140016"/>
              </a:lnSpc>
              <a:spcBef>
                <a:spcPts val="0"/>
              </a:spcBef>
              <a:spcAft>
                <a:spcPts val="0"/>
              </a:spcAft>
              <a:buNone/>
            </a:pPr>
            <a:r>
              <a:rPr b="0" i="0" lang="en-US" sz="3661" u="none" cap="none" strike="noStrike">
                <a:solidFill>
                  <a:srgbClr val="022033"/>
                </a:solidFill>
                <a:latin typeface="Tenor Sans"/>
                <a:ea typeface="Tenor Sans"/>
                <a:cs typeface="Tenor Sans"/>
                <a:sym typeface="Tenor Sans"/>
              </a:rPr>
              <a:t>Operandos</a:t>
            </a:r>
            <a:endParaRPr/>
          </a:p>
          <a:p>
            <a:pPr indent="0" lvl="0" marL="0" marR="0" rtl="0" algn="just">
              <a:lnSpc>
                <a:spcPct val="140016"/>
              </a:lnSpc>
              <a:spcBef>
                <a:spcPts val="0"/>
              </a:spcBef>
              <a:spcAft>
                <a:spcPts val="0"/>
              </a:spcAft>
              <a:buNone/>
            </a:pPr>
            <a:r>
              <a:t/>
            </a:r>
            <a:endParaRPr b="0" i="0" sz="3661" u="none" cap="none" strike="noStrike">
              <a:solidFill>
                <a:srgbClr val="022033"/>
              </a:solidFill>
              <a:latin typeface="Tenor Sans"/>
              <a:ea typeface="Tenor Sans"/>
              <a:cs typeface="Tenor Sans"/>
              <a:sym typeface="Tenor Sans"/>
            </a:endParaRPr>
          </a:p>
          <a:p>
            <a:pPr indent="0" lvl="0" marL="0" marR="0" rtl="0" algn="just">
              <a:lnSpc>
                <a:spcPct val="140016"/>
              </a:lnSpc>
              <a:spcBef>
                <a:spcPts val="0"/>
              </a:spcBef>
              <a:spcAft>
                <a:spcPts val="0"/>
              </a:spcAft>
              <a:buNone/>
            </a:pPr>
            <a:r>
              <a:rPr b="0" i="0" lang="en-US" sz="3661" u="none" cap="none" strike="noStrike">
                <a:solidFill>
                  <a:srgbClr val="022033"/>
                </a:solidFill>
                <a:latin typeface="Tenor Sans"/>
                <a:ea typeface="Tenor Sans"/>
                <a:cs typeface="Tenor Sans"/>
                <a:sym typeface="Tenor Sans"/>
              </a:rPr>
              <a:t>Son los datos que la operación utilizará. Pueden ser valores constantes, direcciones de memoria o registros del procesador. Por ejemplo, una instrucción de suma puede tener dos operandos, como los registros en los que se encuentran los valores a sumar.</a:t>
            </a:r>
            <a:endParaRPr/>
          </a:p>
        </p:txBody>
      </p:sp>
      <p:sp>
        <p:nvSpPr>
          <p:cNvPr id="165" name="Google Shape;165;p6"/>
          <p:cNvSpPr txBox="1"/>
          <p:nvPr/>
        </p:nvSpPr>
        <p:spPr>
          <a:xfrm>
            <a:off x="853750" y="577942"/>
            <a:ext cx="13902655" cy="513778"/>
          </a:xfrm>
          <a:prstGeom prst="rect">
            <a:avLst/>
          </a:prstGeom>
          <a:noFill/>
          <a:ln>
            <a:noFill/>
          </a:ln>
        </p:spPr>
        <p:txBody>
          <a:bodyPr anchorCtr="0" anchor="t" bIns="0" lIns="0" spcFirstLastPara="1" rIns="0" wrap="square" tIns="0">
            <a:spAutoFit/>
          </a:bodyPr>
          <a:lstStyle/>
          <a:p>
            <a:pPr indent="0" lvl="0" marL="0" marR="0" rtl="0" algn="l">
              <a:lnSpc>
                <a:spcPct val="92000"/>
              </a:lnSpc>
              <a:spcBef>
                <a:spcPts val="0"/>
              </a:spcBef>
              <a:spcAft>
                <a:spcPts val="0"/>
              </a:spcAft>
              <a:buNone/>
            </a:pPr>
            <a:r>
              <a:rPr b="0" i="0" lang="en-US" sz="4000" u="none" cap="none" strike="noStrike">
                <a:solidFill>
                  <a:srgbClr val="022033"/>
                </a:solidFill>
                <a:latin typeface="Arial"/>
                <a:ea typeface="Arial"/>
                <a:cs typeface="Arial"/>
                <a:sym typeface="Arial"/>
              </a:rPr>
              <a:t>COMPONENTES PRINCIPALES DE UN ISA</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 name="Shape 169"/>
        <p:cNvGrpSpPr/>
        <p:nvPr/>
      </p:nvGrpSpPr>
      <p:grpSpPr>
        <a:xfrm>
          <a:off x="0" y="0"/>
          <a:ext cx="0" cy="0"/>
          <a:chOff x="0" y="0"/>
          <a:chExt cx="0" cy="0"/>
        </a:xfrm>
      </p:grpSpPr>
      <p:grpSp>
        <p:nvGrpSpPr>
          <p:cNvPr id="170" name="Google Shape;170;p7"/>
          <p:cNvGrpSpPr/>
          <p:nvPr/>
        </p:nvGrpSpPr>
        <p:grpSpPr>
          <a:xfrm>
            <a:off x="-2603406" y="2751568"/>
            <a:ext cx="4378481" cy="4378481"/>
            <a:chOff x="0" y="0"/>
            <a:chExt cx="812800" cy="812800"/>
          </a:xfrm>
        </p:grpSpPr>
        <p:sp>
          <p:nvSpPr>
            <p:cNvPr id="171" name="Google Shape;171;p7"/>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6B5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 name="Google Shape;172;p7"/>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73" name="Google Shape;173;p7"/>
          <p:cNvGrpSpPr/>
          <p:nvPr/>
        </p:nvGrpSpPr>
        <p:grpSpPr>
          <a:xfrm>
            <a:off x="3954263" y="8646204"/>
            <a:ext cx="971055" cy="1079531"/>
            <a:chOff x="0" y="-38100"/>
            <a:chExt cx="255751" cy="284321"/>
          </a:xfrm>
        </p:grpSpPr>
        <p:sp>
          <p:nvSpPr>
            <p:cNvPr id="174" name="Google Shape;174;p7"/>
            <p:cNvSpPr/>
            <p:nvPr/>
          </p:nvSpPr>
          <p:spPr>
            <a:xfrm>
              <a:off x="0" y="0"/>
              <a:ext cx="255751" cy="246221"/>
            </a:xfrm>
            <a:custGeom>
              <a:rect b="b" l="l" r="r" t="t"/>
              <a:pathLst>
                <a:path extrusionOk="0" h="246221" w="255751">
                  <a:moveTo>
                    <a:pt x="123111" y="0"/>
                  </a:moveTo>
                  <a:lnTo>
                    <a:pt x="132641" y="0"/>
                  </a:lnTo>
                  <a:cubicBezTo>
                    <a:pt x="200633" y="0"/>
                    <a:pt x="255751" y="55118"/>
                    <a:pt x="255751" y="123111"/>
                  </a:cubicBezTo>
                  <a:lnTo>
                    <a:pt x="255751" y="123111"/>
                  </a:lnTo>
                  <a:cubicBezTo>
                    <a:pt x="255751" y="155761"/>
                    <a:pt x="242781" y="187075"/>
                    <a:pt x="219693" y="210163"/>
                  </a:cubicBezTo>
                  <a:cubicBezTo>
                    <a:pt x="196605" y="233251"/>
                    <a:pt x="165292" y="246221"/>
                    <a:pt x="132641" y="246221"/>
                  </a:cubicBezTo>
                  <a:lnTo>
                    <a:pt x="123111" y="246221"/>
                  </a:lnTo>
                  <a:cubicBezTo>
                    <a:pt x="55118" y="246221"/>
                    <a:pt x="0" y="191103"/>
                    <a:pt x="0" y="123111"/>
                  </a:cubicBezTo>
                  <a:lnTo>
                    <a:pt x="0" y="123111"/>
                  </a:lnTo>
                  <a:cubicBezTo>
                    <a:pt x="0" y="55118"/>
                    <a:pt x="55118" y="0"/>
                    <a:pt x="123111" y="0"/>
                  </a:cubicBezTo>
                  <a:close/>
                </a:path>
              </a:pathLst>
            </a:custGeom>
            <a:solidFill>
              <a:srgbClr val="568AB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 name="Google Shape;175;p7"/>
            <p:cNvSpPr txBox="1"/>
            <p:nvPr/>
          </p:nvSpPr>
          <p:spPr>
            <a:xfrm>
              <a:off x="0" y="-38100"/>
              <a:ext cx="255751" cy="284321"/>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176" name="Google Shape;176;p7"/>
          <p:cNvSpPr txBox="1"/>
          <p:nvPr/>
        </p:nvSpPr>
        <p:spPr>
          <a:xfrm>
            <a:off x="1028700" y="1598072"/>
            <a:ext cx="15915203" cy="4516910"/>
          </a:xfrm>
          <a:prstGeom prst="rect">
            <a:avLst/>
          </a:prstGeom>
          <a:noFill/>
          <a:ln>
            <a:noFill/>
          </a:ln>
        </p:spPr>
        <p:txBody>
          <a:bodyPr anchorCtr="0" anchor="t" bIns="0" lIns="0" spcFirstLastPara="1" rIns="0" wrap="square" tIns="0">
            <a:spAutoFit/>
          </a:bodyPr>
          <a:lstStyle/>
          <a:p>
            <a:pPr indent="0" lvl="0" marL="0" marR="0" rtl="0" algn="just">
              <a:lnSpc>
                <a:spcPct val="140016"/>
              </a:lnSpc>
              <a:spcBef>
                <a:spcPts val="0"/>
              </a:spcBef>
              <a:spcAft>
                <a:spcPts val="0"/>
              </a:spcAft>
              <a:buNone/>
            </a:pPr>
            <a:r>
              <a:rPr b="0" i="0" lang="en-US" sz="3661" u="none" cap="none" strike="noStrike">
                <a:solidFill>
                  <a:srgbClr val="022033"/>
                </a:solidFill>
                <a:latin typeface="Tenor Sans"/>
                <a:ea typeface="Tenor Sans"/>
                <a:cs typeface="Tenor Sans"/>
                <a:sym typeface="Tenor Sans"/>
              </a:rPr>
              <a:t>Modificadores</a:t>
            </a:r>
            <a:endParaRPr/>
          </a:p>
          <a:p>
            <a:pPr indent="0" lvl="0" marL="0" marR="0" rtl="0" algn="just">
              <a:lnSpc>
                <a:spcPct val="140016"/>
              </a:lnSpc>
              <a:spcBef>
                <a:spcPts val="0"/>
              </a:spcBef>
              <a:spcAft>
                <a:spcPts val="0"/>
              </a:spcAft>
              <a:buNone/>
            </a:pPr>
            <a:r>
              <a:t/>
            </a:r>
            <a:endParaRPr b="0" i="0" sz="3661" u="none" cap="none" strike="noStrike">
              <a:solidFill>
                <a:srgbClr val="022033"/>
              </a:solidFill>
              <a:latin typeface="Tenor Sans"/>
              <a:ea typeface="Tenor Sans"/>
              <a:cs typeface="Tenor Sans"/>
              <a:sym typeface="Tenor Sans"/>
            </a:endParaRPr>
          </a:p>
          <a:p>
            <a:pPr indent="0" lvl="0" marL="0" marR="0" rtl="0" algn="just">
              <a:lnSpc>
                <a:spcPct val="140016"/>
              </a:lnSpc>
              <a:spcBef>
                <a:spcPts val="0"/>
              </a:spcBef>
              <a:spcAft>
                <a:spcPts val="0"/>
              </a:spcAft>
              <a:buNone/>
            </a:pPr>
            <a:r>
              <a:rPr b="0" i="0" lang="en-US" sz="3661" u="none" cap="none" strike="noStrike">
                <a:solidFill>
                  <a:srgbClr val="022033"/>
                </a:solidFill>
                <a:latin typeface="Tenor Sans"/>
                <a:ea typeface="Tenor Sans"/>
                <a:cs typeface="Tenor Sans"/>
                <a:sym typeface="Tenor Sans"/>
              </a:rPr>
              <a:t>Algunas instrucciones pueden incluir modificadores que definan detalles adicionales sobre la operación, como el modo de direccionamiento o las condiciones bajo las cuales se debe ejecutar la instrucción (por ejemplo, si se cumple una condición de salto).</a:t>
            </a:r>
            <a:endParaRPr/>
          </a:p>
        </p:txBody>
      </p:sp>
      <p:sp>
        <p:nvSpPr>
          <p:cNvPr id="177" name="Google Shape;177;p7"/>
          <p:cNvSpPr txBox="1"/>
          <p:nvPr/>
        </p:nvSpPr>
        <p:spPr>
          <a:xfrm>
            <a:off x="853750" y="577942"/>
            <a:ext cx="13902655" cy="513778"/>
          </a:xfrm>
          <a:prstGeom prst="rect">
            <a:avLst/>
          </a:prstGeom>
          <a:noFill/>
          <a:ln>
            <a:noFill/>
          </a:ln>
        </p:spPr>
        <p:txBody>
          <a:bodyPr anchorCtr="0" anchor="t" bIns="0" lIns="0" spcFirstLastPara="1" rIns="0" wrap="square" tIns="0">
            <a:spAutoFit/>
          </a:bodyPr>
          <a:lstStyle/>
          <a:p>
            <a:pPr indent="0" lvl="0" marL="0" marR="0" rtl="0" algn="l">
              <a:lnSpc>
                <a:spcPct val="92000"/>
              </a:lnSpc>
              <a:spcBef>
                <a:spcPts val="0"/>
              </a:spcBef>
              <a:spcAft>
                <a:spcPts val="0"/>
              </a:spcAft>
              <a:buNone/>
            </a:pPr>
            <a:r>
              <a:rPr b="0" i="0" lang="en-US" sz="4000" u="none" cap="none" strike="noStrike">
                <a:solidFill>
                  <a:srgbClr val="022033"/>
                </a:solidFill>
                <a:latin typeface="Arial"/>
                <a:ea typeface="Arial"/>
                <a:cs typeface="Arial"/>
                <a:sym typeface="Arial"/>
              </a:rPr>
              <a:t>COMPONENTES PRINCIPALES DE UN ISA</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grpSp>
        <p:nvGrpSpPr>
          <p:cNvPr id="182" name="Google Shape;182;p8"/>
          <p:cNvGrpSpPr/>
          <p:nvPr/>
        </p:nvGrpSpPr>
        <p:grpSpPr>
          <a:xfrm>
            <a:off x="-2603406" y="2751568"/>
            <a:ext cx="4378481" cy="4378481"/>
            <a:chOff x="0" y="0"/>
            <a:chExt cx="812800" cy="812800"/>
          </a:xfrm>
        </p:grpSpPr>
        <p:sp>
          <p:nvSpPr>
            <p:cNvPr id="183" name="Google Shape;183;p8"/>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6B5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 name="Google Shape;184;p8"/>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85" name="Google Shape;185;p8"/>
          <p:cNvGrpSpPr/>
          <p:nvPr/>
        </p:nvGrpSpPr>
        <p:grpSpPr>
          <a:xfrm>
            <a:off x="3954263" y="8646204"/>
            <a:ext cx="971055" cy="1079531"/>
            <a:chOff x="0" y="-38100"/>
            <a:chExt cx="255751" cy="284321"/>
          </a:xfrm>
        </p:grpSpPr>
        <p:sp>
          <p:nvSpPr>
            <p:cNvPr id="186" name="Google Shape;186;p8"/>
            <p:cNvSpPr/>
            <p:nvPr/>
          </p:nvSpPr>
          <p:spPr>
            <a:xfrm>
              <a:off x="0" y="0"/>
              <a:ext cx="255751" cy="246221"/>
            </a:xfrm>
            <a:custGeom>
              <a:rect b="b" l="l" r="r" t="t"/>
              <a:pathLst>
                <a:path extrusionOk="0" h="246221" w="255751">
                  <a:moveTo>
                    <a:pt x="123111" y="0"/>
                  </a:moveTo>
                  <a:lnTo>
                    <a:pt x="132641" y="0"/>
                  </a:lnTo>
                  <a:cubicBezTo>
                    <a:pt x="200633" y="0"/>
                    <a:pt x="255751" y="55118"/>
                    <a:pt x="255751" y="123111"/>
                  </a:cubicBezTo>
                  <a:lnTo>
                    <a:pt x="255751" y="123111"/>
                  </a:lnTo>
                  <a:cubicBezTo>
                    <a:pt x="255751" y="155761"/>
                    <a:pt x="242781" y="187075"/>
                    <a:pt x="219693" y="210163"/>
                  </a:cubicBezTo>
                  <a:cubicBezTo>
                    <a:pt x="196605" y="233251"/>
                    <a:pt x="165292" y="246221"/>
                    <a:pt x="132641" y="246221"/>
                  </a:cubicBezTo>
                  <a:lnTo>
                    <a:pt x="123111" y="246221"/>
                  </a:lnTo>
                  <a:cubicBezTo>
                    <a:pt x="55118" y="246221"/>
                    <a:pt x="0" y="191103"/>
                    <a:pt x="0" y="123111"/>
                  </a:cubicBezTo>
                  <a:lnTo>
                    <a:pt x="0" y="123111"/>
                  </a:lnTo>
                  <a:cubicBezTo>
                    <a:pt x="0" y="55118"/>
                    <a:pt x="55118" y="0"/>
                    <a:pt x="123111" y="0"/>
                  </a:cubicBezTo>
                  <a:close/>
                </a:path>
              </a:pathLst>
            </a:custGeom>
            <a:solidFill>
              <a:srgbClr val="568AB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 name="Google Shape;187;p8"/>
            <p:cNvSpPr txBox="1"/>
            <p:nvPr/>
          </p:nvSpPr>
          <p:spPr>
            <a:xfrm>
              <a:off x="0" y="-38100"/>
              <a:ext cx="255751" cy="284321"/>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188" name="Google Shape;188;p8"/>
          <p:cNvSpPr txBox="1"/>
          <p:nvPr/>
        </p:nvSpPr>
        <p:spPr>
          <a:xfrm>
            <a:off x="1028700" y="1598072"/>
            <a:ext cx="15915203" cy="8402947"/>
          </a:xfrm>
          <a:prstGeom prst="rect">
            <a:avLst/>
          </a:prstGeom>
          <a:noFill/>
          <a:ln>
            <a:noFill/>
          </a:ln>
        </p:spPr>
        <p:txBody>
          <a:bodyPr anchorCtr="0" anchor="t" bIns="0" lIns="0" spcFirstLastPara="1" rIns="0" wrap="square" tIns="0">
            <a:spAutoFit/>
          </a:bodyPr>
          <a:lstStyle/>
          <a:p>
            <a:pPr indent="0" lvl="0" marL="0" marR="0" rtl="0" algn="just">
              <a:lnSpc>
                <a:spcPct val="140016"/>
              </a:lnSpc>
              <a:spcBef>
                <a:spcPts val="0"/>
              </a:spcBef>
              <a:spcAft>
                <a:spcPts val="0"/>
              </a:spcAft>
              <a:buNone/>
            </a:pPr>
            <a:r>
              <a:rPr b="0" i="0" lang="en-US" sz="3661" u="none" cap="none" strike="noStrike">
                <a:solidFill>
                  <a:srgbClr val="022033"/>
                </a:solidFill>
                <a:latin typeface="Tenor Sans"/>
                <a:ea typeface="Tenor Sans"/>
                <a:cs typeface="Tenor Sans"/>
                <a:sym typeface="Tenor Sans"/>
              </a:rPr>
              <a:t>Tipos de datos</a:t>
            </a:r>
            <a:endParaRPr/>
          </a:p>
          <a:p>
            <a:pPr indent="0" lvl="0" marL="0" marR="0" rtl="0" algn="just">
              <a:lnSpc>
                <a:spcPct val="140016"/>
              </a:lnSpc>
              <a:spcBef>
                <a:spcPts val="0"/>
              </a:spcBef>
              <a:spcAft>
                <a:spcPts val="0"/>
              </a:spcAft>
              <a:buNone/>
            </a:pPr>
            <a:r>
              <a:t/>
            </a:r>
            <a:endParaRPr b="0" i="0" sz="3661" u="none" cap="none" strike="noStrike">
              <a:solidFill>
                <a:srgbClr val="022033"/>
              </a:solidFill>
              <a:latin typeface="Tenor Sans"/>
              <a:ea typeface="Tenor Sans"/>
              <a:cs typeface="Tenor Sans"/>
              <a:sym typeface="Tenor Sans"/>
            </a:endParaRPr>
          </a:p>
          <a:p>
            <a:pPr indent="0" lvl="0" marL="0" marR="0" rtl="0" algn="just">
              <a:lnSpc>
                <a:spcPct val="140016"/>
              </a:lnSpc>
              <a:spcBef>
                <a:spcPts val="0"/>
              </a:spcBef>
              <a:spcAft>
                <a:spcPts val="0"/>
              </a:spcAft>
              <a:buNone/>
            </a:pPr>
            <a:r>
              <a:rPr b="0" i="0" lang="en-US" sz="3661" u="none" cap="none" strike="noStrike">
                <a:solidFill>
                  <a:srgbClr val="022033"/>
                </a:solidFill>
                <a:latin typeface="Tenor Sans"/>
                <a:ea typeface="Tenor Sans"/>
                <a:cs typeface="Tenor Sans"/>
                <a:sym typeface="Tenor Sans"/>
              </a:rPr>
              <a:t>Determinar qué tipos de datos y operaciones son necesarios para el conjunto de instrucciones, como enteros, punto flotante, cadenas de texto, etc.</a:t>
            </a:r>
            <a:endParaRPr/>
          </a:p>
          <a:p>
            <a:pPr indent="0" lvl="0" marL="0" marR="0" rtl="0" algn="just">
              <a:lnSpc>
                <a:spcPct val="140016"/>
              </a:lnSpc>
              <a:spcBef>
                <a:spcPts val="0"/>
              </a:spcBef>
              <a:spcAft>
                <a:spcPts val="0"/>
              </a:spcAft>
              <a:buNone/>
            </a:pPr>
            <a:r>
              <a:t/>
            </a:r>
            <a:endParaRPr b="0" i="0" sz="3661" u="none" cap="none" strike="noStrike">
              <a:solidFill>
                <a:srgbClr val="022033"/>
              </a:solidFill>
              <a:latin typeface="Tenor Sans"/>
              <a:ea typeface="Tenor Sans"/>
              <a:cs typeface="Tenor Sans"/>
              <a:sym typeface="Tenor Sans"/>
            </a:endParaRPr>
          </a:p>
          <a:p>
            <a:pPr indent="0" lvl="0" marL="0" marR="0" rtl="0" algn="just">
              <a:lnSpc>
                <a:spcPct val="140016"/>
              </a:lnSpc>
              <a:spcBef>
                <a:spcPts val="0"/>
              </a:spcBef>
              <a:spcAft>
                <a:spcPts val="0"/>
              </a:spcAft>
              <a:buNone/>
            </a:pPr>
            <a:r>
              <a:rPr b="0" i="0" lang="en-US" sz="3661" u="none" cap="none" strike="noStrike">
                <a:solidFill>
                  <a:srgbClr val="022033"/>
                </a:solidFill>
                <a:latin typeface="Tenor Sans"/>
                <a:ea typeface="Tenor Sans"/>
                <a:cs typeface="Tenor Sans"/>
                <a:sym typeface="Tenor Sans"/>
              </a:rPr>
              <a:t>Codificación de instrucciones</a:t>
            </a:r>
            <a:endParaRPr/>
          </a:p>
          <a:p>
            <a:pPr indent="0" lvl="0" marL="0" marR="0" rtl="0" algn="just">
              <a:lnSpc>
                <a:spcPct val="140016"/>
              </a:lnSpc>
              <a:spcBef>
                <a:spcPts val="0"/>
              </a:spcBef>
              <a:spcAft>
                <a:spcPts val="0"/>
              </a:spcAft>
              <a:buNone/>
            </a:pPr>
            <a:r>
              <a:t/>
            </a:r>
            <a:endParaRPr b="0" i="0" sz="3661" u="none" cap="none" strike="noStrike">
              <a:solidFill>
                <a:srgbClr val="022033"/>
              </a:solidFill>
              <a:latin typeface="Tenor Sans"/>
              <a:ea typeface="Tenor Sans"/>
              <a:cs typeface="Tenor Sans"/>
              <a:sym typeface="Tenor Sans"/>
            </a:endParaRPr>
          </a:p>
          <a:p>
            <a:pPr indent="0" lvl="0" marL="0" marR="0" rtl="0" algn="just">
              <a:lnSpc>
                <a:spcPct val="140016"/>
              </a:lnSpc>
              <a:spcBef>
                <a:spcPts val="0"/>
              </a:spcBef>
              <a:spcAft>
                <a:spcPts val="0"/>
              </a:spcAft>
              <a:buNone/>
            </a:pPr>
            <a:r>
              <a:rPr b="0" i="0" lang="en-US" sz="3661" u="none" cap="none" strike="noStrike">
                <a:solidFill>
                  <a:srgbClr val="022033"/>
                </a:solidFill>
                <a:latin typeface="Tenor Sans"/>
                <a:ea typeface="Tenor Sans"/>
                <a:cs typeface="Tenor Sans"/>
                <a:sym typeface="Tenor Sans"/>
              </a:rPr>
              <a:t>Cada instrucción debe tener una representación binaria en el procesador. Las instrucciones deben estar codificadas de manera que sean fáciles de decodificar y ejecutar. Esto influye en la longitud y estructura de las instrucciones.</a:t>
            </a:r>
            <a:endParaRPr/>
          </a:p>
          <a:p>
            <a:pPr indent="0" lvl="0" marL="0" marR="0" rtl="0" algn="just">
              <a:lnSpc>
                <a:spcPct val="140016"/>
              </a:lnSpc>
              <a:spcBef>
                <a:spcPts val="0"/>
              </a:spcBef>
              <a:spcAft>
                <a:spcPts val="0"/>
              </a:spcAft>
              <a:buNone/>
            </a:pPr>
            <a:r>
              <a:t/>
            </a:r>
            <a:endParaRPr b="0" i="0" sz="3661" u="none" cap="none" strike="noStrike">
              <a:solidFill>
                <a:srgbClr val="022033"/>
              </a:solidFill>
              <a:latin typeface="Tenor Sans"/>
              <a:ea typeface="Tenor Sans"/>
              <a:cs typeface="Tenor Sans"/>
              <a:sym typeface="Tenor Sans"/>
            </a:endParaRPr>
          </a:p>
        </p:txBody>
      </p:sp>
      <p:sp>
        <p:nvSpPr>
          <p:cNvPr id="189" name="Google Shape;189;p8"/>
          <p:cNvSpPr txBox="1"/>
          <p:nvPr/>
        </p:nvSpPr>
        <p:spPr>
          <a:xfrm>
            <a:off x="853750" y="251278"/>
            <a:ext cx="13902600" cy="1132800"/>
          </a:xfrm>
          <a:prstGeom prst="rect">
            <a:avLst/>
          </a:prstGeom>
          <a:noFill/>
          <a:ln>
            <a:noFill/>
          </a:ln>
        </p:spPr>
        <p:txBody>
          <a:bodyPr anchorCtr="0" anchor="t" bIns="0" lIns="0" spcFirstLastPara="1" rIns="0" wrap="square" tIns="0">
            <a:spAutoFit/>
          </a:bodyPr>
          <a:lstStyle/>
          <a:p>
            <a:pPr indent="0" lvl="0" marL="0" marR="0" rtl="0" algn="l">
              <a:lnSpc>
                <a:spcPct val="92000"/>
              </a:lnSpc>
              <a:spcBef>
                <a:spcPts val="0"/>
              </a:spcBef>
              <a:spcAft>
                <a:spcPts val="0"/>
              </a:spcAft>
              <a:buNone/>
            </a:pPr>
            <a:r>
              <a:rPr b="0" i="0" lang="en-US" sz="4000" u="none" cap="none" strike="noStrike">
                <a:solidFill>
                  <a:srgbClr val="022033"/>
                </a:solidFill>
                <a:latin typeface="Arial"/>
                <a:ea typeface="Arial"/>
                <a:cs typeface="Arial"/>
                <a:sym typeface="Arial"/>
              </a:rPr>
              <a:t>ELEMENTOS IMPORTANTES A CONSIDERAR EN EL DISEÑO</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 name="Shape 193"/>
        <p:cNvGrpSpPr/>
        <p:nvPr/>
      </p:nvGrpSpPr>
      <p:grpSpPr>
        <a:xfrm>
          <a:off x="0" y="0"/>
          <a:ext cx="0" cy="0"/>
          <a:chOff x="0" y="0"/>
          <a:chExt cx="0" cy="0"/>
        </a:xfrm>
      </p:grpSpPr>
      <p:grpSp>
        <p:nvGrpSpPr>
          <p:cNvPr id="194" name="Google Shape;194;p9"/>
          <p:cNvGrpSpPr/>
          <p:nvPr/>
        </p:nvGrpSpPr>
        <p:grpSpPr>
          <a:xfrm>
            <a:off x="-2603406" y="2751568"/>
            <a:ext cx="4378481" cy="4378481"/>
            <a:chOff x="0" y="0"/>
            <a:chExt cx="812800" cy="812800"/>
          </a:xfrm>
        </p:grpSpPr>
        <p:sp>
          <p:nvSpPr>
            <p:cNvPr id="195" name="Google Shape;195;p9"/>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6B5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 name="Google Shape;196;p9"/>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97" name="Google Shape;197;p9"/>
          <p:cNvGrpSpPr/>
          <p:nvPr/>
        </p:nvGrpSpPr>
        <p:grpSpPr>
          <a:xfrm>
            <a:off x="3954263" y="8646204"/>
            <a:ext cx="971055" cy="1079531"/>
            <a:chOff x="0" y="-38100"/>
            <a:chExt cx="255751" cy="284321"/>
          </a:xfrm>
        </p:grpSpPr>
        <p:sp>
          <p:nvSpPr>
            <p:cNvPr id="198" name="Google Shape;198;p9"/>
            <p:cNvSpPr/>
            <p:nvPr/>
          </p:nvSpPr>
          <p:spPr>
            <a:xfrm>
              <a:off x="0" y="0"/>
              <a:ext cx="255751" cy="246221"/>
            </a:xfrm>
            <a:custGeom>
              <a:rect b="b" l="l" r="r" t="t"/>
              <a:pathLst>
                <a:path extrusionOk="0" h="246221" w="255751">
                  <a:moveTo>
                    <a:pt x="123111" y="0"/>
                  </a:moveTo>
                  <a:lnTo>
                    <a:pt x="132641" y="0"/>
                  </a:lnTo>
                  <a:cubicBezTo>
                    <a:pt x="200633" y="0"/>
                    <a:pt x="255751" y="55118"/>
                    <a:pt x="255751" y="123111"/>
                  </a:cubicBezTo>
                  <a:lnTo>
                    <a:pt x="255751" y="123111"/>
                  </a:lnTo>
                  <a:cubicBezTo>
                    <a:pt x="255751" y="155761"/>
                    <a:pt x="242781" y="187075"/>
                    <a:pt x="219693" y="210163"/>
                  </a:cubicBezTo>
                  <a:cubicBezTo>
                    <a:pt x="196605" y="233251"/>
                    <a:pt x="165292" y="246221"/>
                    <a:pt x="132641" y="246221"/>
                  </a:cubicBezTo>
                  <a:lnTo>
                    <a:pt x="123111" y="246221"/>
                  </a:lnTo>
                  <a:cubicBezTo>
                    <a:pt x="55118" y="246221"/>
                    <a:pt x="0" y="191103"/>
                    <a:pt x="0" y="123111"/>
                  </a:cubicBezTo>
                  <a:lnTo>
                    <a:pt x="0" y="123111"/>
                  </a:lnTo>
                  <a:cubicBezTo>
                    <a:pt x="0" y="55118"/>
                    <a:pt x="55118" y="0"/>
                    <a:pt x="123111" y="0"/>
                  </a:cubicBezTo>
                  <a:close/>
                </a:path>
              </a:pathLst>
            </a:custGeom>
            <a:solidFill>
              <a:srgbClr val="568AB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 name="Google Shape;199;p9"/>
            <p:cNvSpPr txBox="1"/>
            <p:nvPr/>
          </p:nvSpPr>
          <p:spPr>
            <a:xfrm>
              <a:off x="0" y="-38100"/>
              <a:ext cx="255751" cy="284321"/>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200" name="Google Shape;200;p9"/>
          <p:cNvSpPr txBox="1"/>
          <p:nvPr/>
        </p:nvSpPr>
        <p:spPr>
          <a:xfrm>
            <a:off x="1028700" y="1962835"/>
            <a:ext cx="15915300" cy="6875700"/>
          </a:xfrm>
          <a:prstGeom prst="rect">
            <a:avLst/>
          </a:prstGeom>
          <a:noFill/>
          <a:ln>
            <a:noFill/>
          </a:ln>
        </p:spPr>
        <p:txBody>
          <a:bodyPr anchorCtr="0" anchor="t" bIns="0" lIns="0" spcFirstLastPara="1" rIns="0" wrap="square" tIns="0">
            <a:spAutoFit/>
          </a:bodyPr>
          <a:lstStyle/>
          <a:p>
            <a:pPr indent="0" lvl="0" marL="0" marR="0" rtl="0" algn="just">
              <a:lnSpc>
                <a:spcPct val="140016"/>
              </a:lnSpc>
              <a:spcBef>
                <a:spcPts val="0"/>
              </a:spcBef>
              <a:spcAft>
                <a:spcPts val="0"/>
              </a:spcAft>
              <a:buNone/>
            </a:pPr>
            <a:r>
              <a:rPr b="0" i="0" lang="en-US" sz="3661" u="none" cap="none" strike="noStrike">
                <a:solidFill>
                  <a:srgbClr val="022033"/>
                </a:solidFill>
                <a:latin typeface="Tenor Sans"/>
                <a:ea typeface="Tenor Sans"/>
                <a:cs typeface="Tenor Sans"/>
                <a:sym typeface="Tenor Sans"/>
              </a:rPr>
              <a:t>Modos de direccionamiento</a:t>
            </a:r>
            <a:endParaRPr/>
          </a:p>
          <a:p>
            <a:pPr indent="0" lvl="0" marL="0" marR="0" rtl="0" algn="just">
              <a:lnSpc>
                <a:spcPct val="140016"/>
              </a:lnSpc>
              <a:spcBef>
                <a:spcPts val="0"/>
              </a:spcBef>
              <a:spcAft>
                <a:spcPts val="0"/>
              </a:spcAft>
              <a:buNone/>
            </a:pPr>
            <a:r>
              <a:t/>
            </a:r>
            <a:endParaRPr b="0" i="0" sz="3661" u="none" cap="none" strike="noStrike">
              <a:solidFill>
                <a:srgbClr val="022033"/>
              </a:solidFill>
              <a:latin typeface="Tenor Sans"/>
              <a:ea typeface="Tenor Sans"/>
              <a:cs typeface="Tenor Sans"/>
              <a:sym typeface="Tenor Sans"/>
            </a:endParaRPr>
          </a:p>
          <a:p>
            <a:pPr indent="0" lvl="0" marL="0" marR="0" rtl="0" algn="just">
              <a:lnSpc>
                <a:spcPct val="140016"/>
              </a:lnSpc>
              <a:spcBef>
                <a:spcPts val="0"/>
              </a:spcBef>
              <a:spcAft>
                <a:spcPts val="0"/>
              </a:spcAft>
              <a:buNone/>
            </a:pPr>
            <a:r>
              <a:rPr b="0" i="0" lang="en-US" sz="3661" u="none" cap="none" strike="noStrike">
                <a:solidFill>
                  <a:srgbClr val="022033"/>
                </a:solidFill>
                <a:latin typeface="Tenor Sans"/>
                <a:ea typeface="Tenor Sans"/>
                <a:cs typeface="Tenor Sans"/>
                <a:sym typeface="Tenor Sans"/>
              </a:rPr>
              <a:t>Son las formas en que los operandos de una instrucción pueden ser referenciados en memoria. </a:t>
            </a:r>
            <a:endParaRPr/>
          </a:p>
          <a:p>
            <a:pPr indent="0" lvl="0" marL="0" marR="0" rtl="0" algn="just">
              <a:lnSpc>
                <a:spcPct val="140016"/>
              </a:lnSpc>
              <a:spcBef>
                <a:spcPts val="0"/>
              </a:spcBef>
              <a:spcAft>
                <a:spcPts val="0"/>
              </a:spcAft>
              <a:buNone/>
            </a:pPr>
            <a:r>
              <a:t/>
            </a:r>
            <a:endParaRPr b="0" i="0" sz="3661" u="none" cap="none" strike="noStrike">
              <a:solidFill>
                <a:srgbClr val="022033"/>
              </a:solidFill>
              <a:latin typeface="Tenor Sans"/>
              <a:ea typeface="Tenor Sans"/>
              <a:cs typeface="Tenor Sans"/>
              <a:sym typeface="Tenor Sans"/>
            </a:endParaRPr>
          </a:p>
          <a:p>
            <a:pPr indent="0" lvl="0" marL="0" marR="0" rtl="0" algn="just">
              <a:lnSpc>
                <a:spcPct val="140016"/>
              </a:lnSpc>
              <a:spcBef>
                <a:spcPts val="0"/>
              </a:spcBef>
              <a:spcAft>
                <a:spcPts val="0"/>
              </a:spcAft>
              <a:buNone/>
            </a:pPr>
            <a:r>
              <a:rPr b="0" i="0" lang="en-US" sz="3661" u="none" cap="none" strike="noStrike">
                <a:solidFill>
                  <a:srgbClr val="022033"/>
                </a:solidFill>
                <a:latin typeface="Tenor Sans"/>
                <a:ea typeface="Tenor Sans"/>
                <a:cs typeface="Tenor Sans"/>
                <a:sym typeface="Tenor Sans"/>
              </a:rPr>
              <a:t>Existen diversos tipos de modos de direccionamiento, como inmediato, directo, indirecto, por registro, y indexado, que afectan cómo el procesador accederá a la memoria para obtener los datos necesarios.</a:t>
            </a:r>
            <a:endParaRPr/>
          </a:p>
        </p:txBody>
      </p:sp>
      <p:sp>
        <p:nvSpPr>
          <p:cNvPr id="201" name="Google Shape;201;p9"/>
          <p:cNvSpPr txBox="1"/>
          <p:nvPr/>
        </p:nvSpPr>
        <p:spPr>
          <a:xfrm>
            <a:off x="853750" y="577942"/>
            <a:ext cx="13902655" cy="513778"/>
          </a:xfrm>
          <a:prstGeom prst="rect">
            <a:avLst/>
          </a:prstGeom>
          <a:noFill/>
          <a:ln>
            <a:noFill/>
          </a:ln>
        </p:spPr>
        <p:txBody>
          <a:bodyPr anchorCtr="0" anchor="t" bIns="0" lIns="0" spcFirstLastPara="1" rIns="0" wrap="square" tIns="0">
            <a:spAutoFit/>
          </a:bodyPr>
          <a:lstStyle/>
          <a:p>
            <a:pPr indent="0" lvl="0" marL="0" marR="0" rtl="0" algn="l">
              <a:lnSpc>
                <a:spcPct val="92000"/>
              </a:lnSpc>
              <a:spcBef>
                <a:spcPts val="0"/>
              </a:spcBef>
              <a:spcAft>
                <a:spcPts val="0"/>
              </a:spcAft>
              <a:buNone/>
            </a:pPr>
            <a:r>
              <a:rPr b="0" i="0" lang="en-US" sz="4000" u="none" cap="none" strike="noStrike">
                <a:solidFill>
                  <a:srgbClr val="022033"/>
                </a:solidFill>
                <a:latin typeface="Arial"/>
                <a:ea typeface="Arial"/>
                <a:cs typeface="Arial"/>
                <a:sym typeface="Arial"/>
              </a:rPr>
              <a:t>ELEMENTOS IMPORTANTES A CONSIDERAR EN EL DISEÑO</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 name="Shape 205"/>
        <p:cNvGrpSpPr/>
        <p:nvPr/>
      </p:nvGrpSpPr>
      <p:grpSpPr>
        <a:xfrm>
          <a:off x="0" y="0"/>
          <a:ext cx="0" cy="0"/>
          <a:chOff x="0" y="0"/>
          <a:chExt cx="0" cy="0"/>
        </a:xfrm>
      </p:grpSpPr>
      <p:grpSp>
        <p:nvGrpSpPr>
          <p:cNvPr id="206" name="Google Shape;206;p10"/>
          <p:cNvGrpSpPr/>
          <p:nvPr/>
        </p:nvGrpSpPr>
        <p:grpSpPr>
          <a:xfrm>
            <a:off x="-2603406" y="2751568"/>
            <a:ext cx="4378481" cy="4378481"/>
            <a:chOff x="0" y="0"/>
            <a:chExt cx="812800" cy="812800"/>
          </a:xfrm>
        </p:grpSpPr>
        <p:sp>
          <p:nvSpPr>
            <p:cNvPr id="207" name="Google Shape;207;p10"/>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6B5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 name="Google Shape;208;p10"/>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209" name="Google Shape;209;p10"/>
          <p:cNvGrpSpPr/>
          <p:nvPr/>
        </p:nvGrpSpPr>
        <p:grpSpPr>
          <a:xfrm>
            <a:off x="3954263" y="8646204"/>
            <a:ext cx="971055" cy="1079531"/>
            <a:chOff x="0" y="-38100"/>
            <a:chExt cx="255751" cy="284321"/>
          </a:xfrm>
        </p:grpSpPr>
        <p:sp>
          <p:nvSpPr>
            <p:cNvPr id="210" name="Google Shape;210;p10"/>
            <p:cNvSpPr/>
            <p:nvPr/>
          </p:nvSpPr>
          <p:spPr>
            <a:xfrm>
              <a:off x="0" y="0"/>
              <a:ext cx="255751" cy="246221"/>
            </a:xfrm>
            <a:custGeom>
              <a:rect b="b" l="l" r="r" t="t"/>
              <a:pathLst>
                <a:path extrusionOk="0" h="246221" w="255751">
                  <a:moveTo>
                    <a:pt x="123111" y="0"/>
                  </a:moveTo>
                  <a:lnTo>
                    <a:pt x="132641" y="0"/>
                  </a:lnTo>
                  <a:cubicBezTo>
                    <a:pt x="200633" y="0"/>
                    <a:pt x="255751" y="55118"/>
                    <a:pt x="255751" y="123111"/>
                  </a:cubicBezTo>
                  <a:lnTo>
                    <a:pt x="255751" y="123111"/>
                  </a:lnTo>
                  <a:cubicBezTo>
                    <a:pt x="255751" y="155761"/>
                    <a:pt x="242781" y="187075"/>
                    <a:pt x="219693" y="210163"/>
                  </a:cubicBezTo>
                  <a:cubicBezTo>
                    <a:pt x="196605" y="233251"/>
                    <a:pt x="165292" y="246221"/>
                    <a:pt x="132641" y="246221"/>
                  </a:cubicBezTo>
                  <a:lnTo>
                    <a:pt x="123111" y="246221"/>
                  </a:lnTo>
                  <a:cubicBezTo>
                    <a:pt x="55118" y="246221"/>
                    <a:pt x="0" y="191103"/>
                    <a:pt x="0" y="123111"/>
                  </a:cubicBezTo>
                  <a:lnTo>
                    <a:pt x="0" y="123111"/>
                  </a:lnTo>
                  <a:cubicBezTo>
                    <a:pt x="0" y="55118"/>
                    <a:pt x="55118" y="0"/>
                    <a:pt x="123111" y="0"/>
                  </a:cubicBezTo>
                  <a:close/>
                </a:path>
              </a:pathLst>
            </a:custGeom>
            <a:solidFill>
              <a:srgbClr val="568AB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 name="Google Shape;211;p10"/>
            <p:cNvSpPr txBox="1"/>
            <p:nvPr/>
          </p:nvSpPr>
          <p:spPr>
            <a:xfrm>
              <a:off x="0" y="-38100"/>
              <a:ext cx="255751" cy="284321"/>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212" name="Google Shape;212;p10"/>
          <p:cNvSpPr txBox="1"/>
          <p:nvPr/>
        </p:nvSpPr>
        <p:spPr>
          <a:xfrm>
            <a:off x="1028700" y="2149172"/>
            <a:ext cx="10474200" cy="7664700"/>
          </a:xfrm>
          <a:prstGeom prst="rect">
            <a:avLst/>
          </a:prstGeom>
          <a:noFill/>
          <a:ln>
            <a:noFill/>
          </a:ln>
        </p:spPr>
        <p:txBody>
          <a:bodyPr anchorCtr="0" anchor="t" bIns="0" lIns="0" spcFirstLastPara="1" rIns="0" wrap="square" tIns="0">
            <a:spAutoFit/>
          </a:bodyPr>
          <a:lstStyle/>
          <a:p>
            <a:pPr indent="0" lvl="0" marL="0" marR="0" rtl="0" algn="just">
              <a:lnSpc>
                <a:spcPct val="140016"/>
              </a:lnSpc>
              <a:spcBef>
                <a:spcPts val="0"/>
              </a:spcBef>
              <a:spcAft>
                <a:spcPts val="0"/>
              </a:spcAft>
              <a:buNone/>
            </a:pPr>
            <a:r>
              <a:rPr b="0" i="0" lang="en-US" sz="3661" u="none" cap="none" strike="noStrike">
                <a:solidFill>
                  <a:srgbClr val="022033"/>
                </a:solidFill>
                <a:latin typeface="Tenor Sans"/>
                <a:ea typeface="Tenor Sans"/>
                <a:cs typeface="Tenor Sans"/>
                <a:sym typeface="Tenor Sans"/>
              </a:rPr>
              <a:t>RISC (Reduced Instruction Set Computer)</a:t>
            </a:r>
            <a:endParaRPr/>
          </a:p>
          <a:p>
            <a:pPr indent="0" lvl="0" marL="0" marR="0" rtl="0" algn="just">
              <a:lnSpc>
                <a:spcPct val="140016"/>
              </a:lnSpc>
              <a:spcBef>
                <a:spcPts val="0"/>
              </a:spcBef>
              <a:spcAft>
                <a:spcPts val="0"/>
              </a:spcAft>
              <a:buNone/>
            </a:pPr>
            <a:r>
              <a:t/>
            </a:r>
            <a:endParaRPr b="0" i="0" sz="3661" u="none" cap="none" strike="noStrike">
              <a:solidFill>
                <a:srgbClr val="022033"/>
              </a:solidFill>
              <a:latin typeface="Tenor Sans"/>
              <a:ea typeface="Tenor Sans"/>
              <a:cs typeface="Tenor Sans"/>
              <a:sym typeface="Tenor Sans"/>
            </a:endParaRPr>
          </a:p>
          <a:p>
            <a:pPr indent="0" lvl="0" marL="0" marR="0" rtl="0" algn="just">
              <a:lnSpc>
                <a:spcPct val="140016"/>
              </a:lnSpc>
              <a:spcBef>
                <a:spcPts val="0"/>
              </a:spcBef>
              <a:spcAft>
                <a:spcPts val="0"/>
              </a:spcAft>
              <a:buNone/>
            </a:pPr>
            <a:r>
              <a:rPr b="0" i="0" lang="en-US" sz="3661" u="none" cap="none" strike="noStrike">
                <a:solidFill>
                  <a:srgbClr val="022033"/>
                </a:solidFill>
                <a:latin typeface="Tenor Sans"/>
                <a:ea typeface="Tenor Sans"/>
                <a:cs typeface="Tenor Sans"/>
                <a:sym typeface="Tenor Sans"/>
              </a:rPr>
              <a:t>Un diseño RISC busca simplificar el conjunto de instrucciones utilizando un número reducido de instrucciones, cada una de las cuales se ejecuta rápidamente. </a:t>
            </a:r>
            <a:endParaRPr/>
          </a:p>
          <a:p>
            <a:pPr indent="0" lvl="0" marL="0" marR="0" rtl="0" algn="just">
              <a:lnSpc>
                <a:spcPct val="140016"/>
              </a:lnSpc>
              <a:spcBef>
                <a:spcPts val="0"/>
              </a:spcBef>
              <a:spcAft>
                <a:spcPts val="0"/>
              </a:spcAft>
              <a:buNone/>
            </a:pPr>
            <a:r>
              <a:t/>
            </a:r>
            <a:endParaRPr b="0" i="0" sz="3661" u="none" cap="none" strike="noStrike">
              <a:solidFill>
                <a:srgbClr val="022033"/>
              </a:solidFill>
              <a:latin typeface="Tenor Sans"/>
              <a:ea typeface="Tenor Sans"/>
              <a:cs typeface="Tenor Sans"/>
              <a:sym typeface="Tenor Sans"/>
            </a:endParaRPr>
          </a:p>
          <a:p>
            <a:pPr indent="0" lvl="0" marL="0" marR="0" rtl="0" algn="just">
              <a:lnSpc>
                <a:spcPct val="140016"/>
              </a:lnSpc>
              <a:spcBef>
                <a:spcPts val="0"/>
              </a:spcBef>
              <a:spcAft>
                <a:spcPts val="0"/>
              </a:spcAft>
              <a:buNone/>
            </a:pPr>
            <a:r>
              <a:rPr b="0" i="0" lang="en-US" sz="3661" u="none" cap="none" strike="noStrike">
                <a:solidFill>
                  <a:srgbClr val="022033"/>
                </a:solidFill>
                <a:latin typeface="Tenor Sans"/>
                <a:ea typeface="Tenor Sans"/>
                <a:cs typeface="Tenor Sans"/>
                <a:sym typeface="Tenor Sans"/>
              </a:rPr>
              <a:t>Las instrucciones son de longitud fija, lo que hace que la decodificación sea más sencilla.</a:t>
            </a:r>
            <a:endParaRPr/>
          </a:p>
          <a:p>
            <a:pPr indent="0" lvl="0" marL="0" marR="0" rtl="0" algn="just">
              <a:lnSpc>
                <a:spcPct val="140016"/>
              </a:lnSpc>
              <a:spcBef>
                <a:spcPts val="0"/>
              </a:spcBef>
              <a:spcAft>
                <a:spcPts val="0"/>
              </a:spcAft>
              <a:buNone/>
            </a:pPr>
            <a:r>
              <a:t/>
            </a:r>
            <a:endParaRPr b="0" i="0" sz="3661" u="none" cap="none" strike="noStrike">
              <a:solidFill>
                <a:srgbClr val="022033"/>
              </a:solidFill>
              <a:latin typeface="Tenor Sans"/>
              <a:ea typeface="Tenor Sans"/>
              <a:cs typeface="Tenor Sans"/>
              <a:sym typeface="Tenor Sans"/>
            </a:endParaRPr>
          </a:p>
        </p:txBody>
      </p:sp>
      <p:sp>
        <p:nvSpPr>
          <p:cNvPr id="213" name="Google Shape;213;p10"/>
          <p:cNvSpPr/>
          <p:nvPr/>
        </p:nvSpPr>
        <p:spPr>
          <a:xfrm>
            <a:off x="12214921" y="1974319"/>
            <a:ext cx="5474093" cy="8074649"/>
          </a:xfrm>
          <a:custGeom>
            <a:rect b="b" l="l" r="r" t="t"/>
            <a:pathLst>
              <a:path extrusionOk="0" h="8074649" w="5474093">
                <a:moveTo>
                  <a:pt x="0" y="0"/>
                </a:moveTo>
                <a:lnTo>
                  <a:pt x="5474093" y="0"/>
                </a:lnTo>
                <a:lnTo>
                  <a:pt x="5474093" y="8074649"/>
                </a:lnTo>
                <a:lnTo>
                  <a:pt x="0" y="8074649"/>
                </a:lnTo>
                <a:lnTo>
                  <a:pt x="0" y="0"/>
                </a:lnTo>
                <a:close/>
              </a:path>
            </a:pathLst>
          </a:custGeom>
          <a:blipFill rotWithShape="1">
            <a:blip r:embed="rId3">
              <a:alphaModFix/>
            </a:blip>
            <a:stretch>
              <a:fillRect b="0" l="0" r="-101539" t="0"/>
            </a:stretch>
          </a:blipFill>
          <a:ln>
            <a:noFill/>
          </a:ln>
        </p:spPr>
      </p:sp>
      <p:sp>
        <p:nvSpPr>
          <p:cNvPr id="214" name="Google Shape;214;p10"/>
          <p:cNvSpPr txBox="1"/>
          <p:nvPr/>
        </p:nvSpPr>
        <p:spPr>
          <a:xfrm>
            <a:off x="1028700" y="647922"/>
            <a:ext cx="14165081" cy="513778"/>
          </a:xfrm>
          <a:prstGeom prst="rect">
            <a:avLst/>
          </a:prstGeom>
          <a:noFill/>
          <a:ln>
            <a:noFill/>
          </a:ln>
        </p:spPr>
        <p:txBody>
          <a:bodyPr anchorCtr="0" anchor="t" bIns="0" lIns="0" spcFirstLastPara="1" rIns="0" wrap="square" tIns="0">
            <a:spAutoFit/>
          </a:bodyPr>
          <a:lstStyle/>
          <a:p>
            <a:pPr indent="0" lvl="0" marL="0" marR="0" rtl="0" algn="l">
              <a:lnSpc>
                <a:spcPct val="92000"/>
              </a:lnSpc>
              <a:spcBef>
                <a:spcPts val="0"/>
              </a:spcBef>
              <a:spcAft>
                <a:spcPts val="0"/>
              </a:spcAft>
              <a:buNone/>
            </a:pPr>
            <a:r>
              <a:rPr b="0" i="0" lang="en-US" sz="4000" u="none" cap="none" strike="noStrike">
                <a:solidFill>
                  <a:srgbClr val="022033"/>
                </a:solidFill>
                <a:latin typeface="Arial"/>
                <a:ea typeface="Arial"/>
                <a:cs typeface="Arial"/>
                <a:sym typeface="Arial"/>
              </a:rPr>
              <a:t>EJEMPLO DE DISEÑO DEL CONJUNTO DE INSTRUCCIONES (ISA)</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8" name="Shape 218"/>
        <p:cNvGrpSpPr/>
        <p:nvPr/>
      </p:nvGrpSpPr>
      <p:grpSpPr>
        <a:xfrm>
          <a:off x="0" y="0"/>
          <a:ext cx="0" cy="0"/>
          <a:chOff x="0" y="0"/>
          <a:chExt cx="0" cy="0"/>
        </a:xfrm>
      </p:grpSpPr>
      <p:grpSp>
        <p:nvGrpSpPr>
          <p:cNvPr id="219" name="Google Shape;219;p11"/>
          <p:cNvGrpSpPr/>
          <p:nvPr/>
        </p:nvGrpSpPr>
        <p:grpSpPr>
          <a:xfrm>
            <a:off x="-2603406" y="2751568"/>
            <a:ext cx="4378481" cy="4378481"/>
            <a:chOff x="0" y="0"/>
            <a:chExt cx="812800" cy="812800"/>
          </a:xfrm>
        </p:grpSpPr>
        <p:sp>
          <p:nvSpPr>
            <p:cNvPr id="220" name="Google Shape;220;p11"/>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6B5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 name="Google Shape;221;p11"/>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222" name="Google Shape;222;p11"/>
          <p:cNvGrpSpPr/>
          <p:nvPr/>
        </p:nvGrpSpPr>
        <p:grpSpPr>
          <a:xfrm>
            <a:off x="3954263" y="8646204"/>
            <a:ext cx="971055" cy="1079531"/>
            <a:chOff x="0" y="-38100"/>
            <a:chExt cx="255751" cy="284321"/>
          </a:xfrm>
        </p:grpSpPr>
        <p:sp>
          <p:nvSpPr>
            <p:cNvPr id="223" name="Google Shape;223;p11"/>
            <p:cNvSpPr/>
            <p:nvPr/>
          </p:nvSpPr>
          <p:spPr>
            <a:xfrm>
              <a:off x="0" y="0"/>
              <a:ext cx="255751" cy="246221"/>
            </a:xfrm>
            <a:custGeom>
              <a:rect b="b" l="l" r="r" t="t"/>
              <a:pathLst>
                <a:path extrusionOk="0" h="246221" w="255751">
                  <a:moveTo>
                    <a:pt x="123111" y="0"/>
                  </a:moveTo>
                  <a:lnTo>
                    <a:pt x="132641" y="0"/>
                  </a:lnTo>
                  <a:cubicBezTo>
                    <a:pt x="200633" y="0"/>
                    <a:pt x="255751" y="55118"/>
                    <a:pt x="255751" y="123111"/>
                  </a:cubicBezTo>
                  <a:lnTo>
                    <a:pt x="255751" y="123111"/>
                  </a:lnTo>
                  <a:cubicBezTo>
                    <a:pt x="255751" y="155761"/>
                    <a:pt x="242781" y="187075"/>
                    <a:pt x="219693" y="210163"/>
                  </a:cubicBezTo>
                  <a:cubicBezTo>
                    <a:pt x="196605" y="233251"/>
                    <a:pt x="165292" y="246221"/>
                    <a:pt x="132641" y="246221"/>
                  </a:cubicBezTo>
                  <a:lnTo>
                    <a:pt x="123111" y="246221"/>
                  </a:lnTo>
                  <a:cubicBezTo>
                    <a:pt x="55118" y="246221"/>
                    <a:pt x="0" y="191103"/>
                    <a:pt x="0" y="123111"/>
                  </a:cubicBezTo>
                  <a:lnTo>
                    <a:pt x="0" y="123111"/>
                  </a:lnTo>
                  <a:cubicBezTo>
                    <a:pt x="0" y="55118"/>
                    <a:pt x="55118" y="0"/>
                    <a:pt x="123111" y="0"/>
                  </a:cubicBezTo>
                  <a:close/>
                </a:path>
              </a:pathLst>
            </a:custGeom>
            <a:solidFill>
              <a:srgbClr val="568AB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 name="Google Shape;224;p11"/>
            <p:cNvSpPr txBox="1"/>
            <p:nvPr/>
          </p:nvSpPr>
          <p:spPr>
            <a:xfrm>
              <a:off x="0" y="-38100"/>
              <a:ext cx="255751" cy="284321"/>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225" name="Google Shape;225;p11"/>
          <p:cNvSpPr txBox="1"/>
          <p:nvPr/>
        </p:nvSpPr>
        <p:spPr>
          <a:xfrm>
            <a:off x="853750" y="1875436"/>
            <a:ext cx="10491750" cy="6459928"/>
          </a:xfrm>
          <a:prstGeom prst="rect">
            <a:avLst/>
          </a:prstGeom>
          <a:noFill/>
          <a:ln>
            <a:noFill/>
          </a:ln>
        </p:spPr>
        <p:txBody>
          <a:bodyPr anchorCtr="0" anchor="t" bIns="0" lIns="0" spcFirstLastPara="1" rIns="0" wrap="square" tIns="0">
            <a:spAutoFit/>
          </a:bodyPr>
          <a:lstStyle/>
          <a:p>
            <a:pPr indent="0" lvl="0" marL="0" marR="0" rtl="0" algn="just">
              <a:lnSpc>
                <a:spcPct val="140016"/>
              </a:lnSpc>
              <a:spcBef>
                <a:spcPts val="0"/>
              </a:spcBef>
              <a:spcAft>
                <a:spcPts val="0"/>
              </a:spcAft>
              <a:buNone/>
            </a:pPr>
            <a:r>
              <a:rPr b="0" i="0" lang="en-US" sz="3661" u="none" cap="none" strike="noStrike">
                <a:solidFill>
                  <a:srgbClr val="022033"/>
                </a:solidFill>
                <a:latin typeface="Tenor Sans"/>
                <a:ea typeface="Tenor Sans"/>
                <a:cs typeface="Tenor Sans"/>
                <a:sym typeface="Tenor Sans"/>
              </a:rPr>
              <a:t>CISC (Complex Instruction Set Computer)</a:t>
            </a:r>
            <a:endParaRPr/>
          </a:p>
          <a:p>
            <a:pPr indent="0" lvl="0" marL="0" marR="0" rtl="0" algn="just">
              <a:lnSpc>
                <a:spcPct val="140016"/>
              </a:lnSpc>
              <a:spcBef>
                <a:spcPts val="0"/>
              </a:spcBef>
              <a:spcAft>
                <a:spcPts val="0"/>
              </a:spcAft>
              <a:buNone/>
            </a:pPr>
            <a:r>
              <a:t/>
            </a:r>
            <a:endParaRPr b="0" i="0" sz="3661" u="none" cap="none" strike="noStrike">
              <a:solidFill>
                <a:srgbClr val="022033"/>
              </a:solidFill>
              <a:latin typeface="Tenor Sans"/>
              <a:ea typeface="Tenor Sans"/>
              <a:cs typeface="Tenor Sans"/>
              <a:sym typeface="Tenor Sans"/>
            </a:endParaRPr>
          </a:p>
          <a:p>
            <a:pPr indent="0" lvl="0" marL="0" marR="0" rtl="0" algn="just">
              <a:lnSpc>
                <a:spcPct val="140016"/>
              </a:lnSpc>
              <a:spcBef>
                <a:spcPts val="0"/>
              </a:spcBef>
              <a:spcAft>
                <a:spcPts val="0"/>
              </a:spcAft>
              <a:buNone/>
            </a:pPr>
            <a:r>
              <a:rPr b="0" i="0" lang="en-US" sz="3661" u="none" cap="none" strike="noStrike">
                <a:solidFill>
                  <a:srgbClr val="022033"/>
                </a:solidFill>
                <a:latin typeface="Tenor Sans"/>
                <a:ea typeface="Tenor Sans"/>
                <a:cs typeface="Tenor Sans"/>
                <a:sym typeface="Tenor Sans"/>
              </a:rPr>
              <a:t>En un diseño CISC, las instrucciones son más complejas y pueden realizar varias operaciones en un solo ciclo. </a:t>
            </a:r>
            <a:endParaRPr/>
          </a:p>
          <a:p>
            <a:pPr indent="0" lvl="0" marL="0" marR="0" rtl="0" algn="just">
              <a:lnSpc>
                <a:spcPct val="140016"/>
              </a:lnSpc>
              <a:spcBef>
                <a:spcPts val="0"/>
              </a:spcBef>
              <a:spcAft>
                <a:spcPts val="0"/>
              </a:spcAft>
              <a:buNone/>
            </a:pPr>
            <a:r>
              <a:t/>
            </a:r>
            <a:endParaRPr b="0" i="0" sz="3661" u="none" cap="none" strike="noStrike">
              <a:solidFill>
                <a:srgbClr val="022033"/>
              </a:solidFill>
              <a:latin typeface="Tenor Sans"/>
              <a:ea typeface="Tenor Sans"/>
              <a:cs typeface="Tenor Sans"/>
              <a:sym typeface="Tenor Sans"/>
            </a:endParaRPr>
          </a:p>
          <a:p>
            <a:pPr indent="0" lvl="0" marL="0" marR="0" rtl="0" algn="just">
              <a:lnSpc>
                <a:spcPct val="140016"/>
              </a:lnSpc>
              <a:spcBef>
                <a:spcPts val="0"/>
              </a:spcBef>
              <a:spcAft>
                <a:spcPts val="0"/>
              </a:spcAft>
              <a:buNone/>
            </a:pPr>
            <a:r>
              <a:rPr b="0" i="0" lang="en-US" sz="3661" u="none" cap="none" strike="noStrike">
                <a:solidFill>
                  <a:srgbClr val="022033"/>
                </a:solidFill>
                <a:latin typeface="Tenor Sans"/>
                <a:ea typeface="Tenor Sans"/>
                <a:cs typeface="Tenor Sans"/>
                <a:sym typeface="Tenor Sans"/>
              </a:rPr>
              <a:t>Esto permite que el código de máquina sea más denso, pero las instrucciones son más lentas y complejas de procesar.</a:t>
            </a:r>
            <a:endParaRPr/>
          </a:p>
          <a:p>
            <a:pPr indent="0" lvl="0" marL="0" marR="0" rtl="0" algn="just">
              <a:lnSpc>
                <a:spcPct val="140016"/>
              </a:lnSpc>
              <a:spcBef>
                <a:spcPts val="0"/>
              </a:spcBef>
              <a:spcAft>
                <a:spcPts val="0"/>
              </a:spcAft>
              <a:buNone/>
            </a:pPr>
            <a:r>
              <a:t/>
            </a:r>
            <a:endParaRPr b="0" i="0" sz="3661" u="none" cap="none" strike="noStrike">
              <a:solidFill>
                <a:srgbClr val="022033"/>
              </a:solidFill>
              <a:latin typeface="Tenor Sans"/>
              <a:ea typeface="Tenor Sans"/>
              <a:cs typeface="Tenor Sans"/>
              <a:sym typeface="Tenor Sans"/>
            </a:endParaRPr>
          </a:p>
        </p:txBody>
      </p:sp>
      <p:sp>
        <p:nvSpPr>
          <p:cNvPr id="226" name="Google Shape;226;p11"/>
          <p:cNvSpPr/>
          <p:nvPr/>
        </p:nvSpPr>
        <p:spPr>
          <a:xfrm>
            <a:off x="12079669" y="1359362"/>
            <a:ext cx="5353473" cy="8074649"/>
          </a:xfrm>
          <a:custGeom>
            <a:rect b="b" l="l" r="r" t="t"/>
            <a:pathLst>
              <a:path extrusionOk="0" h="8074649" w="5353473">
                <a:moveTo>
                  <a:pt x="0" y="0"/>
                </a:moveTo>
                <a:lnTo>
                  <a:pt x="5353473" y="0"/>
                </a:lnTo>
                <a:lnTo>
                  <a:pt x="5353473" y="8074649"/>
                </a:lnTo>
                <a:lnTo>
                  <a:pt x="0" y="8074649"/>
                </a:lnTo>
                <a:lnTo>
                  <a:pt x="0" y="0"/>
                </a:lnTo>
                <a:close/>
              </a:path>
            </a:pathLst>
          </a:custGeom>
          <a:blipFill rotWithShape="1">
            <a:blip r:embed="rId3">
              <a:alphaModFix/>
            </a:blip>
            <a:stretch>
              <a:fillRect b="0" l="-106066" r="-8" t="0"/>
            </a:stretch>
          </a:blipFill>
          <a:ln>
            <a:noFill/>
          </a:ln>
        </p:spPr>
      </p:sp>
      <p:sp>
        <p:nvSpPr>
          <p:cNvPr id="227" name="Google Shape;227;p11"/>
          <p:cNvSpPr txBox="1"/>
          <p:nvPr/>
        </p:nvSpPr>
        <p:spPr>
          <a:xfrm>
            <a:off x="853750" y="577942"/>
            <a:ext cx="14427506" cy="513778"/>
          </a:xfrm>
          <a:prstGeom prst="rect">
            <a:avLst/>
          </a:prstGeom>
          <a:noFill/>
          <a:ln>
            <a:noFill/>
          </a:ln>
        </p:spPr>
        <p:txBody>
          <a:bodyPr anchorCtr="0" anchor="t" bIns="0" lIns="0" spcFirstLastPara="1" rIns="0" wrap="square" tIns="0">
            <a:spAutoFit/>
          </a:bodyPr>
          <a:lstStyle/>
          <a:p>
            <a:pPr indent="0" lvl="0" marL="0" marR="0" rtl="0" algn="l">
              <a:lnSpc>
                <a:spcPct val="92000"/>
              </a:lnSpc>
              <a:spcBef>
                <a:spcPts val="0"/>
              </a:spcBef>
              <a:spcAft>
                <a:spcPts val="0"/>
              </a:spcAft>
              <a:buNone/>
            </a:pPr>
            <a:r>
              <a:rPr b="0" i="0" lang="en-US" sz="4000" u="none" cap="none" strike="noStrike">
                <a:solidFill>
                  <a:srgbClr val="022033"/>
                </a:solidFill>
                <a:latin typeface="Arial"/>
                <a:ea typeface="Arial"/>
                <a:cs typeface="Arial"/>
                <a:sym typeface="Arial"/>
              </a:rPr>
              <a:t>EJEMPLO DE DISEÑO DEL CONJUNTO DE INSTRUCCIONES (ISA)</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1" name="Shape 231"/>
        <p:cNvGrpSpPr/>
        <p:nvPr/>
      </p:nvGrpSpPr>
      <p:grpSpPr>
        <a:xfrm>
          <a:off x="0" y="0"/>
          <a:ext cx="0" cy="0"/>
          <a:chOff x="0" y="0"/>
          <a:chExt cx="0" cy="0"/>
        </a:xfrm>
      </p:grpSpPr>
      <p:grpSp>
        <p:nvGrpSpPr>
          <p:cNvPr id="232" name="Google Shape;232;p12"/>
          <p:cNvGrpSpPr/>
          <p:nvPr/>
        </p:nvGrpSpPr>
        <p:grpSpPr>
          <a:xfrm>
            <a:off x="16098759" y="604794"/>
            <a:ext cx="4378481" cy="4378481"/>
            <a:chOff x="0" y="0"/>
            <a:chExt cx="812800" cy="812800"/>
          </a:xfrm>
        </p:grpSpPr>
        <p:sp>
          <p:nvSpPr>
            <p:cNvPr id="233" name="Google Shape;233;p12"/>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6B5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 name="Google Shape;234;p12"/>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235" name="Google Shape;235;p12"/>
          <p:cNvSpPr txBox="1"/>
          <p:nvPr/>
        </p:nvSpPr>
        <p:spPr>
          <a:xfrm>
            <a:off x="1807782" y="4208587"/>
            <a:ext cx="13995017" cy="5164582"/>
          </a:xfrm>
          <a:prstGeom prst="rect">
            <a:avLst/>
          </a:prstGeom>
          <a:noFill/>
          <a:ln>
            <a:noFill/>
          </a:ln>
        </p:spPr>
        <p:txBody>
          <a:bodyPr anchorCtr="0" anchor="t" bIns="0" lIns="0" spcFirstLastPara="1" rIns="0" wrap="square" tIns="0">
            <a:spAutoFit/>
          </a:bodyPr>
          <a:lstStyle/>
          <a:p>
            <a:pPr indent="0" lvl="0" marL="0" marR="0" rtl="0" algn="just">
              <a:lnSpc>
                <a:spcPct val="140016"/>
              </a:lnSpc>
              <a:spcBef>
                <a:spcPts val="0"/>
              </a:spcBef>
              <a:spcAft>
                <a:spcPts val="0"/>
              </a:spcAft>
              <a:buNone/>
            </a:pPr>
            <a:r>
              <a:rPr b="0" i="0" lang="en-US" sz="3661" u="none" cap="none" strike="noStrike">
                <a:solidFill>
                  <a:srgbClr val="022033"/>
                </a:solidFill>
                <a:latin typeface="Tenor Sans"/>
                <a:ea typeface="Tenor Sans"/>
                <a:cs typeface="Tenor Sans"/>
                <a:sym typeface="Tenor Sans"/>
              </a:rPr>
              <a:t>El análisis del conjunto de instrucciones implica estudiar cómo las instrucciones diseñadas se ejecutan en un procesador, cómo afectan el rendimiento del sistema y cómo optimizar su uso. </a:t>
            </a:r>
            <a:endParaRPr/>
          </a:p>
          <a:p>
            <a:pPr indent="0" lvl="0" marL="0" marR="0" rtl="0" algn="just">
              <a:lnSpc>
                <a:spcPct val="140016"/>
              </a:lnSpc>
              <a:spcBef>
                <a:spcPts val="0"/>
              </a:spcBef>
              <a:spcAft>
                <a:spcPts val="0"/>
              </a:spcAft>
              <a:buNone/>
            </a:pPr>
            <a:r>
              <a:t/>
            </a:r>
            <a:endParaRPr b="0" i="0" sz="3661" u="none" cap="none" strike="noStrike">
              <a:solidFill>
                <a:srgbClr val="022033"/>
              </a:solidFill>
              <a:latin typeface="Tenor Sans"/>
              <a:ea typeface="Tenor Sans"/>
              <a:cs typeface="Tenor Sans"/>
              <a:sym typeface="Tenor Sans"/>
            </a:endParaRPr>
          </a:p>
          <a:p>
            <a:pPr indent="0" lvl="0" marL="0" marR="0" rtl="0" algn="just">
              <a:lnSpc>
                <a:spcPct val="140016"/>
              </a:lnSpc>
              <a:spcBef>
                <a:spcPts val="0"/>
              </a:spcBef>
              <a:spcAft>
                <a:spcPts val="0"/>
              </a:spcAft>
              <a:buNone/>
            </a:pPr>
            <a:r>
              <a:rPr b="0" i="0" lang="en-US" sz="3661" u="none" cap="none" strike="noStrike">
                <a:solidFill>
                  <a:srgbClr val="022033"/>
                </a:solidFill>
                <a:latin typeface="Tenor Sans"/>
                <a:ea typeface="Tenor Sans"/>
                <a:cs typeface="Tenor Sans"/>
                <a:sym typeface="Tenor Sans"/>
              </a:rPr>
              <a:t>El análisis ayuda a identificar los puntos fuertes y las debilidades del conjunto de instrucciones y a mejorar la eficiencia del procesador.</a:t>
            </a:r>
            <a:endParaRPr/>
          </a:p>
        </p:txBody>
      </p:sp>
      <p:sp>
        <p:nvSpPr>
          <p:cNvPr id="236" name="Google Shape;236;p12"/>
          <p:cNvSpPr txBox="1"/>
          <p:nvPr/>
        </p:nvSpPr>
        <p:spPr>
          <a:xfrm>
            <a:off x="689991" y="709179"/>
            <a:ext cx="16230600" cy="2718900"/>
          </a:xfrm>
          <a:prstGeom prst="rect">
            <a:avLst/>
          </a:prstGeom>
          <a:noFill/>
          <a:ln>
            <a:noFill/>
          </a:ln>
        </p:spPr>
        <p:txBody>
          <a:bodyPr anchorCtr="0" anchor="t" bIns="0" lIns="0" spcFirstLastPara="1" rIns="0" wrap="square" tIns="0">
            <a:spAutoFit/>
          </a:bodyPr>
          <a:lstStyle/>
          <a:p>
            <a:pPr indent="0" lvl="0" marL="0" marR="0" rtl="0" algn="l">
              <a:lnSpc>
                <a:spcPct val="91996"/>
              </a:lnSpc>
              <a:spcBef>
                <a:spcPts val="0"/>
              </a:spcBef>
              <a:spcAft>
                <a:spcPts val="0"/>
              </a:spcAft>
              <a:buNone/>
            </a:pPr>
            <a:r>
              <a:rPr b="0" i="0" lang="en-US" sz="9600" u="none" cap="none" strike="noStrike">
                <a:solidFill>
                  <a:srgbClr val="022033"/>
                </a:solidFill>
                <a:latin typeface="Arial"/>
                <a:ea typeface="Arial"/>
                <a:cs typeface="Arial"/>
                <a:sym typeface="Arial"/>
              </a:rPr>
              <a:t>ANALISIS DEL CONJUNTO DE INSTRUCCIONES (ISA)</a:t>
            </a:r>
            <a:endParaRPr sz="9600"/>
          </a:p>
        </p:txBody>
      </p:sp>
      <p:grpSp>
        <p:nvGrpSpPr>
          <p:cNvPr id="237" name="Google Shape;237;p12"/>
          <p:cNvGrpSpPr/>
          <p:nvPr/>
        </p:nvGrpSpPr>
        <p:grpSpPr>
          <a:xfrm>
            <a:off x="16288245" y="5635551"/>
            <a:ext cx="971055" cy="1079531"/>
            <a:chOff x="0" y="-38100"/>
            <a:chExt cx="255751" cy="284321"/>
          </a:xfrm>
        </p:grpSpPr>
        <p:sp>
          <p:nvSpPr>
            <p:cNvPr id="238" name="Google Shape;238;p12"/>
            <p:cNvSpPr/>
            <p:nvPr/>
          </p:nvSpPr>
          <p:spPr>
            <a:xfrm>
              <a:off x="0" y="0"/>
              <a:ext cx="255751" cy="246221"/>
            </a:xfrm>
            <a:custGeom>
              <a:rect b="b" l="l" r="r" t="t"/>
              <a:pathLst>
                <a:path extrusionOk="0" h="246221" w="255751">
                  <a:moveTo>
                    <a:pt x="123111" y="0"/>
                  </a:moveTo>
                  <a:lnTo>
                    <a:pt x="132641" y="0"/>
                  </a:lnTo>
                  <a:cubicBezTo>
                    <a:pt x="200633" y="0"/>
                    <a:pt x="255751" y="55118"/>
                    <a:pt x="255751" y="123111"/>
                  </a:cubicBezTo>
                  <a:lnTo>
                    <a:pt x="255751" y="123111"/>
                  </a:lnTo>
                  <a:cubicBezTo>
                    <a:pt x="255751" y="155761"/>
                    <a:pt x="242781" y="187075"/>
                    <a:pt x="219693" y="210163"/>
                  </a:cubicBezTo>
                  <a:cubicBezTo>
                    <a:pt x="196605" y="233251"/>
                    <a:pt x="165292" y="246221"/>
                    <a:pt x="132641" y="246221"/>
                  </a:cubicBezTo>
                  <a:lnTo>
                    <a:pt x="123111" y="246221"/>
                  </a:lnTo>
                  <a:cubicBezTo>
                    <a:pt x="55118" y="246221"/>
                    <a:pt x="0" y="191103"/>
                    <a:pt x="0" y="123111"/>
                  </a:cubicBezTo>
                  <a:lnTo>
                    <a:pt x="0" y="123111"/>
                  </a:lnTo>
                  <a:cubicBezTo>
                    <a:pt x="0" y="55118"/>
                    <a:pt x="55118" y="0"/>
                    <a:pt x="123111" y="0"/>
                  </a:cubicBezTo>
                  <a:close/>
                </a:path>
              </a:pathLst>
            </a:custGeom>
            <a:solidFill>
              <a:srgbClr val="568AB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 name="Google Shape;239;p12"/>
            <p:cNvSpPr txBox="1"/>
            <p:nvPr/>
          </p:nvSpPr>
          <p:spPr>
            <a:xfrm>
              <a:off x="0" y="-38100"/>
              <a:ext cx="255751" cy="284321"/>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3" name="Shape 243"/>
        <p:cNvGrpSpPr/>
        <p:nvPr/>
      </p:nvGrpSpPr>
      <p:grpSpPr>
        <a:xfrm>
          <a:off x="0" y="0"/>
          <a:ext cx="0" cy="0"/>
          <a:chOff x="0" y="0"/>
          <a:chExt cx="0" cy="0"/>
        </a:xfrm>
      </p:grpSpPr>
      <p:grpSp>
        <p:nvGrpSpPr>
          <p:cNvPr id="244" name="Google Shape;244;p13"/>
          <p:cNvGrpSpPr/>
          <p:nvPr/>
        </p:nvGrpSpPr>
        <p:grpSpPr>
          <a:xfrm>
            <a:off x="-2603406" y="2751568"/>
            <a:ext cx="4378481" cy="4378481"/>
            <a:chOff x="0" y="0"/>
            <a:chExt cx="812800" cy="812800"/>
          </a:xfrm>
        </p:grpSpPr>
        <p:sp>
          <p:nvSpPr>
            <p:cNvPr id="245" name="Google Shape;245;p13"/>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6B5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 name="Google Shape;246;p13"/>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247" name="Google Shape;247;p13"/>
          <p:cNvGrpSpPr/>
          <p:nvPr/>
        </p:nvGrpSpPr>
        <p:grpSpPr>
          <a:xfrm>
            <a:off x="3954263" y="8646204"/>
            <a:ext cx="971055" cy="1079531"/>
            <a:chOff x="0" y="-38100"/>
            <a:chExt cx="255751" cy="284321"/>
          </a:xfrm>
        </p:grpSpPr>
        <p:sp>
          <p:nvSpPr>
            <p:cNvPr id="248" name="Google Shape;248;p13"/>
            <p:cNvSpPr/>
            <p:nvPr/>
          </p:nvSpPr>
          <p:spPr>
            <a:xfrm>
              <a:off x="0" y="0"/>
              <a:ext cx="255751" cy="246221"/>
            </a:xfrm>
            <a:custGeom>
              <a:rect b="b" l="l" r="r" t="t"/>
              <a:pathLst>
                <a:path extrusionOk="0" h="246221" w="255751">
                  <a:moveTo>
                    <a:pt x="123111" y="0"/>
                  </a:moveTo>
                  <a:lnTo>
                    <a:pt x="132641" y="0"/>
                  </a:lnTo>
                  <a:cubicBezTo>
                    <a:pt x="200633" y="0"/>
                    <a:pt x="255751" y="55118"/>
                    <a:pt x="255751" y="123111"/>
                  </a:cubicBezTo>
                  <a:lnTo>
                    <a:pt x="255751" y="123111"/>
                  </a:lnTo>
                  <a:cubicBezTo>
                    <a:pt x="255751" y="155761"/>
                    <a:pt x="242781" y="187075"/>
                    <a:pt x="219693" y="210163"/>
                  </a:cubicBezTo>
                  <a:cubicBezTo>
                    <a:pt x="196605" y="233251"/>
                    <a:pt x="165292" y="246221"/>
                    <a:pt x="132641" y="246221"/>
                  </a:cubicBezTo>
                  <a:lnTo>
                    <a:pt x="123111" y="246221"/>
                  </a:lnTo>
                  <a:cubicBezTo>
                    <a:pt x="55118" y="246221"/>
                    <a:pt x="0" y="191103"/>
                    <a:pt x="0" y="123111"/>
                  </a:cubicBezTo>
                  <a:lnTo>
                    <a:pt x="0" y="123111"/>
                  </a:lnTo>
                  <a:cubicBezTo>
                    <a:pt x="0" y="55118"/>
                    <a:pt x="55118" y="0"/>
                    <a:pt x="123111" y="0"/>
                  </a:cubicBezTo>
                  <a:close/>
                </a:path>
              </a:pathLst>
            </a:custGeom>
            <a:solidFill>
              <a:srgbClr val="568AB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 name="Google Shape;249;p13"/>
            <p:cNvSpPr txBox="1"/>
            <p:nvPr/>
          </p:nvSpPr>
          <p:spPr>
            <a:xfrm>
              <a:off x="0" y="-38100"/>
              <a:ext cx="255751" cy="284321"/>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250" name="Google Shape;250;p13"/>
          <p:cNvSpPr txBox="1"/>
          <p:nvPr/>
        </p:nvSpPr>
        <p:spPr>
          <a:xfrm>
            <a:off x="1028700" y="1569497"/>
            <a:ext cx="15915203" cy="7366128"/>
          </a:xfrm>
          <a:prstGeom prst="rect">
            <a:avLst/>
          </a:prstGeom>
          <a:noFill/>
          <a:ln>
            <a:noFill/>
          </a:ln>
        </p:spPr>
        <p:txBody>
          <a:bodyPr anchorCtr="0" anchor="t" bIns="0" lIns="0" spcFirstLastPara="1" rIns="0" wrap="square" tIns="0">
            <a:spAutoFit/>
          </a:bodyPr>
          <a:lstStyle/>
          <a:p>
            <a:pPr indent="0" lvl="0" marL="0" marR="0" rtl="0" algn="just">
              <a:lnSpc>
                <a:spcPct val="139992"/>
              </a:lnSpc>
              <a:spcBef>
                <a:spcPts val="0"/>
              </a:spcBef>
              <a:spcAft>
                <a:spcPts val="0"/>
              </a:spcAft>
              <a:buNone/>
            </a:pPr>
            <a:r>
              <a:rPr b="0" i="0" lang="en-US" sz="5061" u="none" cap="none" strike="noStrike">
                <a:solidFill>
                  <a:srgbClr val="022033"/>
                </a:solidFill>
                <a:latin typeface="Tenor Sans"/>
                <a:ea typeface="Tenor Sans"/>
                <a:cs typeface="Tenor Sans"/>
                <a:sym typeface="Tenor Sans"/>
              </a:rPr>
              <a:t>Rendimiento y eficiencia</a:t>
            </a:r>
            <a:endParaRPr/>
          </a:p>
          <a:p>
            <a:pPr indent="0" lvl="0" marL="0" marR="0" rtl="0" algn="just">
              <a:lnSpc>
                <a:spcPct val="101284"/>
              </a:lnSpc>
              <a:spcBef>
                <a:spcPts val="0"/>
              </a:spcBef>
              <a:spcAft>
                <a:spcPts val="0"/>
              </a:spcAft>
              <a:buNone/>
            </a:pPr>
            <a:r>
              <a:t/>
            </a:r>
            <a:endParaRPr b="0" i="0" sz="5061" u="none" cap="none" strike="noStrike">
              <a:solidFill>
                <a:srgbClr val="022033"/>
              </a:solidFill>
              <a:latin typeface="Tenor Sans"/>
              <a:ea typeface="Tenor Sans"/>
              <a:cs typeface="Tenor Sans"/>
              <a:sym typeface="Tenor Sans"/>
            </a:endParaRPr>
          </a:p>
          <a:p>
            <a:pPr indent="0" lvl="0" marL="0" marR="0" rtl="0" algn="just">
              <a:lnSpc>
                <a:spcPct val="140016"/>
              </a:lnSpc>
              <a:spcBef>
                <a:spcPts val="0"/>
              </a:spcBef>
              <a:spcAft>
                <a:spcPts val="0"/>
              </a:spcAft>
              <a:buNone/>
            </a:pPr>
            <a:r>
              <a:rPr b="0" i="0" lang="en-US" sz="3661" u="none" cap="none" strike="noStrike">
                <a:solidFill>
                  <a:srgbClr val="022033"/>
                </a:solidFill>
                <a:latin typeface="Tenor Sans"/>
                <a:ea typeface="Tenor Sans"/>
                <a:cs typeface="Tenor Sans"/>
                <a:sym typeface="Tenor Sans"/>
              </a:rPr>
              <a:t>Velocidad de ejecución</a:t>
            </a:r>
            <a:endParaRPr/>
          </a:p>
          <a:p>
            <a:pPr indent="0" lvl="0" marL="0" marR="0" rtl="0" algn="just">
              <a:lnSpc>
                <a:spcPct val="140016"/>
              </a:lnSpc>
              <a:spcBef>
                <a:spcPts val="0"/>
              </a:spcBef>
              <a:spcAft>
                <a:spcPts val="0"/>
              </a:spcAft>
              <a:buNone/>
            </a:pPr>
            <a:r>
              <a:t/>
            </a:r>
            <a:endParaRPr b="0" i="0" sz="3661" u="none" cap="none" strike="noStrike">
              <a:solidFill>
                <a:srgbClr val="022033"/>
              </a:solidFill>
              <a:latin typeface="Tenor Sans"/>
              <a:ea typeface="Tenor Sans"/>
              <a:cs typeface="Tenor Sans"/>
              <a:sym typeface="Tenor Sans"/>
            </a:endParaRPr>
          </a:p>
          <a:p>
            <a:pPr indent="0" lvl="0" marL="0" marR="0" rtl="0" algn="just">
              <a:lnSpc>
                <a:spcPct val="140016"/>
              </a:lnSpc>
              <a:spcBef>
                <a:spcPts val="0"/>
              </a:spcBef>
              <a:spcAft>
                <a:spcPts val="0"/>
              </a:spcAft>
              <a:buNone/>
            </a:pPr>
            <a:r>
              <a:rPr b="0" i="0" lang="en-US" sz="3661" u="none" cap="none" strike="noStrike">
                <a:solidFill>
                  <a:srgbClr val="022033"/>
                </a:solidFill>
                <a:latin typeface="Tenor Sans"/>
                <a:ea typeface="Tenor Sans"/>
                <a:cs typeface="Tenor Sans"/>
                <a:sym typeface="Tenor Sans"/>
              </a:rPr>
              <a:t>Las instrucciones más simples, como las utilizadas en RISC, generalmente se ejecutan más rápido, ya que el procesador puede decodificarlas y ejecutarlas en un solo ciclo de reloj.</a:t>
            </a:r>
            <a:endParaRPr/>
          </a:p>
          <a:p>
            <a:pPr indent="0" lvl="0" marL="0" marR="0" rtl="0" algn="just">
              <a:lnSpc>
                <a:spcPct val="140016"/>
              </a:lnSpc>
              <a:spcBef>
                <a:spcPts val="0"/>
              </a:spcBef>
              <a:spcAft>
                <a:spcPts val="0"/>
              </a:spcAft>
              <a:buNone/>
            </a:pPr>
            <a:r>
              <a:t/>
            </a:r>
            <a:endParaRPr b="0" i="0" sz="3661" u="none" cap="none" strike="noStrike">
              <a:solidFill>
                <a:srgbClr val="022033"/>
              </a:solidFill>
              <a:latin typeface="Tenor Sans"/>
              <a:ea typeface="Tenor Sans"/>
              <a:cs typeface="Tenor Sans"/>
              <a:sym typeface="Tenor Sans"/>
            </a:endParaRPr>
          </a:p>
          <a:p>
            <a:pPr indent="0" lvl="0" marL="0" marR="0" rtl="0" algn="just">
              <a:lnSpc>
                <a:spcPct val="140016"/>
              </a:lnSpc>
              <a:spcBef>
                <a:spcPts val="0"/>
              </a:spcBef>
              <a:spcAft>
                <a:spcPts val="0"/>
              </a:spcAft>
              <a:buNone/>
            </a:pPr>
            <a:r>
              <a:rPr b="0" i="0" lang="en-US" sz="3661" u="none" cap="none" strike="noStrike">
                <a:solidFill>
                  <a:srgbClr val="022033"/>
                </a:solidFill>
                <a:latin typeface="Tenor Sans"/>
                <a:ea typeface="Tenor Sans"/>
                <a:cs typeface="Tenor Sans"/>
                <a:sym typeface="Tenor Sans"/>
              </a:rPr>
              <a:t>Por el contrario, las instrucciones complejas en CISC pueden requerir más ciclos de reloj.</a:t>
            </a:r>
            <a:endParaRPr/>
          </a:p>
          <a:p>
            <a:pPr indent="0" lvl="0" marL="0" marR="0" rtl="0" algn="just">
              <a:lnSpc>
                <a:spcPct val="140016"/>
              </a:lnSpc>
              <a:spcBef>
                <a:spcPts val="0"/>
              </a:spcBef>
              <a:spcAft>
                <a:spcPts val="0"/>
              </a:spcAft>
              <a:buNone/>
            </a:pPr>
            <a:r>
              <a:t/>
            </a:r>
            <a:endParaRPr b="0" i="0" sz="3661" u="none" cap="none" strike="noStrike">
              <a:solidFill>
                <a:srgbClr val="022033"/>
              </a:solidFill>
              <a:latin typeface="Tenor Sans"/>
              <a:ea typeface="Tenor Sans"/>
              <a:cs typeface="Tenor Sans"/>
              <a:sym typeface="Tenor Sans"/>
            </a:endParaRPr>
          </a:p>
        </p:txBody>
      </p:sp>
      <p:sp>
        <p:nvSpPr>
          <p:cNvPr id="251" name="Google Shape;251;p13"/>
          <p:cNvSpPr txBox="1"/>
          <p:nvPr/>
        </p:nvSpPr>
        <p:spPr>
          <a:xfrm>
            <a:off x="853750" y="577942"/>
            <a:ext cx="13902655" cy="513778"/>
          </a:xfrm>
          <a:prstGeom prst="rect">
            <a:avLst/>
          </a:prstGeom>
          <a:noFill/>
          <a:ln>
            <a:noFill/>
          </a:ln>
        </p:spPr>
        <p:txBody>
          <a:bodyPr anchorCtr="0" anchor="t" bIns="0" lIns="0" spcFirstLastPara="1" rIns="0" wrap="square" tIns="0">
            <a:spAutoFit/>
          </a:bodyPr>
          <a:lstStyle/>
          <a:p>
            <a:pPr indent="0" lvl="0" marL="0" marR="0" rtl="0" algn="l">
              <a:lnSpc>
                <a:spcPct val="92000"/>
              </a:lnSpc>
              <a:spcBef>
                <a:spcPts val="0"/>
              </a:spcBef>
              <a:spcAft>
                <a:spcPts val="0"/>
              </a:spcAft>
              <a:buNone/>
            </a:pPr>
            <a:r>
              <a:rPr b="0" i="0" lang="en-US" sz="4000" u="none" cap="none" strike="noStrike">
                <a:solidFill>
                  <a:srgbClr val="022033"/>
                </a:solidFill>
                <a:latin typeface="Arial"/>
                <a:ea typeface="Arial"/>
                <a:cs typeface="Arial"/>
                <a:sym typeface="Arial"/>
              </a:rPr>
              <a:t>ÁREAS CLAVE EN EL ANÁLISIS</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5" name="Shape 255"/>
        <p:cNvGrpSpPr/>
        <p:nvPr/>
      </p:nvGrpSpPr>
      <p:grpSpPr>
        <a:xfrm>
          <a:off x="0" y="0"/>
          <a:ext cx="0" cy="0"/>
          <a:chOff x="0" y="0"/>
          <a:chExt cx="0" cy="0"/>
        </a:xfrm>
      </p:grpSpPr>
      <p:grpSp>
        <p:nvGrpSpPr>
          <p:cNvPr id="256" name="Google Shape;256;p14"/>
          <p:cNvGrpSpPr/>
          <p:nvPr/>
        </p:nvGrpSpPr>
        <p:grpSpPr>
          <a:xfrm>
            <a:off x="-2603406" y="2751568"/>
            <a:ext cx="4378481" cy="4378481"/>
            <a:chOff x="0" y="0"/>
            <a:chExt cx="812800" cy="812800"/>
          </a:xfrm>
        </p:grpSpPr>
        <p:sp>
          <p:nvSpPr>
            <p:cNvPr id="257" name="Google Shape;257;p14"/>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6B5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 name="Google Shape;258;p14"/>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259" name="Google Shape;259;p14"/>
          <p:cNvGrpSpPr/>
          <p:nvPr/>
        </p:nvGrpSpPr>
        <p:grpSpPr>
          <a:xfrm>
            <a:off x="3954263" y="8646204"/>
            <a:ext cx="971055" cy="1079531"/>
            <a:chOff x="0" y="-38100"/>
            <a:chExt cx="255751" cy="284321"/>
          </a:xfrm>
        </p:grpSpPr>
        <p:sp>
          <p:nvSpPr>
            <p:cNvPr id="260" name="Google Shape;260;p14"/>
            <p:cNvSpPr/>
            <p:nvPr/>
          </p:nvSpPr>
          <p:spPr>
            <a:xfrm>
              <a:off x="0" y="0"/>
              <a:ext cx="255751" cy="246221"/>
            </a:xfrm>
            <a:custGeom>
              <a:rect b="b" l="l" r="r" t="t"/>
              <a:pathLst>
                <a:path extrusionOk="0" h="246221" w="255751">
                  <a:moveTo>
                    <a:pt x="123111" y="0"/>
                  </a:moveTo>
                  <a:lnTo>
                    <a:pt x="132641" y="0"/>
                  </a:lnTo>
                  <a:cubicBezTo>
                    <a:pt x="200633" y="0"/>
                    <a:pt x="255751" y="55118"/>
                    <a:pt x="255751" y="123111"/>
                  </a:cubicBezTo>
                  <a:lnTo>
                    <a:pt x="255751" y="123111"/>
                  </a:lnTo>
                  <a:cubicBezTo>
                    <a:pt x="255751" y="155761"/>
                    <a:pt x="242781" y="187075"/>
                    <a:pt x="219693" y="210163"/>
                  </a:cubicBezTo>
                  <a:cubicBezTo>
                    <a:pt x="196605" y="233251"/>
                    <a:pt x="165292" y="246221"/>
                    <a:pt x="132641" y="246221"/>
                  </a:cubicBezTo>
                  <a:lnTo>
                    <a:pt x="123111" y="246221"/>
                  </a:lnTo>
                  <a:cubicBezTo>
                    <a:pt x="55118" y="246221"/>
                    <a:pt x="0" y="191103"/>
                    <a:pt x="0" y="123111"/>
                  </a:cubicBezTo>
                  <a:lnTo>
                    <a:pt x="0" y="123111"/>
                  </a:lnTo>
                  <a:cubicBezTo>
                    <a:pt x="0" y="55118"/>
                    <a:pt x="55118" y="0"/>
                    <a:pt x="123111" y="0"/>
                  </a:cubicBezTo>
                  <a:close/>
                </a:path>
              </a:pathLst>
            </a:custGeom>
            <a:solidFill>
              <a:srgbClr val="568AB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 name="Google Shape;261;p14"/>
            <p:cNvSpPr txBox="1"/>
            <p:nvPr/>
          </p:nvSpPr>
          <p:spPr>
            <a:xfrm>
              <a:off x="0" y="-38100"/>
              <a:ext cx="255751" cy="284321"/>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262" name="Google Shape;262;p14"/>
          <p:cNvSpPr txBox="1"/>
          <p:nvPr/>
        </p:nvSpPr>
        <p:spPr>
          <a:xfrm>
            <a:off x="1028700" y="1569497"/>
            <a:ext cx="15915203" cy="6070782"/>
          </a:xfrm>
          <a:prstGeom prst="rect">
            <a:avLst/>
          </a:prstGeom>
          <a:noFill/>
          <a:ln>
            <a:noFill/>
          </a:ln>
        </p:spPr>
        <p:txBody>
          <a:bodyPr anchorCtr="0" anchor="t" bIns="0" lIns="0" spcFirstLastPara="1" rIns="0" wrap="square" tIns="0">
            <a:spAutoFit/>
          </a:bodyPr>
          <a:lstStyle/>
          <a:p>
            <a:pPr indent="0" lvl="0" marL="0" marR="0" rtl="0" algn="just">
              <a:lnSpc>
                <a:spcPct val="139992"/>
              </a:lnSpc>
              <a:spcBef>
                <a:spcPts val="0"/>
              </a:spcBef>
              <a:spcAft>
                <a:spcPts val="0"/>
              </a:spcAft>
              <a:buNone/>
            </a:pPr>
            <a:r>
              <a:rPr b="0" i="0" lang="en-US" sz="5061" u="none" cap="none" strike="noStrike">
                <a:solidFill>
                  <a:srgbClr val="022033"/>
                </a:solidFill>
                <a:latin typeface="Tenor Sans"/>
                <a:ea typeface="Tenor Sans"/>
                <a:cs typeface="Tenor Sans"/>
                <a:sym typeface="Tenor Sans"/>
              </a:rPr>
              <a:t>Rendimiento y eficiencia</a:t>
            </a:r>
            <a:endParaRPr/>
          </a:p>
          <a:p>
            <a:pPr indent="0" lvl="0" marL="0" marR="0" rtl="0" algn="just">
              <a:lnSpc>
                <a:spcPct val="101284"/>
              </a:lnSpc>
              <a:spcBef>
                <a:spcPts val="0"/>
              </a:spcBef>
              <a:spcAft>
                <a:spcPts val="0"/>
              </a:spcAft>
              <a:buNone/>
            </a:pPr>
            <a:r>
              <a:t/>
            </a:r>
            <a:endParaRPr b="0" i="0" sz="5061" u="none" cap="none" strike="noStrike">
              <a:solidFill>
                <a:srgbClr val="022033"/>
              </a:solidFill>
              <a:latin typeface="Tenor Sans"/>
              <a:ea typeface="Tenor Sans"/>
              <a:cs typeface="Tenor Sans"/>
              <a:sym typeface="Tenor Sans"/>
            </a:endParaRPr>
          </a:p>
          <a:p>
            <a:pPr indent="0" lvl="0" marL="0" marR="0" rtl="0" algn="just">
              <a:lnSpc>
                <a:spcPct val="140016"/>
              </a:lnSpc>
              <a:spcBef>
                <a:spcPts val="0"/>
              </a:spcBef>
              <a:spcAft>
                <a:spcPts val="0"/>
              </a:spcAft>
              <a:buNone/>
            </a:pPr>
            <a:r>
              <a:rPr b="0" i="0" lang="en-US" sz="3661" u="none" cap="none" strike="noStrike">
                <a:solidFill>
                  <a:srgbClr val="022033"/>
                </a:solidFill>
                <a:latin typeface="Tenor Sans"/>
                <a:ea typeface="Tenor Sans"/>
                <a:cs typeface="Tenor Sans"/>
                <a:sym typeface="Tenor Sans"/>
              </a:rPr>
              <a:t>Complejidad de las instrucciones</a:t>
            </a:r>
            <a:endParaRPr/>
          </a:p>
          <a:p>
            <a:pPr indent="0" lvl="0" marL="0" marR="0" rtl="0" algn="just">
              <a:lnSpc>
                <a:spcPct val="140016"/>
              </a:lnSpc>
              <a:spcBef>
                <a:spcPts val="0"/>
              </a:spcBef>
              <a:spcAft>
                <a:spcPts val="0"/>
              </a:spcAft>
              <a:buNone/>
            </a:pPr>
            <a:r>
              <a:t/>
            </a:r>
            <a:endParaRPr b="0" i="0" sz="3661" u="none" cap="none" strike="noStrike">
              <a:solidFill>
                <a:srgbClr val="022033"/>
              </a:solidFill>
              <a:latin typeface="Tenor Sans"/>
              <a:ea typeface="Tenor Sans"/>
              <a:cs typeface="Tenor Sans"/>
              <a:sym typeface="Tenor Sans"/>
            </a:endParaRPr>
          </a:p>
          <a:p>
            <a:pPr indent="0" lvl="0" marL="0" marR="0" rtl="0" algn="just">
              <a:lnSpc>
                <a:spcPct val="140016"/>
              </a:lnSpc>
              <a:spcBef>
                <a:spcPts val="0"/>
              </a:spcBef>
              <a:spcAft>
                <a:spcPts val="0"/>
              </a:spcAft>
              <a:buNone/>
            </a:pPr>
            <a:r>
              <a:rPr b="0" i="0" lang="en-US" sz="3661" u="none" cap="none" strike="noStrike">
                <a:solidFill>
                  <a:srgbClr val="022033"/>
                </a:solidFill>
                <a:latin typeface="Tenor Sans"/>
                <a:ea typeface="Tenor Sans"/>
                <a:cs typeface="Tenor Sans"/>
                <a:sym typeface="Tenor Sans"/>
              </a:rPr>
              <a:t>Instrucciones más complejas pueden realizar tareas más complejas en menos pasos, lo que puede reducir la cantidad de código necesario, pero también puede introducir complejidad en la decodificación y ejecución.</a:t>
            </a:r>
            <a:endParaRPr/>
          </a:p>
          <a:p>
            <a:pPr indent="0" lvl="0" marL="0" marR="0" rtl="0" algn="just">
              <a:lnSpc>
                <a:spcPct val="140016"/>
              </a:lnSpc>
              <a:spcBef>
                <a:spcPts val="0"/>
              </a:spcBef>
              <a:spcAft>
                <a:spcPts val="0"/>
              </a:spcAft>
              <a:buNone/>
            </a:pPr>
            <a:r>
              <a:t/>
            </a:r>
            <a:endParaRPr b="0" i="0" sz="3661" u="none" cap="none" strike="noStrike">
              <a:solidFill>
                <a:srgbClr val="022033"/>
              </a:solidFill>
              <a:latin typeface="Tenor Sans"/>
              <a:ea typeface="Tenor Sans"/>
              <a:cs typeface="Tenor Sans"/>
              <a:sym typeface="Tenor Sans"/>
            </a:endParaRPr>
          </a:p>
        </p:txBody>
      </p:sp>
      <p:sp>
        <p:nvSpPr>
          <p:cNvPr id="263" name="Google Shape;263;p14"/>
          <p:cNvSpPr txBox="1"/>
          <p:nvPr/>
        </p:nvSpPr>
        <p:spPr>
          <a:xfrm>
            <a:off x="853750" y="577942"/>
            <a:ext cx="13902655" cy="513778"/>
          </a:xfrm>
          <a:prstGeom prst="rect">
            <a:avLst/>
          </a:prstGeom>
          <a:noFill/>
          <a:ln>
            <a:noFill/>
          </a:ln>
        </p:spPr>
        <p:txBody>
          <a:bodyPr anchorCtr="0" anchor="t" bIns="0" lIns="0" spcFirstLastPara="1" rIns="0" wrap="square" tIns="0">
            <a:spAutoFit/>
          </a:bodyPr>
          <a:lstStyle/>
          <a:p>
            <a:pPr indent="0" lvl="0" marL="0" marR="0" rtl="0" algn="l">
              <a:lnSpc>
                <a:spcPct val="92000"/>
              </a:lnSpc>
              <a:spcBef>
                <a:spcPts val="0"/>
              </a:spcBef>
              <a:spcAft>
                <a:spcPts val="0"/>
              </a:spcAft>
              <a:buNone/>
            </a:pPr>
            <a:r>
              <a:rPr b="0" i="0" lang="en-US" sz="4000" u="none" cap="none" strike="noStrike">
                <a:solidFill>
                  <a:srgbClr val="022033"/>
                </a:solidFill>
                <a:latin typeface="Arial"/>
                <a:ea typeface="Arial"/>
                <a:cs typeface="Arial"/>
                <a:sym typeface="Arial"/>
              </a:rPr>
              <a:t>ÁREAS CLAVE EN EL ANÁLISIS</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7" name="Shape 267"/>
        <p:cNvGrpSpPr/>
        <p:nvPr/>
      </p:nvGrpSpPr>
      <p:grpSpPr>
        <a:xfrm>
          <a:off x="0" y="0"/>
          <a:ext cx="0" cy="0"/>
          <a:chOff x="0" y="0"/>
          <a:chExt cx="0" cy="0"/>
        </a:xfrm>
      </p:grpSpPr>
      <p:grpSp>
        <p:nvGrpSpPr>
          <p:cNvPr id="268" name="Google Shape;268;p15"/>
          <p:cNvGrpSpPr/>
          <p:nvPr/>
        </p:nvGrpSpPr>
        <p:grpSpPr>
          <a:xfrm>
            <a:off x="-2603406" y="2751568"/>
            <a:ext cx="4378481" cy="4378481"/>
            <a:chOff x="0" y="0"/>
            <a:chExt cx="812800" cy="812800"/>
          </a:xfrm>
        </p:grpSpPr>
        <p:sp>
          <p:nvSpPr>
            <p:cNvPr id="269" name="Google Shape;269;p15"/>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6B5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 name="Google Shape;270;p15"/>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271" name="Google Shape;271;p15"/>
          <p:cNvGrpSpPr/>
          <p:nvPr/>
        </p:nvGrpSpPr>
        <p:grpSpPr>
          <a:xfrm>
            <a:off x="3954263" y="8646204"/>
            <a:ext cx="971055" cy="1079531"/>
            <a:chOff x="0" y="-38100"/>
            <a:chExt cx="255751" cy="284321"/>
          </a:xfrm>
        </p:grpSpPr>
        <p:sp>
          <p:nvSpPr>
            <p:cNvPr id="272" name="Google Shape;272;p15"/>
            <p:cNvSpPr/>
            <p:nvPr/>
          </p:nvSpPr>
          <p:spPr>
            <a:xfrm>
              <a:off x="0" y="0"/>
              <a:ext cx="255751" cy="246221"/>
            </a:xfrm>
            <a:custGeom>
              <a:rect b="b" l="l" r="r" t="t"/>
              <a:pathLst>
                <a:path extrusionOk="0" h="246221" w="255751">
                  <a:moveTo>
                    <a:pt x="123111" y="0"/>
                  </a:moveTo>
                  <a:lnTo>
                    <a:pt x="132641" y="0"/>
                  </a:lnTo>
                  <a:cubicBezTo>
                    <a:pt x="200633" y="0"/>
                    <a:pt x="255751" y="55118"/>
                    <a:pt x="255751" y="123111"/>
                  </a:cubicBezTo>
                  <a:lnTo>
                    <a:pt x="255751" y="123111"/>
                  </a:lnTo>
                  <a:cubicBezTo>
                    <a:pt x="255751" y="155761"/>
                    <a:pt x="242781" y="187075"/>
                    <a:pt x="219693" y="210163"/>
                  </a:cubicBezTo>
                  <a:cubicBezTo>
                    <a:pt x="196605" y="233251"/>
                    <a:pt x="165292" y="246221"/>
                    <a:pt x="132641" y="246221"/>
                  </a:cubicBezTo>
                  <a:lnTo>
                    <a:pt x="123111" y="246221"/>
                  </a:lnTo>
                  <a:cubicBezTo>
                    <a:pt x="55118" y="246221"/>
                    <a:pt x="0" y="191103"/>
                    <a:pt x="0" y="123111"/>
                  </a:cubicBezTo>
                  <a:lnTo>
                    <a:pt x="0" y="123111"/>
                  </a:lnTo>
                  <a:cubicBezTo>
                    <a:pt x="0" y="55118"/>
                    <a:pt x="55118" y="0"/>
                    <a:pt x="123111" y="0"/>
                  </a:cubicBezTo>
                  <a:close/>
                </a:path>
              </a:pathLst>
            </a:custGeom>
            <a:solidFill>
              <a:srgbClr val="568AB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 name="Google Shape;273;p15"/>
            <p:cNvSpPr txBox="1"/>
            <p:nvPr/>
          </p:nvSpPr>
          <p:spPr>
            <a:xfrm>
              <a:off x="0" y="-38100"/>
              <a:ext cx="255751" cy="284321"/>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274" name="Google Shape;274;p15"/>
          <p:cNvSpPr txBox="1"/>
          <p:nvPr/>
        </p:nvSpPr>
        <p:spPr>
          <a:xfrm>
            <a:off x="1028700" y="1534507"/>
            <a:ext cx="15915203" cy="8013801"/>
          </a:xfrm>
          <a:prstGeom prst="rect">
            <a:avLst/>
          </a:prstGeom>
          <a:noFill/>
          <a:ln>
            <a:noFill/>
          </a:ln>
        </p:spPr>
        <p:txBody>
          <a:bodyPr anchorCtr="0" anchor="t" bIns="0" lIns="0" spcFirstLastPara="1" rIns="0" wrap="square" tIns="0">
            <a:spAutoFit/>
          </a:bodyPr>
          <a:lstStyle/>
          <a:p>
            <a:pPr indent="0" lvl="0" marL="0" marR="0" rtl="0" algn="just">
              <a:lnSpc>
                <a:spcPct val="139992"/>
              </a:lnSpc>
              <a:spcBef>
                <a:spcPts val="0"/>
              </a:spcBef>
              <a:spcAft>
                <a:spcPts val="0"/>
              </a:spcAft>
              <a:buNone/>
            </a:pPr>
            <a:r>
              <a:rPr b="0" i="0" lang="en-US" sz="5061" u="none" cap="none" strike="noStrike">
                <a:solidFill>
                  <a:srgbClr val="022033"/>
                </a:solidFill>
                <a:latin typeface="Tenor Sans"/>
                <a:ea typeface="Tenor Sans"/>
                <a:cs typeface="Tenor Sans"/>
                <a:sym typeface="Tenor Sans"/>
              </a:rPr>
              <a:t>Impacto en la programación</a:t>
            </a:r>
            <a:endParaRPr/>
          </a:p>
          <a:p>
            <a:pPr indent="0" lvl="0" marL="0" marR="0" rtl="0" algn="just">
              <a:lnSpc>
                <a:spcPct val="101284"/>
              </a:lnSpc>
              <a:spcBef>
                <a:spcPts val="0"/>
              </a:spcBef>
              <a:spcAft>
                <a:spcPts val="0"/>
              </a:spcAft>
              <a:buNone/>
            </a:pPr>
            <a:r>
              <a:t/>
            </a:r>
            <a:endParaRPr b="0" i="0" sz="5061" u="none" cap="none" strike="noStrike">
              <a:solidFill>
                <a:srgbClr val="022033"/>
              </a:solidFill>
              <a:latin typeface="Tenor Sans"/>
              <a:ea typeface="Tenor Sans"/>
              <a:cs typeface="Tenor Sans"/>
              <a:sym typeface="Tenor Sans"/>
            </a:endParaRPr>
          </a:p>
          <a:p>
            <a:pPr indent="0" lvl="0" marL="0" marR="0" rtl="0" algn="just">
              <a:lnSpc>
                <a:spcPct val="140016"/>
              </a:lnSpc>
              <a:spcBef>
                <a:spcPts val="0"/>
              </a:spcBef>
              <a:spcAft>
                <a:spcPts val="0"/>
              </a:spcAft>
              <a:buNone/>
            </a:pPr>
            <a:r>
              <a:rPr b="0" i="0" lang="en-US" sz="3661" u="none" cap="none" strike="noStrike">
                <a:solidFill>
                  <a:srgbClr val="022033"/>
                </a:solidFill>
                <a:latin typeface="Tenor Sans"/>
                <a:ea typeface="Tenor Sans"/>
                <a:cs typeface="Tenor Sans"/>
                <a:sym typeface="Tenor Sans"/>
              </a:rPr>
              <a:t>Programación a bajo nivel</a:t>
            </a:r>
            <a:endParaRPr/>
          </a:p>
          <a:p>
            <a:pPr indent="0" lvl="0" marL="0" marR="0" rtl="0" algn="just">
              <a:lnSpc>
                <a:spcPct val="140016"/>
              </a:lnSpc>
              <a:spcBef>
                <a:spcPts val="0"/>
              </a:spcBef>
              <a:spcAft>
                <a:spcPts val="0"/>
              </a:spcAft>
              <a:buNone/>
            </a:pPr>
            <a:r>
              <a:t/>
            </a:r>
            <a:endParaRPr b="0" i="0" sz="3661" u="none" cap="none" strike="noStrike">
              <a:solidFill>
                <a:srgbClr val="022033"/>
              </a:solidFill>
              <a:latin typeface="Tenor Sans"/>
              <a:ea typeface="Tenor Sans"/>
              <a:cs typeface="Tenor Sans"/>
              <a:sym typeface="Tenor Sans"/>
            </a:endParaRPr>
          </a:p>
          <a:p>
            <a:pPr indent="0" lvl="0" marL="0" marR="0" rtl="0" algn="just">
              <a:lnSpc>
                <a:spcPct val="140016"/>
              </a:lnSpc>
              <a:spcBef>
                <a:spcPts val="0"/>
              </a:spcBef>
              <a:spcAft>
                <a:spcPts val="0"/>
              </a:spcAft>
              <a:buNone/>
            </a:pPr>
            <a:r>
              <a:rPr b="0" i="0" lang="en-US" sz="3661" u="none" cap="none" strike="noStrike">
                <a:solidFill>
                  <a:srgbClr val="022033"/>
                </a:solidFill>
                <a:latin typeface="Tenor Sans"/>
                <a:ea typeface="Tenor Sans"/>
                <a:cs typeface="Tenor Sans"/>
                <a:sym typeface="Tenor Sans"/>
              </a:rPr>
              <a:t>El conjunto de instrucciones influye directamente en cómo los programadores deben escribir su código. En un sistema RISC, los programadores deben optimizar el código de manera que utilicen más instrucciones simples. </a:t>
            </a:r>
            <a:endParaRPr/>
          </a:p>
          <a:p>
            <a:pPr indent="0" lvl="0" marL="0" marR="0" rtl="0" algn="just">
              <a:lnSpc>
                <a:spcPct val="140016"/>
              </a:lnSpc>
              <a:spcBef>
                <a:spcPts val="0"/>
              </a:spcBef>
              <a:spcAft>
                <a:spcPts val="0"/>
              </a:spcAft>
              <a:buNone/>
            </a:pPr>
            <a:r>
              <a:t/>
            </a:r>
            <a:endParaRPr b="0" i="0" sz="3661" u="none" cap="none" strike="noStrike">
              <a:solidFill>
                <a:srgbClr val="022033"/>
              </a:solidFill>
              <a:latin typeface="Tenor Sans"/>
              <a:ea typeface="Tenor Sans"/>
              <a:cs typeface="Tenor Sans"/>
              <a:sym typeface="Tenor Sans"/>
            </a:endParaRPr>
          </a:p>
          <a:p>
            <a:pPr indent="0" lvl="0" marL="0" marR="0" rtl="0" algn="just">
              <a:lnSpc>
                <a:spcPct val="140016"/>
              </a:lnSpc>
              <a:spcBef>
                <a:spcPts val="0"/>
              </a:spcBef>
              <a:spcAft>
                <a:spcPts val="0"/>
              </a:spcAft>
              <a:buNone/>
            </a:pPr>
            <a:r>
              <a:rPr b="0" i="0" lang="en-US" sz="3661" u="none" cap="none" strike="noStrike">
                <a:solidFill>
                  <a:srgbClr val="022033"/>
                </a:solidFill>
                <a:latin typeface="Tenor Sans"/>
                <a:ea typeface="Tenor Sans"/>
                <a:cs typeface="Tenor Sans"/>
                <a:sym typeface="Tenor Sans"/>
              </a:rPr>
              <a:t>En un sistema CISC, el código puede ser más corto, pero puede ser más difícil de optimizar para obtener un alto rendimiento.</a:t>
            </a:r>
            <a:endParaRPr/>
          </a:p>
        </p:txBody>
      </p:sp>
      <p:sp>
        <p:nvSpPr>
          <p:cNvPr id="275" name="Google Shape;275;p15"/>
          <p:cNvSpPr txBox="1"/>
          <p:nvPr/>
        </p:nvSpPr>
        <p:spPr>
          <a:xfrm>
            <a:off x="853750" y="577942"/>
            <a:ext cx="13902655" cy="513778"/>
          </a:xfrm>
          <a:prstGeom prst="rect">
            <a:avLst/>
          </a:prstGeom>
          <a:noFill/>
          <a:ln>
            <a:noFill/>
          </a:ln>
        </p:spPr>
        <p:txBody>
          <a:bodyPr anchorCtr="0" anchor="t" bIns="0" lIns="0" spcFirstLastPara="1" rIns="0" wrap="square" tIns="0">
            <a:spAutoFit/>
          </a:bodyPr>
          <a:lstStyle/>
          <a:p>
            <a:pPr indent="0" lvl="0" marL="0" marR="0" rtl="0" algn="l">
              <a:lnSpc>
                <a:spcPct val="92000"/>
              </a:lnSpc>
              <a:spcBef>
                <a:spcPts val="0"/>
              </a:spcBef>
              <a:spcAft>
                <a:spcPts val="0"/>
              </a:spcAft>
              <a:buNone/>
            </a:pPr>
            <a:r>
              <a:rPr b="0" i="0" lang="en-US" sz="4000" u="none" cap="none" strike="noStrike">
                <a:solidFill>
                  <a:srgbClr val="022033"/>
                </a:solidFill>
                <a:latin typeface="Arial"/>
                <a:ea typeface="Arial"/>
                <a:cs typeface="Arial"/>
                <a:sym typeface="Arial"/>
              </a:rPr>
              <a:t>ÁREAS CLAVE EN EL ANÁLISIS</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9" name="Shape 279"/>
        <p:cNvGrpSpPr/>
        <p:nvPr/>
      </p:nvGrpSpPr>
      <p:grpSpPr>
        <a:xfrm>
          <a:off x="0" y="0"/>
          <a:ext cx="0" cy="0"/>
          <a:chOff x="0" y="0"/>
          <a:chExt cx="0" cy="0"/>
        </a:xfrm>
      </p:grpSpPr>
      <p:grpSp>
        <p:nvGrpSpPr>
          <p:cNvPr id="280" name="Google Shape;280;p16"/>
          <p:cNvGrpSpPr/>
          <p:nvPr/>
        </p:nvGrpSpPr>
        <p:grpSpPr>
          <a:xfrm>
            <a:off x="-2603406" y="2751568"/>
            <a:ext cx="4378481" cy="4378481"/>
            <a:chOff x="0" y="0"/>
            <a:chExt cx="812800" cy="812800"/>
          </a:xfrm>
        </p:grpSpPr>
        <p:sp>
          <p:nvSpPr>
            <p:cNvPr id="281" name="Google Shape;281;p16"/>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6B5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 name="Google Shape;282;p16"/>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283" name="Google Shape;283;p16"/>
          <p:cNvGrpSpPr/>
          <p:nvPr/>
        </p:nvGrpSpPr>
        <p:grpSpPr>
          <a:xfrm>
            <a:off x="3954263" y="8646204"/>
            <a:ext cx="971055" cy="1079531"/>
            <a:chOff x="0" y="-38100"/>
            <a:chExt cx="255751" cy="284321"/>
          </a:xfrm>
        </p:grpSpPr>
        <p:sp>
          <p:nvSpPr>
            <p:cNvPr id="284" name="Google Shape;284;p16"/>
            <p:cNvSpPr/>
            <p:nvPr/>
          </p:nvSpPr>
          <p:spPr>
            <a:xfrm>
              <a:off x="0" y="0"/>
              <a:ext cx="255751" cy="246221"/>
            </a:xfrm>
            <a:custGeom>
              <a:rect b="b" l="l" r="r" t="t"/>
              <a:pathLst>
                <a:path extrusionOk="0" h="246221" w="255751">
                  <a:moveTo>
                    <a:pt x="123111" y="0"/>
                  </a:moveTo>
                  <a:lnTo>
                    <a:pt x="132641" y="0"/>
                  </a:lnTo>
                  <a:cubicBezTo>
                    <a:pt x="200633" y="0"/>
                    <a:pt x="255751" y="55118"/>
                    <a:pt x="255751" y="123111"/>
                  </a:cubicBezTo>
                  <a:lnTo>
                    <a:pt x="255751" y="123111"/>
                  </a:lnTo>
                  <a:cubicBezTo>
                    <a:pt x="255751" y="155761"/>
                    <a:pt x="242781" y="187075"/>
                    <a:pt x="219693" y="210163"/>
                  </a:cubicBezTo>
                  <a:cubicBezTo>
                    <a:pt x="196605" y="233251"/>
                    <a:pt x="165292" y="246221"/>
                    <a:pt x="132641" y="246221"/>
                  </a:cubicBezTo>
                  <a:lnTo>
                    <a:pt x="123111" y="246221"/>
                  </a:lnTo>
                  <a:cubicBezTo>
                    <a:pt x="55118" y="246221"/>
                    <a:pt x="0" y="191103"/>
                    <a:pt x="0" y="123111"/>
                  </a:cubicBezTo>
                  <a:lnTo>
                    <a:pt x="0" y="123111"/>
                  </a:lnTo>
                  <a:cubicBezTo>
                    <a:pt x="0" y="55118"/>
                    <a:pt x="55118" y="0"/>
                    <a:pt x="123111" y="0"/>
                  </a:cubicBezTo>
                  <a:close/>
                </a:path>
              </a:pathLst>
            </a:custGeom>
            <a:solidFill>
              <a:srgbClr val="568AB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 name="Google Shape;285;p16"/>
            <p:cNvSpPr txBox="1"/>
            <p:nvPr/>
          </p:nvSpPr>
          <p:spPr>
            <a:xfrm>
              <a:off x="0" y="-38100"/>
              <a:ext cx="255751" cy="284321"/>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286" name="Google Shape;286;p16"/>
          <p:cNvSpPr txBox="1"/>
          <p:nvPr/>
        </p:nvSpPr>
        <p:spPr>
          <a:xfrm>
            <a:off x="1028700" y="1534507"/>
            <a:ext cx="15915203" cy="6070782"/>
          </a:xfrm>
          <a:prstGeom prst="rect">
            <a:avLst/>
          </a:prstGeom>
          <a:noFill/>
          <a:ln>
            <a:noFill/>
          </a:ln>
        </p:spPr>
        <p:txBody>
          <a:bodyPr anchorCtr="0" anchor="t" bIns="0" lIns="0" spcFirstLastPara="1" rIns="0" wrap="square" tIns="0">
            <a:spAutoFit/>
          </a:bodyPr>
          <a:lstStyle/>
          <a:p>
            <a:pPr indent="0" lvl="0" marL="0" marR="0" rtl="0" algn="just">
              <a:lnSpc>
                <a:spcPct val="139992"/>
              </a:lnSpc>
              <a:spcBef>
                <a:spcPts val="0"/>
              </a:spcBef>
              <a:spcAft>
                <a:spcPts val="0"/>
              </a:spcAft>
              <a:buNone/>
            </a:pPr>
            <a:r>
              <a:rPr b="0" i="0" lang="en-US" sz="5061" u="none" cap="none" strike="noStrike">
                <a:solidFill>
                  <a:srgbClr val="022033"/>
                </a:solidFill>
                <a:latin typeface="Tenor Sans"/>
                <a:ea typeface="Tenor Sans"/>
                <a:cs typeface="Tenor Sans"/>
                <a:sym typeface="Tenor Sans"/>
              </a:rPr>
              <a:t>Impacto en la programación</a:t>
            </a:r>
            <a:endParaRPr/>
          </a:p>
          <a:p>
            <a:pPr indent="0" lvl="0" marL="0" marR="0" rtl="0" algn="just">
              <a:lnSpc>
                <a:spcPct val="101284"/>
              </a:lnSpc>
              <a:spcBef>
                <a:spcPts val="0"/>
              </a:spcBef>
              <a:spcAft>
                <a:spcPts val="0"/>
              </a:spcAft>
              <a:buNone/>
            </a:pPr>
            <a:r>
              <a:t/>
            </a:r>
            <a:endParaRPr b="0" i="0" sz="5061" u="none" cap="none" strike="noStrike">
              <a:solidFill>
                <a:srgbClr val="022033"/>
              </a:solidFill>
              <a:latin typeface="Tenor Sans"/>
              <a:ea typeface="Tenor Sans"/>
              <a:cs typeface="Tenor Sans"/>
              <a:sym typeface="Tenor Sans"/>
            </a:endParaRPr>
          </a:p>
          <a:p>
            <a:pPr indent="0" lvl="0" marL="0" marR="0" rtl="0" algn="just">
              <a:lnSpc>
                <a:spcPct val="140016"/>
              </a:lnSpc>
              <a:spcBef>
                <a:spcPts val="0"/>
              </a:spcBef>
              <a:spcAft>
                <a:spcPts val="0"/>
              </a:spcAft>
              <a:buNone/>
            </a:pPr>
            <a:r>
              <a:rPr b="0" i="0" lang="en-US" sz="3661" u="none" cap="none" strike="noStrike">
                <a:solidFill>
                  <a:srgbClr val="022033"/>
                </a:solidFill>
                <a:latin typeface="Tenor Sans"/>
                <a:ea typeface="Tenor Sans"/>
                <a:cs typeface="Tenor Sans"/>
                <a:sym typeface="Tenor Sans"/>
              </a:rPr>
              <a:t>Uso de memoria</a:t>
            </a:r>
            <a:endParaRPr/>
          </a:p>
          <a:p>
            <a:pPr indent="0" lvl="0" marL="0" marR="0" rtl="0" algn="just">
              <a:lnSpc>
                <a:spcPct val="140016"/>
              </a:lnSpc>
              <a:spcBef>
                <a:spcPts val="0"/>
              </a:spcBef>
              <a:spcAft>
                <a:spcPts val="0"/>
              </a:spcAft>
              <a:buNone/>
            </a:pPr>
            <a:r>
              <a:t/>
            </a:r>
            <a:endParaRPr b="0" i="0" sz="3661" u="none" cap="none" strike="noStrike">
              <a:solidFill>
                <a:srgbClr val="022033"/>
              </a:solidFill>
              <a:latin typeface="Tenor Sans"/>
              <a:ea typeface="Tenor Sans"/>
              <a:cs typeface="Tenor Sans"/>
              <a:sym typeface="Tenor Sans"/>
            </a:endParaRPr>
          </a:p>
          <a:p>
            <a:pPr indent="0" lvl="0" marL="0" marR="0" rtl="0" algn="just">
              <a:lnSpc>
                <a:spcPct val="140016"/>
              </a:lnSpc>
              <a:spcBef>
                <a:spcPts val="0"/>
              </a:spcBef>
              <a:spcAft>
                <a:spcPts val="0"/>
              </a:spcAft>
              <a:buNone/>
            </a:pPr>
            <a:r>
              <a:rPr b="0" i="0" lang="en-US" sz="3661" u="none" cap="none" strike="noStrike">
                <a:solidFill>
                  <a:srgbClr val="022033"/>
                </a:solidFill>
                <a:latin typeface="Tenor Sans"/>
                <a:ea typeface="Tenor Sans"/>
                <a:cs typeface="Tenor Sans"/>
                <a:sym typeface="Tenor Sans"/>
              </a:rPr>
              <a:t>En CISC, donde las instrucciones pueden realizar múltiples operaciones, se necesita menos código en memoria para lograr lo mismo que con RISC, pero la decodificación de esas instrucciones puede ser más costosa en términos de ciclos de reloj.</a:t>
            </a:r>
            <a:endParaRPr/>
          </a:p>
        </p:txBody>
      </p:sp>
      <p:sp>
        <p:nvSpPr>
          <p:cNvPr id="287" name="Google Shape;287;p16"/>
          <p:cNvSpPr txBox="1"/>
          <p:nvPr/>
        </p:nvSpPr>
        <p:spPr>
          <a:xfrm>
            <a:off x="853750" y="577942"/>
            <a:ext cx="13902655" cy="513778"/>
          </a:xfrm>
          <a:prstGeom prst="rect">
            <a:avLst/>
          </a:prstGeom>
          <a:noFill/>
          <a:ln>
            <a:noFill/>
          </a:ln>
        </p:spPr>
        <p:txBody>
          <a:bodyPr anchorCtr="0" anchor="t" bIns="0" lIns="0" spcFirstLastPara="1" rIns="0" wrap="square" tIns="0">
            <a:spAutoFit/>
          </a:bodyPr>
          <a:lstStyle/>
          <a:p>
            <a:pPr indent="0" lvl="0" marL="0" marR="0" rtl="0" algn="l">
              <a:lnSpc>
                <a:spcPct val="92000"/>
              </a:lnSpc>
              <a:spcBef>
                <a:spcPts val="0"/>
              </a:spcBef>
              <a:spcAft>
                <a:spcPts val="0"/>
              </a:spcAft>
              <a:buNone/>
            </a:pPr>
            <a:r>
              <a:rPr b="0" i="0" lang="en-US" sz="4000" u="none" cap="none" strike="noStrike">
                <a:solidFill>
                  <a:srgbClr val="022033"/>
                </a:solidFill>
                <a:latin typeface="Arial"/>
                <a:ea typeface="Arial"/>
                <a:cs typeface="Arial"/>
                <a:sym typeface="Arial"/>
              </a:rPr>
              <a:t>ÁREAS CLAVE EN EL ANÁLISIS</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1" name="Shape 291"/>
        <p:cNvGrpSpPr/>
        <p:nvPr/>
      </p:nvGrpSpPr>
      <p:grpSpPr>
        <a:xfrm>
          <a:off x="0" y="0"/>
          <a:ext cx="0" cy="0"/>
          <a:chOff x="0" y="0"/>
          <a:chExt cx="0" cy="0"/>
        </a:xfrm>
      </p:grpSpPr>
      <p:grpSp>
        <p:nvGrpSpPr>
          <p:cNvPr id="292" name="Google Shape;292;p17"/>
          <p:cNvGrpSpPr/>
          <p:nvPr/>
        </p:nvGrpSpPr>
        <p:grpSpPr>
          <a:xfrm>
            <a:off x="-2603406" y="2751568"/>
            <a:ext cx="4378481" cy="4378481"/>
            <a:chOff x="0" y="0"/>
            <a:chExt cx="812800" cy="812800"/>
          </a:xfrm>
        </p:grpSpPr>
        <p:sp>
          <p:nvSpPr>
            <p:cNvPr id="293" name="Google Shape;293;p17"/>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6B5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 name="Google Shape;294;p17"/>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295" name="Google Shape;295;p17"/>
          <p:cNvGrpSpPr/>
          <p:nvPr/>
        </p:nvGrpSpPr>
        <p:grpSpPr>
          <a:xfrm>
            <a:off x="3954263" y="8646204"/>
            <a:ext cx="971055" cy="1079531"/>
            <a:chOff x="0" y="-38100"/>
            <a:chExt cx="255751" cy="284321"/>
          </a:xfrm>
        </p:grpSpPr>
        <p:sp>
          <p:nvSpPr>
            <p:cNvPr id="296" name="Google Shape;296;p17"/>
            <p:cNvSpPr/>
            <p:nvPr/>
          </p:nvSpPr>
          <p:spPr>
            <a:xfrm>
              <a:off x="0" y="0"/>
              <a:ext cx="255751" cy="246221"/>
            </a:xfrm>
            <a:custGeom>
              <a:rect b="b" l="l" r="r" t="t"/>
              <a:pathLst>
                <a:path extrusionOk="0" h="246221" w="255751">
                  <a:moveTo>
                    <a:pt x="123111" y="0"/>
                  </a:moveTo>
                  <a:lnTo>
                    <a:pt x="132641" y="0"/>
                  </a:lnTo>
                  <a:cubicBezTo>
                    <a:pt x="200633" y="0"/>
                    <a:pt x="255751" y="55118"/>
                    <a:pt x="255751" y="123111"/>
                  </a:cubicBezTo>
                  <a:lnTo>
                    <a:pt x="255751" y="123111"/>
                  </a:lnTo>
                  <a:cubicBezTo>
                    <a:pt x="255751" y="155761"/>
                    <a:pt x="242781" y="187075"/>
                    <a:pt x="219693" y="210163"/>
                  </a:cubicBezTo>
                  <a:cubicBezTo>
                    <a:pt x="196605" y="233251"/>
                    <a:pt x="165292" y="246221"/>
                    <a:pt x="132641" y="246221"/>
                  </a:cubicBezTo>
                  <a:lnTo>
                    <a:pt x="123111" y="246221"/>
                  </a:lnTo>
                  <a:cubicBezTo>
                    <a:pt x="55118" y="246221"/>
                    <a:pt x="0" y="191103"/>
                    <a:pt x="0" y="123111"/>
                  </a:cubicBezTo>
                  <a:lnTo>
                    <a:pt x="0" y="123111"/>
                  </a:lnTo>
                  <a:cubicBezTo>
                    <a:pt x="0" y="55118"/>
                    <a:pt x="55118" y="0"/>
                    <a:pt x="123111" y="0"/>
                  </a:cubicBezTo>
                  <a:close/>
                </a:path>
              </a:pathLst>
            </a:custGeom>
            <a:solidFill>
              <a:srgbClr val="568AB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 name="Google Shape;297;p17"/>
            <p:cNvSpPr txBox="1"/>
            <p:nvPr/>
          </p:nvSpPr>
          <p:spPr>
            <a:xfrm>
              <a:off x="0" y="-38100"/>
              <a:ext cx="255751" cy="284321"/>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298" name="Google Shape;298;p17"/>
          <p:cNvSpPr txBox="1"/>
          <p:nvPr/>
        </p:nvSpPr>
        <p:spPr>
          <a:xfrm>
            <a:off x="1028700" y="1706941"/>
            <a:ext cx="15915203" cy="8013801"/>
          </a:xfrm>
          <a:prstGeom prst="rect">
            <a:avLst/>
          </a:prstGeom>
          <a:noFill/>
          <a:ln>
            <a:noFill/>
          </a:ln>
        </p:spPr>
        <p:txBody>
          <a:bodyPr anchorCtr="0" anchor="t" bIns="0" lIns="0" spcFirstLastPara="1" rIns="0" wrap="square" tIns="0">
            <a:spAutoFit/>
          </a:bodyPr>
          <a:lstStyle/>
          <a:p>
            <a:pPr indent="0" lvl="0" marL="0" marR="0" rtl="0" algn="just">
              <a:lnSpc>
                <a:spcPct val="139992"/>
              </a:lnSpc>
              <a:spcBef>
                <a:spcPts val="0"/>
              </a:spcBef>
              <a:spcAft>
                <a:spcPts val="0"/>
              </a:spcAft>
              <a:buNone/>
            </a:pPr>
            <a:r>
              <a:rPr b="0" i="0" lang="en-US" sz="5061" u="none" cap="none" strike="noStrike">
                <a:solidFill>
                  <a:srgbClr val="022033"/>
                </a:solidFill>
                <a:latin typeface="Tenor Sans"/>
                <a:ea typeface="Tenor Sans"/>
                <a:cs typeface="Tenor Sans"/>
                <a:sym typeface="Tenor Sans"/>
              </a:rPr>
              <a:t>Modos de direccionamiento</a:t>
            </a:r>
            <a:endParaRPr/>
          </a:p>
          <a:p>
            <a:pPr indent="0" lvl="0" marL="0" marR="0" rtl="0" algn="just">
              <a:lnSpc>
                <a:spcPct val="101284"/>
              </a:lnSpc>
              <a:spcBef>
                <a:spcPts val="0"/>
              </a:spcBef>
              <a:spcAft>
                <a:spcPts val="0"/>
              </a:spcAft>
              <a:buNone/>
            </a:pPr>
            <a:r>
              <a:t/>
            </a:r>
            <a:endParaRPr b="0" i="0" sz="5061" u="none" cap="none" strike="noStrike">
              <a:solidFill>
                <a:srgbClr val="022033"/>
              </a:solidFill>
              <a:latin typeface="Tenor Sans"/>
              <a:ea typeface="Tenor Sans"/>
              <a:cs typeface="Tenor Sans"/>
              <a:sym typeface="Tenor Sans"/>
            </a:endParaRPr>
          </a:p>
          <a:p>
            <a:pPr indent="0" lvl="0" marL="0" marR="0" rtl="0" algn="just">
              <a:lnSpc>
                <a:spcPct val="140016"/>
              </a:lnSpc>
              <a:spcBef>
                <a:spcPts val="0"/>
              </a:spcBef>
              <a:spcAft>
                <a:spcPts val="0"/>
              </a:spcAft>
              <a:buNone/>
            </a:pPr>
            <a:r>
              <a:rPr b="0" i="0" lang="en-US" sz="3661" u="none" cap="none" strike="noStrike">
                <a:solidFill>
                  <a:srgbClr val="022033"/>
                </a:solidFill>
                <a:latin typeface="Tenor Sans"/>
                <a:ea typeface="Tenor Sans"/>
                <a:cs typeface="Tenor Sans"/>
                <a:sym typeface="Tenor Sans"/>
              </a:rPr>
              <a:t>El modo de direccionamiento utilizado por una ISA determina cómo se accede a la memoria. Modos más complejos, como los indirectos o indexados, pueden ser más lentos porque requieren operaciones adicionales para calcular la dirección de memoria del operando. Modos simples como el inmediato o directo permiten un acceso más rápido a los datos.</a:t>
            </a:r>
            <a:endParaRPr/>
          </a:p>
          <a:p>
            <a:pPr indent="0" lvl="0" marL="0" marR="0" rtl="0" algn="just">
              <a:lnSpc>
                <a:spcPct val="140016"/>
              </a:lnSpc>
              <a:spcBef>
                <a:spcPts val="0"/>
              </a:spcBef>
              <a:spcAft>
                <a:spcPts val="0"/>
              </a:spcAft>
              <a:buNone/>
            </a:pPr>
            <a:r>
              <a:t/>
            </a:r>
            <a:endParaRPr b="0" i="0" sz="3661" u="none" cap="none" strike="noStrike">
              <a:solidFill>
                <a:srgbClr val="022033"/>
              </a:solidFill>
              <a:latin typeface="Tenor Sans"/>
              <a:ea typeface="Tenor Sans"/>
              <a:cs typeface="Tenor Sans"/>
              <a:sym typeface="Tenor Sans"/>
            </a:endParaRPr>
          </a:p>
          <a:p>
            <a:pPr indent="0" lvl="0" marL="0" marR="0" rtl="0" algn="just">
              <a:lnSpc>
                <a:spcPct val="140016"/>
              </a:lnSpc>
              <a:spcBef>
                <a:spcPts val="0"/>
              </a:spcBef>
              <a:spcAft>
                <a:spcPts val="0"/>
              </a:spcAft>
              <a:buNone/>
            </a:pPr>
            <a:r>
              <a:rPr b="0" i="0" lang="en-US" sz="3661" u="none" cap="none" strike="noStrike">
                <a:solidFill>
                  <a:srgbClr val="022033"/>
                </a:solidFill>
                <a:latin typeface="Tenor Sans"/>
                <a:ea typeface="Tenor Sans"/>
                <a:cs typeface="Tenor Sans"/>
                <a:sym typeface="Tenor Sans"/>
              </a:rPr>
              <a:t>El diseño de la ISA debe equilibrar los modos de direccionamiento para proporcionar flexibilidad sin sacrificar la eficiencia.</a:t>
            </a:r>
            <a:endParaRPr/>
          </a:p>
        </p:txBody>
      </p:sp>
      <p:sp>
        <p:nvSpPr>
          <p:cNvPr id="299" name="Google Shape;299;p17"/>
          <p:cNvSpPr txBox="1"/>
          <p:nvPr/>
        </p:nvSpPr>
        <p:spPr>
          <a:xfrm>
            <a:off x="853750" y="577942"/>
            <a:ext cx="13902655" cy="513778"/>
          </a:xfrm>
          <a:prstGeom prst="rect">
            <a:avLst/>
          </a:prstGeom>
          <a:noFill/>
          <a:ln>
            <a:noFill/>
          </a:ln>
        </p:spPr>
        <p:txBody>
          <a:bodyPr anchorCtr="0" anchor="t" bIns="0" lIns="0" spcFirstLastPara="1" rIns="0" wrap="square" tIns="0">
            <a:spAutoFit/>
          </a:bodyPr>
          <a:lstStyle/>
          <a:p>
            <a:pPr indent="0" lvl="0" marL="0" marR="0" rtl="0" algn="l">
              <a:lnSpc>
                <a:spcPct val="92000"/>
              </a:lnSpc>
              <a:spcBef>
                <a:spcPts val="0"/>
              </a:spcBef>
              <a:spcAft>
                <a:spcPts val="0"/>
              </a:spcAft>
              <a:buNone/>
            </a:pPr>
            <a:r>
              <a:rPr b="0" i="0" lang="en-US" sz="4000" u="none" cap="none" strike="noStrike">
                <a:solidFill>
                  <a:srgbClr val="022033"/>
                </a:solidFill>
                <a:latin typeface="Arial"/>
                <a:ea typeface="Arial"/>
                <a:cs typeface="Arial"/>
                <a:sym typeface="Arial"/>
              </a:rPr>
              <a:t>ÁREAS CLAVE EN EL ANÁLISIS</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3" name="Shape 303"/>
        <p:cNvGrpSpPr/>
        <p:nvPr/>
      </p:nvGrpSpPr>
      <p:grpSpPr>
        <a:xfrm>
          <a:off x="0" y="0"/>
          <a:ext cx="0" cy="0"/>
          <a:chOff x="0" y="0"/>
          <a:chExt cx="0" cy="0"/>
        </a:xfrm>
      </p:grpSpPr>
      <p:grpSp>
        <p:nvGrpSpPr>
          <p:cNvPr id="304" name="Google Shape;304;p18"/>
          <p:cNvGrpSpPr/>
          <p:nvPr/>
        </p:nvGrpSpPr>
        <p:grpSpPr>
          <a:xfrm>
            <a:off x="-2603406" y="2751568"/>
            <a:ext cx="4378481" cy="4378481"/>
            <a:chOff x="0" y="0"/>
            <a:chExt cx="812800" cy="812800"/>
          </a:xfrm>
        </p:grpSpPr>
        <p:sp>
          <p:nvSpPr>
            <p:cNvPr id="305" name="Google Shape;305;p18"/>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6B5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 name="Google Shape;306;p18"/>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307" name="Google Shape;307;p18"/>
          <p:cNvGrpSpPr/>
          <p:nvPr/>
        </p:nvGrpSpPr>
        <p:grpSpPr>
          <a:xfrm>
            <a:off x="3954263" y="8646204"/>
            <a:ext cx="971055" cy="1079531"/>
            <a:chOff x="0" y="-38100"/>
            <a:chExt cx="255751" cy="284321"/>
          </a:xfrm>
        </p:grpSpPr>
        <p:sp>
          <p:nvSpPr>
            <p:cNvPr id="308" name="Google Shape;308;p18"/>
            <p:cNvSpPr/>
            <p:nvPr/>
          </p:nvSpPr>
          <p:spPr>
            <a:xfrm>
              <a:off x="0" y="0"/>
              <a:ext cx="255751" cy="246221"/>
            </a:xfrm>
            <a:custGeom>
              <a:rect b="b" l="l" r="r" t="t"/>
              <a:pathLst>
                <a:path extrusionOk="0" h="246221" w="255751">
                  <a:moveTo>
                    <a:pt x="123111" y="0"/>
                  </a:moveTo>
                  <a:lnTo>
                    <a:pt x="132641" y="0"/>
                  </a:lnTo>
                  <a:cubicBezTo>
                    <a:pt x="200633" y="0"/>
                    <a:pt x="255751" y="55118"/>
                    <a:pt x="255751" y="123111"/>
                  </a:cubicBezTo>
                  <a:lnTo>
                    <a:pt x="255751" y="123111"/>
                  </a:lnTo>
                  <a:cubicBezTo>
                    <a:pt x="255751" y="155761"/>
                    <a:pt x="242781" y="187075"/>
                    <a:pt x="219693" y="210163"/>
                  </a:cubicBezTo>
                  <a:cubicBezTo>
                    <a:pt x="196605" y="233251"/>
                    <a:pt x="165292" y="246221"/>
                    <a:pt x="132641" y="246221"/>
                  </a:cubicBezTo>
                  <a:lnTo>
                    <a:pt x="123111" y="246221"/>
                  </a:lnTo>
                  <a:cubicBezTo>
                    <a:pt x="55118" y="246221"/>
                    <a:pt x="0" y="191103"/>
                    <a:pt x="0" y="123111"/>
                  </a:cubicBezTo>
                  <a:lnTo>
                    <a:pt x="0" y="123111"/>
                  </a:lnTo>
                  <a:cubicBezTo>
                    <a:pt x="0" y="55118"/>
                    <a:pt x="55118" y="0"/>
                    <a:pt x="123111" y="0"/>
                  </a:cubicBezTo>
                  <a:close/>
                </a:path>
              </a:pathLst>
            </a:custGeom>
            <a:solidFill>
              <a:srgbClr val="568AB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 name="Google Shape;309;p18"/>
            <p:cNvSpPr txBox="1"/>
            <p:nvPr/>
          </p:nvSpPr>
          <p:spPr>
            <a:xfrm>
              <a:off x="0" y="-38100"/>
              <a:ext cx="255751" cy="284321"/>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310" name="Google Shape;310;p18"/>
          <p:cNvSpPr txBox="1"/>
          <p:nvPr/>
        </p:nvSpPr>
        <p:spPr>
          <a:xfrm>
            <a:off x="1028700" y="1706941"/>
            <a:ext cx="15915203" cy="6718455"/>
          </a:xfrm>
          <a:prstGeom prst="rect">
            <a:avLst/>
          </a:prstGeom>
          <a:noFill/>
          <a:ln>
            <a:noFill/>
          </a:ln>
        </p:spPr>
        <p:txBody>
          <a:bodyPr anchorCtr="0" anchor="t" bIns="0" lIns="0" spcFirstLastPara="1" rIns="0" wrap="square" tIns="0">
            <a:spAutoFit/>
          </a:bodyPr>
          <a:lstStyle/>
          <a:p>
            <a:pPr indent="0" lvl="0" marL="0" marR="0" rtl="0" algn="just">
              <a:lnSpc>
                <a:spcPct val="139992"/>
              </a:lnSpc>
              <a:spcBef>
                <a:spcPts val="0"/>
              </a:spcBef>
              <a:spcAft>
                <a:spcPts val="0"/>
              </a:spcAft>
              <a:buNone/>
            </a:pPr>
            <a:r>
              <a:rPr b="0" i="0" lang="en-US" sz="5061" u="none" cap="none" strike="noStrike">
                <a:solidFill>
                  <a:srgbClr val="022033"/>
                </a:solidFill>
                <a:latin typeface="Tenor Sans"/>
                <a:ea typeface="Tenor Sans"/>
                <a:cs typeface="Tenor Sans"/>
                <a:sym typeface="Tenor Sans"/>
              </a:rPr>
              <a:t>Ciclo de ejecución</a:t>
            </a:r>
            <a:endParaRPr/>
          </a:p>
          <a:p>
            <a:pPr indent="0" lvl="0" marL="0" marR="0" rtl="0" algn="just">
              <a:lnSpc>
                <a:spcPct val="101284"/>
              </a:lnSpc>
              <a:spcBef>
                <a:spcPts val="0"/>
              </a:spcBef>
              <a:spcAft>
                <a:spcPts val="0"/>
              </a:spcAft>
              <a:buNone/>
            </a:pPr>
            <a:r>
              <a:t/>
            </a:r>
            <a:endParaRPr b="0" i="0" sz="5061" u="none" cap="none" strike="noStrike">
              <a:solidFill>
                <a:srgbClr val="022033"/>
              </a:solidFill>
              <a:latin typeface="Tenor Sans"/>
              <a:ea typeface="Tenor Sans"/>
              <a:cs typeface="Tenor Sans"/>
              <a:sym typeface="Tenor Sans"/>
            </a:endParaRPr>
          </a:p>
          <a:p>
            <a:pPr indent="0" lvl="0" marL="0" marR="0" rtl="0" algn="just">
              <a:lnSpc>
                <a:spcPct val="140016"/>
              </a:lnSpc>
              <a:spcBef>
                <a:spcPts val="0"/>
              </a:spcBef>
              <a:spcAft>
                <a:spcPts val="0"/>
              </a:spcAft>
              <a:buNone/>
            </a:pPr>
            <a:r>
              <a:rPr b="0" i="0" lang="en-US" sz="3661" u="none" cap="none" strike="noStrike">
                <a:solidFill>
                  <a:srgbClr val="022033"/>
                </a:solidFill>
                <a:latin typeface="Tenor Sans"/>
                <a:ea typeface="Tenor Sans"/>
                <a:cs typeface="Tenor Sans"/>
                <a:sym typeface="Tenor Sans"/>
              </a:rPr>
              <a:t>Ciclo de búsqueda-decodificación-ejecución</a:t>
            </a:r>
            <a:endParaRPr/>
          </a:p>
          <a:p>
            <a:pPr indent="0" lvl="0" marL="0" marR="0" rtl="0" algn="just">
              <a:lnSpc>
                <a:spcPct val="140016"/>
              </a:lnSpc>
              <a:spcBef>
                <a:spcPts val="0"/>
              </a:spcBef>
              <a:spcAft>
                <a:spcPts val="0"/>
              </a:spcAft>
              <a:buNone/>
            </a:pPr>
            <a:r>
              <a:t/>
            </a:r>
            <a:endParaRPr b="0" i="0" sz="3661" u="none" cap="none" strike="noStrike">
              <a:solidFill>
                <a:srgbClr val="022033"/>
              </a:solidFill>
              <a:latin typeface="Tenor Sans"/>
              <a:ea typeface="Tenor Sans"/>
              <a:cs typeface="Tenor Sans"/>
              <a:sym typeface="Tenor Sans"/>
            </a:endParaRPr>
          </a:p>
          <a:p>
            <a:pPr indent="0" lvl="0" marL="0" marR="0" rtl="0" algn="just">
              <a:lnSpc>
                <a:spcPct val="140016"/>
              </a:lnSpc>
              <a:spcBef>
                <a:spcPts val="0"/>
              </a:spcBef>
              <a:spcAft>
                <a:spcPts val="0"/>
              </a:spcAft>
              <a:buNone/>
            </a:pPr>
            <a:r>
              <a:rPr b="0" i="0" lang="en-US" sz="3661" u="none" cap="none" strike="noStrike">
                <a:solidFill>
                  <a:srgbClr val="022033"/>
                </a:solidFill>
                <a:latin typeface="Tenor Sans"/>
                <a:ea typeface="Tenor Sans"/>
                <a:cs typeface="Tenor Sans"/>
                <a:sym typeface="Tenor Sans"/>
              </a:rPr>
              <a:t>El conjunto de instrucciones y su formato influencian cómo un procesador pasa por los pasos de fetch (buscar), decode (decodificar) y execute (ejecutar). </a:t>
            </a:r>
            <a:endParaRPr/>
          </a:p>
          <a:p>
            <a:pPr indent="0" lvl="0" marL="0" marR="0" rtl="0" algn="just">
              <a:lnSpc>
                <a:spcPct val="140016"/>
              </a:lnSpc>
              <a:spcBef>
                <a:spcPts val="0"/>
              </a:spcBef>
              <a:spcAft>
                <a:spcPts val="0"/>
              </a:spcAft>
              <a:buNone/>
            </a:pPr>
            <a:r>
              <a:t/>
            </a:r>
            <a:endParaRPr b="0" i="0" sz="3661" u="none" cap="none" strike="noStrike">
              <a:solidFill>
                <a:srgbClr val="022033"/>
              </a:solidFill>
              <a:latin typeface="Tenor Sans"/>
              <a:ea typeface="Tenor Sans"/>
              <a:cs typeface="Tenor Sans"/>
              <a:sym typeface="Tenor Sans"/>
            </a:endParaRPr>
          </a:p>
          <a:p>
            <a:pPr indent="0" lvl="0" marL="0" marR="0" rtl="0" algn="just">
              <a:lnSpc>
                <a:spcPct val="140016"/>
              </a:lnSpc>
              <a:spcBef>
                <a:spcPts val="0"/>
              </a:spcBef>
              <a:spcAft>
                <a:spcPts val="0"/>
              </a:spcAft>
              <a:buNone/>
            </a:pPr>
            <a:r>
              <a:rPr b="0" i="0" lang="en-US" sz="3661" u="none" cap="none" strike="noStrike">
                <a:solidFill>
                  <a:srgbClr val="022033"/>
                </a:solidFill>
                <a:latin typeface="Tenor Sans"/>
                <a:ea typeface="Tenor Sans"/>
                <a:cs typeface="Tenor Sans"/>
                <a:sym typeface="Tenor Sans"/>
              </a:rPr>
              <a:t>Un ISA bien diseñado permite que el procesador complete estos ciclos de manera más rápida y eficiente.</a:t>
            </a:r>
            <a:endParaRPr/>
          </a:p>
        </p:txBody>
      </p:sp>
      <p:sp>
        <p:nvSpPr>
          <p:cNvPr id="311" name="Google Shape;311;p18"/>
          <p:cNvSpPr txBox="1"/>
          <p:nvPr/>
        </p:nvSpPr>
        <p:spPr>
          <a:xfrm>
            <a:off x="853750" y="577942"/>
            <a:ext cx="13902655" cy="513778"/>
          </a:xfrm>
          <a:prstGeom prst="rect">
            <a:avLst/>
          </a:prstGeom>
          <a:noFill/>
          <a:ln>
            <a:noFill/>
          </a:ln>
        </p:spPr>
        <p:txBody>
          <a:bodyPr anchorCtr="0" anchor="t" bIns="0" lIns="0" spcFirstLastPara="1" rIns="0" wrap="square" tIns="0">
            <a:spAutoFit/>
          </a:bodyPr>
          <a:lstStyle/>
          <a:p>
            <a:pPr indent="0" lvl="0" marL="0" marR="0" rtl="0" algn="l">
              <a:lnSpc>
                <a:spcPct val="92000"/>
              </a:lnSpc>
              <a:spcBef>
                <a:spcPts val="0"/>
              </a:spcBef>
              <a:spcAft>
                <a:spcPts val="0"/>
              </a:spcAft>
              <a:buNone/>
            </a:pPr>
            <a:r>
              <a:rPr b="0" i="0" lang="en-US" sz="4000" u="none" cap="none" strike="noStrike">
                <a:solidFill>
                  <a:srgbClr val="022033"/>
                </a:solidFill>
                <a:latin typeface="Arial"/>
                <a:ea typeface="Arial"/>
                <a:cs typeface="Arial"/>
                <a:sym typeface="Arial"/>
              </a:rPr>
              <a:t>ÁREAS CLAVE EN EL ANÁLISIS</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5" name="Shape 315"/>
        <p:cNvGrpSpPr/>
        <p:nvPr/>
      </p:nvGrpSpPr>
      <p:grpSpPr>
        <a:xfrm>
          <a:off x="0" y="0"/>
          <a:ext cx="0" cy="0"/>
          <a:chOff x="0" y="0"/>
          <a:chExt cx="0" cy="0"/>
        </a:xfrm>
      </p:grpSpPr>
      <p:grpSp>
        <p:nvGrpSpPr>
          <p:cNvPr id="316" name="Google Shape;316;p19"/>
          <p:cNvGrpSpPr/>
          <p:nvPr/>
        </p:nvGrpSpPr>
        <p:grpSpPr>
          <a:xfrm>
            <a:off x="-2603406" y="2751568"/>
            <a:ext cx="4378481" cy="4378481"/>
            <a:chOff x="0" y="0"/>
            <a:chExt cx="812800" cy="812800"/>
          </a:xfrm>
        </p:grpSpPr>
        <p:sp>
          <p:nvSpPr>
            <p:cNvPr id="317" name="Google Shape;317;p19"/>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6B5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 name="Google Shape;318;p19"/>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319" name="Google Shape;319;p19"/>
          <p:cNvGrpSpPr/>
          <p:nvPr/>
        </p:nvGrpSpPr>
        <p:grpSpPr>
          <a:xfrm>
            <a:off x="3954263" y="8646204"/>
            <a:ext cx="971055" cy="1079531"/>
            <a:chOff x="0" y="-38100"/>
            <a:chExt cx="255751" cy="284321"/>
          </a:xfrm>
        </p:grpSpPr>
        <p:sp>
          <p:nvSpPr>
            <p:cNvPr id="320" name="Google Shape;320;p19"/>
            <p:cNvSpPr/>
            <p:nvPr/>
          </p:nvSpPr>
          <p:spPr>
            <a:xfrm>
              <a:off x="0" y="0"/>
              <a:ext cx="255751" cy="246221"/>
            </a:xfrm>
            <a:custGeom>
              <a:rect b="b" l="l" r="r" t="t"/>
              <a:pathLst>
                <a:path extrusionOk="0" h="246221" w="255751">
                  <a:moveTo>
                    <a:pt x="123111" y="0"/>
                  </a:moveTo>
                  <a:lnTo>
                    <a:pt x="132641" y="0"/>
                  </a:lnTo>
                  <a:cubicBezTo>
                    <a:pt x="200633" y="0"/>
                    <a:pt x="255751" y="55118"/>
                    <a:pt x="255751" y="123111"/>
                  </a:cubicBezTo>
                  <a:lnTo>
                    <a:pt x="255751" y="123111"/>
                  </a:lnTo>
                  <a:cubicBezTo>
                    <a:pt x="255751" y="155761"/>
                    <a:pt x="242781" y="187075"/>
                    <a:pt x="219693" y="210163"/>
                  </a:cubicBezTo>
                  <a:cubicBezTo>
                    <a:pt x="196605" y="233251"/>
                    <a:pt x="165292" y="246221"/>
                    <a:pt x="132641" y="246221"/>
                  </a:cubicBezTo>
                  <a:lnTo>
                    <a:pt x="123111" y="246221"/>
                  </a:lnTo>
                  <a:cubicBezTo>
                    <a:pt x="55118" y="246221"/>
                    <a:pt x="0" y="191103"/>
                    <a:pt x="0" y="123111"/>
                  </a:cubicBezTo>
                  <a:lnTo>
                    <a:pt x="0" y="123111"/>
                  </a:lnTo>
                  <a:cubicBezTo>
                    <a:pt x="0" y="55118"/>
                    <a:pt x="55118" y="0"/>
                    <a:pt x="123111" y="0"/>
                  </a:cubicBezTo>
                  <a:close/>
                </a:path>
              </a:pathLst>
            </a:custGeom>
            <a:solidFill>
              <a:srgbClr val="568AB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 name="Google Shape;321;p19"/>
            <p:cNvSpPr txBox="1"/>
            <p:nvPr/>
          </p:nvSpPr>
          <p:spPr>
            <a:xfrm>
              <a:off x="0" y="-38100"/>
              <a:ext cx="255751" cy="284321"/>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322" name="Google Shape;322;p19"/>
          <p:cNvSpPr txBox="1"/>
          <p:nvPr/>
        </p:nvSpPr>
        <p:spPr>
          <a:xfrm>
            <a:off x="1028700" y="1706941"/>
            <a:ext cx="15915203" cy="5423109"/>
          </a:xfrm>
          <a:prstGeom prst="rect">
            <a:avLst/>
          </a:prstGeom>
          <a:noFill/>
          <a:ln>
            <a:noFill/>
          </a:ln>
        </p:spPr>
        <p:txBody>
          <a:bodyPr anchorCtr="0" anchor="t" bIns="0" lIns="0" spcFirstLastPara="1" rIns="0" wrap="square" tIns="0">
            <a:spAutoFit/>
          </a:bodyPr>
          <a:lstStyle/>
          <a:p>
            <a:pPr indent="0" lvl="0" marL="0" marR="0" rtl="0" algn="just">
              <a:lnSpc>
                <a:spcPct val="139992"/>
              </a:lnSpc>
              <a:spcBef>
                <a:spcPts val="0"/>
              </a:spcBef>
              <a:spcAft>
                <a:spcPts val="0"/>
              </a:spcAft>
              <a:buNone/>
            </a:pPr>
            <a:r>
              <a:rPr b="0" i="0" lang="en-US" sz="5061" u="none" cap="none" strike="noStrike">
                <a:solidFill>
                  <a:srgbClr val="022033"/>
                </a:solidFill>
                <a:latin typeface="Tenor Sans"/>
                <a:ea typeface="Tenor Sans"/>
                <a:cs typeface="Tenor Sans"/>
                <a:sym typeface="Tenor Sans"/>
              </a:rPr>
              <a:t>Ciclo de ejecución</a:t>
            </a:r>
            <a:endParaRPr/>
          </a:p>
          <a:p>
            <a:pPr indent="0" lvl="0" marL="0" marR="0" rtl="0" algn="just">
              <a:lnSpc>
                <a:spcPct val="101284"/>
              </a:lnSpc>
              <a:spcBef>
                <a:spcPts val="0"/>
              </a:spcBef>
              <a:spcAft>
                <a:spcPts val="0"/>
              </a:spcAft>
              <a:buNone/>
            </a:pPr>
            <a:r>
              <a:t/>
            </a:r>
            <a:endParaRPr b="0" i="0" sz="5061" u="none" cap="none" strike="noStrike">
              <a:solidFill>
                <a:srgbClr val="022033"/>
              </a:solidFill>
              <a:latin typeface="Tenor Sans"/>
              <a:ea typeface="Tenor Sans"/>
              <a:cs typeface="Tenor Sans"/>
              <a:sym typeface="Tenor Sans"/>
            </a:endParaRPr>
          </a:p>
          <a:p>
            <a:pPr indent="0" lvl="0" marL="0" marR="0" rtl="0" algn="just">
              <a:lnSpc>
                <a:spcPct val="140016"/>
              </a:lnSpc>
              <a:spcBef>
                <a:spcPts val="0"/>
              </a:spcBef>
              <a:spcAft>
                <a:spcPts val="0"/>
              </a:spcAft>
              <a:buNone/>
            </a:pPr>
            <a:r>
              <a:rPr b="0" i="0" lang="en-US" sz="3661" u="none" cap="none" strike="noStrike">
                <a:solidFill>
                  <a:srgbClr val="022033"/>
                </a:solidFill>
                <a:latin typeface="Tenor Sans"/>
                <a:ea typeface="Tenor Sans"/>
                <a:cs typeface="Tenor Sans"/>
                <a:sym typeface="Tenor Sans"/>
              </a:rPr>
              <a:t>Optimización de los ciclos</a:t>
            </a:r>
            <a:endParaRPr/>
          </a:p>
          <a:p>
            <a:pPr indent="0" lvl="0" marL="0" marR="0" rtl="0" algn="just">
              <a:lnSpc>
                <a:spcPct val="140016"/>
              </a:lnSpc>
              <a:spcBef>
                <a:spcPts val="0"/>
              </a:spcBef>
              <a:spcAft>
                <a:spcPts val="0"/>
              </a:spcAft>
              <a:buNone/>
            </a:pPr>
            <a:r>
              <a:t/>
            </a:r>
            <a:endParaRPr b="0" i="0" sz="3661" u="none" cap="none" strike="noStrike">
              <a:solidFill>
                <a:srgbClr val="022033"/>
              </a:solidFill>
              <a:latin typeface="Tenor Sans"/>
              <a:ea typeface="Tenor Sans"/>
              <a:cs typeface="Tenor Sans"/>
              <a:sym typeface="Tenor Sans"/>
            </a:endParaRPr>
          </a:p>
          <a:p>
            <a:pPr indent="0" lvl="0" marL="0" marR="0" rtl="0" algn="just">
              <a:lnSpc>
                <a:spcPct val="140016"/>
              </a:lnSpc>
              <a:spcBef>
                <a:spcPts val="0"/>
              </a:spcBef>
              <a:spcAft>
                <a:spcPts val="0"/>
              </a:spcAft>
              <a:buNone/>
            </a:pPr>
            <a:r>
              <a:rPr b="0" i="0" lang="en-US" sz="3661" u="none" cap="none" strike="noStrike">
                <a:solidFill>
                  <a:srgbClr val="022033"/>
                </a:solidFill>
                <a:latin typeface="Tenor Sans"/>
                <a:ea typeface="Tenor Sans"/>
                <a:cs typeface="Tenor Sans"/>
                <a:sym typeface="Tenor Sans"/>
              </a:rPr>
              <a:t>En arquitecturas RISC, el uso de instrucciones simples permite optimizar cada ciclo de ejecución, mientras que en CISC, la complejidad de la instrucción puede hacer que el ciclo de ejecución sea más largo.</a:t>
            </a:r>
            <a:endParaRPr/>
          </a:p>
        </p:txBody>
      </p:sp>
      <p:sp>
        <p:nvSpPr>
          <p:cNvPr id="323" name="Google Shape;323;p19"/>
          <p:cNvSpPr txBox="1"/>
          <p:nvPr/>
        </p:nvSpPr>
        <p:spPr>
          <a:xfrm>
            <a:off x="853750" y="577942"/>
            <a:ext cx="13902655" cy="513778"/>
          </a:xfrm>
          <a:prstGeom prst="rect">
            <a:avLst/>
          </a:prstGeom>
          <a:noFill/>
          <a:ln>
            <a:noFill/>
          </a:ln>
        </p:spPr>
        <p:txBody>
          <a:bodyPr anchorCtr="0" anchor="t" bIns="0" lIns="0" spcFirstLastPara="1" rIns="0" wrap="square" tIns="0">
            <a:spAutoFit/>
          </a:bodyPr>
          <a:lstStyle/>
          <a:p>
            <a:pPr indent="0" lvl="0" marL="0" marR="0" rtl="0" algn="l">
              <a:lnSpc>
                <a:spcPct val="92000"/>
              </a:lnSpc>
              <a:spcBef>
                <a:spcPts val="0"/>
              </a:spcBef>
              <a:spcAft>
                <a:spcPts val="0"/>
              </a:spcAft>
              <a:buNone/>
            </a:pPr>
            <a:r>
              <a:rPr b="0" i="0" lang="en-US" sz="4000" u="none" cap="none" strike="noStrike">
                <a:solidFill>
                  <a:srgbClr val="022033"/>
                </a:solidFill>
                <a:latin typeface="Arial"/>
                <a:ea typeface="Arial"/>
                <a:cs typeface="Arial"/>
                <a:sym typeface="Arial"/>
              </a:rPr>
              <a:t>ÁREAS CLAVE EN EL ANÁLISIS</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7" name="Shape 327"/>
        <p:cNvGrpSpPr/>
        <p:nvPr/>
      </p:nvGrpSpPr>
      <p:grpSpPr>
        <a:xfrm>
          <a:off x="0" y="0"/>
          <a:ext cx="0" cy="0"/>
          <a:chOff x="0" y="0"/>
          <a:chExt cx="0" cy="0"/>
        </a:xfrm>
      </p:grpSpPr>
      <p:grpSp>
        <p:nvGrpSpPr>
          <p:cNvPr id="328" name="Google Shape;328;p20"/>
          <p:cNvGrpSpPr/>
          <p:nvPr/>
        </p:nvGrpSpPr>
        <p:grpSpPr>
          <a:xfrm>
            <a:off x="-2603406" y="2751568"/>
            <a:ext cx="4378481" cy="4378481"/>
            <a:chOff x="0" y="0"/>
            <a:chExt cx="812800" cy="812800"/>
          </a:xfrm>
        </p:grpSpPr>
        <p:sp>
          <p:nvSpPr>
            <p:cNvPr id="329" name="Google Shape;329;p20"/>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6B5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 name="Google Shape;330;p20"/>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331" name="Google Shape;331;p20"/>
          <p:cNvGrpSpPr/>
          <p:nvPr/>
        </p:nvGrpSpPr>
        <p:grpSpPr>
          <a:xfrm>
            <a:off x="3954263" y="8646204"/>
            <a:ext cx="971055" cy="1079531"/>
            <a:chOff x="0" y="-38100"/>
            <a:chExt cx="255751" cy="284321"/>
          </a:xfrm>
        </p:grpSpPr>
        <p:sp>
          <p:nvSpPr>
            <p:cNvPr id="332" name="Google Shape;332;p20"/>
            <p:cNvSpPr/>
            <p:nvPr/>
          </p:nvSpPr>
          <p:spPr>
            <a:xfrm>
              <a:off x="0" y="0"/>
              <a:ext cx="255751" cy="246221"/>
            </a:xfrm>
            <a:custGeom>
              <a:rect b="b" l="l" r="r" t="t"/>
              <a:pathLst>
                <a:path extrusionOk="0" h="246221" w="255751">
                  <a:moveTo>
                    <a:pt x="123111" y="0"/>
                  </a:moveTo>
                  <a:lnTo>
                    <a:pt x="132641" y="0"/>
                  </a:lnTo>
                  <a:cubicBezTo>
                    <a:pt x="200633" y="0"/>
                    <a:pt x="255751" y="55118"/>
                    <a:pt x="255751" y="123111"/>
                  </a:cubicBezTo>
                  <a:lnTo>
                    <a:pt x="255751" y="123111"/>
                  </a:lnTo>
                  <a:cubicBezTo>
                    <a:pt x="255751" y="155761"/>
                    <a:pt x="242781" y="187075"/>
                    <a:pt x="219693" y="210163"/>
                  </a:cubicBezTo>
                  <a:cubicBezTo>
                    <a:pt x="196605" y="233251"/>
                    <a:pt x="165292" y="246221"/>
                    <a:pt x="132641" y="246221"/>
                  </a:cubicBezTo>
                  <a:lnTo>
                    <a:pt x="123111" y="246221"/>
                  </a:lnTo>
                  <a:cubicBezTo>
                    <a:pt x="55118" y="246221"/>
                    <a:pt x="0" y="191103"/>
                    <a:pt x="0" y="123111"/>
                  </a:cubicBezTo>
                  <a:lnTo>
                    <a:pt x="0" y="123111"/>
                  </a:lnTo>
                  <a:cubicBezTo>
                    <a:pt x="0" y="55118"/>
                    <a:pt x="55118" y="0"/>
                    <a:pt x="123111" y="0"/>
                  </a:cubicBezTo>
                  <a:close/>
                </a:path>
              </a:pathLst>
            </a:custGeom>
            <a:solidFill>
              <a:srgbClr val="568AB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 name="Google Shape;333;p20"/>
            <p:cNvSpPr txBox="1"/>
            <p:nvPr/>
          </p:nvSpPr>
          <p:spPr>
            <a:xfrm>
              <a:off x="0" y="-38100"/>
              <a:ext cx="255751" cy="284321"/>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334" name="Google Shape;334;p20"/>
          <p:cNvSpPr txBox="1"/>
          <p:nvPr/>
        </p:nvSpPr>
        <p:spPr>
          <a:xfrm>
            <a:off x="1028700" y="1706941"/>
            <a:ext cx="15915203" cy="7366128"/>
          </a:xfrm>
          <a:prstGeom prst="rect">
            <a:avLst/>
          </a:prstGeom>
          <a:noFill/>
          <a:ln>
            <a:noFill/>
          </a:ln>
        </p:spPr>
        <p:txBody>
          <a:bodyPr anchorCtr="0" anchor="t" bIns="0" lIns="0" spcFirstLastPara="1" rIns="0" wrap="square" tIns="0">
            <a:spAutoFit/>
          </a:bodyPr>
          <a:lstStyle/>
          <a:p>
            <a:pPr indent="0" lvl="0" marL="0" marR="0" rtl="0" algn="just">
              <a:lnSpc>
                <a:spcPct val="139992"/>
              </a:lnSpc>
              <a:spcBef>
                <a:spcPts val="0"/>
              </a:spcBef>
              <a:spcAft>
                <a:spcPts val="0"/>
              </a:spcAft>
              <a:buNone/>
            </a:pPr>
            <a:r>
              <a:rPr b="0" i="0" lang="en-US" sz="5061" u="none" cap="none" strike="noStrike">
                <a:solidFill>
                  <a:srgbClr val="022033"/>
                </a:solidFill>
                <a:latin typeface="Tenor Sans"/>
                <a:ea typeface="Tenor Sans"/>
                <a:cs typeface="Tenor Sans"/>
                <a:sym typeface="Tenor Sans"/>
              </a:rPr>
              <a:t>Evaluación de la arquitectura y sus efectos</a:t>
            </a:r>
            <a:endParaRPr/>
          </a:p>
          <a:p>
            <a:pPr indent="0" lvl="0" marL="0" marR="0" rtl="0" algn="just">
              <a:lnSpc>
                <a:spcPct val="101284"/>
              </a:lnSpc>
              <a:spcBef>
                <a:spcPts val="0"/>
              </a:spcBef>
              <a:spcAft>
                <a:spcPts val="0"/>
              </a:spcAft>
              <a:buNone/>
            </a:pPr>
            <a:r>
              <a:t/>
            </a:r>
            <a:endParaRPr b="0" i="0" sz="5061" u="none" cap="none" strike="noStrike">
              <a:solidFill>
                <a:srgbClr val="022033"/>
              </a:solidFill>
              <a:latin typeface="Tenor Sans"/>
              <a:ea typeface="Tenor Sans"/>
              <a:cs typeface="Tenor Sans"/>
              <a:sym typeface="Tenor Sans"/>
            </a:endParaRPr>
          </a:p>
          <a:p>
            <a:pPr indent="0" lvl="0" marL="0" marR="0" rtl="0" algn="just">
              <a:lnSpc>
                <a:spcPct val="140016"/>
              </a:lnSpc>
              <a:spcBef>
                <a:spcPts val="0"/>
              </a:spcBef>
              <a:spcAft>
                <a:spcPts val="0"/>
              </a:spcAft>
              <a:buNone/>
            </a:pPr>
            <a:r>
              <a:rPr b="0" i="0" lang="en-US" sz="3661" u="none" cap="none" strike="noStrike">
                <a:solidFill>
                  <a:srgbClr val="022033"/>
                </a:solidFill>
                <a:latin typeface="Tenor Sans"/>
                <a:ea typeface="Tenor Sans"/>
                <a:cs typeface="Tenor Sans"/>
                <a:sym typeface="Tenor Sans"/>
              </a:rPr>
              <a:t>El análisis del ISA ayuda a determinar cuál arquitectura es más adecuada según las necesidades del sistema. </a:t>
            </a:r>
            <a:endParaRPr/>
          </a:p>
          <a:p>
            <a:pPr indent="0" lvl="0" marL="0" marR="0" rtl="0" algn="just">
              <a:lnSpc>
                <a:spcPct val="140016"/>
              </a:lnSpc>
              <a:spcBef>
                <a:spcPts val="0"/>
              </a:spcBef>
              <a:spcAft>
                <a:spcPts val="0"/>
              </a:spcAft>
              <a:buNone/>
            </a:pPr>
            <a:r>
              <a:t/>
            </a:r>
            <a:endParaRPr b="0" i="0" sz="3661" u="none" cap="none" strike="noStrike">
              <a:solidFill>
                <a:srgbClr val="022033"/>
              </a:solidFill>
              <a:latin typeface="Tenor Sans"/>
              <a:ea typeface="Tenor Sans"/>
              <a:cs typeface="Tenor Sans"/>
              <a:sym typeface="Tenor Sans"/>
            </a:endParaRPr>
          </a:p>
          <a:p>
            <a:pPr indent="0" lvl="0" marL="0" marR="0" rtl="0" algn="just">
              <a:lnSpc>
                <a:spcPct val="140016"/>
              </a:lnSpc>
              <a:spcBef>
                <a:spcPts val="0"/>
              </a:spcBef>
              <a:spcAft>
                <a:spcPts val="0"/>
              </a:spcAft>
              <a:buNone/>
            </a:pPr>
            <a:r>
              <a:rPr b="0" i="0" lang="en-US" sz="3661" u="none" cap="none" strike="noStrike">
                <a:solidFill>
                  <a:srgbClr val="022033"/>
                </a:solidFill>
                <a:latin typeface="Tenor Sans"/>
                <a:ea typeface="Tenor Sans"/>
                <a:cs typeface="Tenor Sans"/>
                <a:sym typeface="Tenor Sans"/>
              </a:rPr>
              <a:t>Por ejemplo, un procesador RISC es ideal para aplicaciones de alto rendimiento y sistemas embebidos donde la eficiencia es crucial, mientras que un procesador CISC puede ser más adecuado para aplicaciones que necesitan manejar tareas complejas en menos pasos, pero con un costo de ejecución mayor.</a:t>
            </a:r>
            <a:endParaRPr/>
          </a:p>
        </p:txBody>
      </p:sp>
      <p:sp>
        <p:nvSpPr>
          <p:cNvPr id="335" name="Google Shape;335;p20"/>
          <p:cNvSpPr txBox="1"/>
          <p:nvPr/>
        </p:nvSpPr>
        <p:spPr>
          <a:xfrm>
            <a:off x="853750" y="577942"/>
            <a:ext cx="13902655" cy="513778"/>
          </a:xfrm>
          <a:prstGeom prst="rect">
            <a:avLst/>
          </a:prstGeom>
          <a:noFill/>
          <a:ln>
            <a:noFill/>
          </a:ln>
        </p:spPr>
        <p:txBody>
          <a:bodyPr anchorCtr="0" anchor="t" bIns="0" lIns="0" spcFirstLastPara="1" rIns="0" wrap="square" tIns="0">
            <a:spAutoFit/>
          </a:bodyPr>
          <a:lstStyle/>
          <a:p>
            <a:pPr indent="0" lvl="0" marL="0" marR="0" rtl="0" algn="l">
              <a:lnSpc>
                <a:spcPct val="92000"/>
              </a:lnSpc>
              <a:spcBef>
                <a:spcPts val="0"/>
              </a:spcBef>
              <a:spcAft>
                <a:spcPts val="0"/>
              </a:spcAft>
              <a:buNone/>
            </a:pPr>
            <a:r>
              <a:rPr b="0" i="0" lang="en-US" sz="4000" u="none" cap="none" strike="noStrike">
                <a:solidFill>
                  <a:srgbClr val="022033"/>
                </a:solidFill>
                <a:latin typeface="Arial"/>
                <a:ea typeface="Arial"/>
                <a:cs typeface="Arial"/>
                <a:sym typeface="Arial"/>
              </a:rPr>
              <a:t>ÁREAS CLAVE EN EL ANÁLISIS</a:t>
            </a:r>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2006-08-16T00:00:00Z</dcterms:created>
</cp:coreProperties>
</file>