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10287000" cx="18288000"/>
  <p:notesSz cx="6858000" cy="9144000"/>
  <p:embeddedFontLst>
    <p:embeddedFont>
      <p:font typeface="Montserrat"/>
      <p:regular r:id="rId34"/>
      <p:bold r:id="rId35"/>
      <p:italic r:id="rId36"/>
      <p:boldItalic r:id="rId37"/>
    </p:embeddedFont>
    <p:embeddedFont>
      <p:font typeface="Lato Black"/>
      <p:bold r:id="rId38"/>
      <p:boldItalic r:id="rId39"/>
    </p:embeddedFont>
    <p:embeddedFont>
      <p:font typeface="Oswald"/>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2" roundtripDataSignature="AMtx7mh4mSgYt3qDdC5XhxFJ3vk3by9B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swald-regular.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Oswald-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Montserrat-bold.fntdata"/><Relationship Id="rId12" Type="http://schemas.openxmlformats.org/officeDocument/2006/relationships/slide" Target="slides/slide7.xml"/><Relationship Id="rId34" Type="http://schemas.openxmlformats.org/officeDocument/2006/relationships/font" Target="fonts/Montserrat-regular.fntdata"/><Relationship Id="rId15" Type="http://schemas.openxmlformats.org/officeDocument/2006/relationships/slide" Target="slides/slide10.xml"/><Relationship Id="rId37" Type="http://schemas.openxmlformats.org/officeDocument/2006/relationships/font" Target="fonts/Montserrat-boldItalic.fntdata"/><Relationship Id="rId14" Type="http://schemas.openxmlformats.org/officeDocument/2006/relationships/slide" Target="slides/slide9.xml"/><Relationship Id="rId36" Type="http://schemas.openxmlformats.org/officeDocument/2006/relationships/font" Target="fonts/Montserrat-italic.fntdata"/><Relationship Id="rId17" Type="http://schemas.openxmlformats.org/officeDocument/2006/relationships/slide" Target="slides/slide12.xml"/><Relationship Id="rId39" Type="http://schemas.openxmlformats.org/officeDocument/2006/relationships/font" Target="fonts/LatoBlack-boldItalic.fntdata"/><Relationship Id="rId16" Type="http://schemas.openxmlformats.org/officeDocument/2006/relationships/slide" Target="slides/slide11.xml"/><Relationship Id="rId38" Type="http://schemas.openxmlformats.org/officeDocument/2006/relationships/font" Target="fonts/LatoBlack-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09" name="Google Shape;109;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10" name="Google Shape;110;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112" name="Google Shape;112;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13" name="Google Shape;113;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 name="Google Shape;122;p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27" name="Google Shape;127;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28" name="Google Shape;128;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130" name="Google Shape;130;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31" name="Google Shape;131;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40" name="Google Shape;140;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41" name="Google Shape;141;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143" name="Google Shape;143;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44" name="Google Shape;144;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54" name="Google Shape;154;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55" name="Google Shape;155;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157" name="Google Shape;157;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58" name="Google Shape;158;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67" name="Google Shape;167;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68" name="Google Shape;168;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170" name="Google Shape;170;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71" name="Google Shape;171;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80" name="Google Shape;180;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81" name="Google Shape;181;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183" name="Google Shape;183;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84" name="Google Shape;184;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93" name="Google Shape;193;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94" name="Google Shape;194;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196" name="Google Shape;196;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97" name="Google Shape;197;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10: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11: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12: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21" name="Google Shape;221;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22" name="Google Shape;222;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224" name="Google Shape;224;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25" name="Google Shape;225;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p14: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39" name="Google Shape;239;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40" name="Google Shape;240;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242" name="Google Shape;242;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43" name="Google Shape;243;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16: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p1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2" name="Google Shape;262;p18: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p19: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72" name="Google Shape;272;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73" name="Google Shape;273;p2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275" name="Google Shape;275;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76" name="Google Shape;276;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86" name="Google Shape;286;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87" name="Google Shape;287;p2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289" name="Google Shape;289;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90" name="Google Shape;290;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99" name="Google Shape;299;p2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00" name="Google Shape;300;p2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302" name="Google Shape;302;p2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03" name="Google Shape;303;p2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12" name="Google Shape;312;p2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13" name="Google Shape;313;p2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2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315" name="Google Shape;315;p2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16" name="Google Shape;316;p2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26" name="Google Shape;326;p2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27" name="Google Shape;327;p2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2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329" name="Google Shape;329;p2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30" name="Google Shape;330;p2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39" name="Google Shape;339;p2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40" name="Google Shape;340;p2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2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342" name="Google Shape;342;p2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43" name="Google Shape;343;p2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52" name="Google Shape;352;p2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53" name="Google Shape;353;p2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2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355" name="Google Shape;355;p2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56" name="Google Shape;356;p2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5" name="Google Shape;365;p27: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70" name="Google Shape;370;p2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71" name="Google Shape;371;p2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2" name="Google Shape;372;p2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 optoelectrónica es un campo interdisciplinario que combina la óptica y la electrónica para estudiar y desarrollar dispositivos que interactúan con la luz y las señales eléctricas.</a:t>
            </a:r>
            <a:endParaRPr/>
          </a:p>
        </p:txBody>
      </p:sp>
      <p:sp>
        <p:nvSpPr>
          <p:cNvPr id="373" name="Google Shape;373;p2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74" name="Google Shape;374;p2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3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8"/>
          <p:cNvSpPr/>
          <p:nvPr>
            <p:ph idx="2" type="pic"/>
          </p:nvPr>
        </p:nvSpPr>
        <p:spPr>
          <a:xfrm>
            <a:off x="1792288" y="612775"/>
            <a:ext cx="5486400" cy="4114800"/>
          </a:xfrm>
          <a:prstGeom prst="rect">
            <a:avLst/>
          </a:prstGeom>
          <a:noFill/>
          <a:ln>
            <a:noFill/>
          </a:ln>
        </p:spPr>
      </p:sp>
      <p:sp>
        <p:nvSpPr>
          <p:cNvPr id="68" name="Google Shape;68;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87" name="Shape 87"/>
        <p:cNvGrpSpPr/>
        <p:nvPr/>
      </p:nvGrpSpPr>
      <p:grpSpPr>
        <a:xfrm>
          <a:off x="0" y="0"/>
          <a:ext cx="0" cy="0"/>
          <a:chOff x="0" y="0"/>
          <a:chExt cx="0" cy="0"/>
        </a:xfrm>
      </p:grpSpPr>
      <p:grpSp>
        <p:nvGrpSpPr>
          <p:cNvPr id="88" name="Google Shape;88;p1"/>
          <p:cNvGrpSpPr/>
          <p:nvPr/>
        </p:nvGrpSpPr>
        <p:grpSpPr>
          <a:xfrm rot="5400000">
            <a:off x="2659078" y="-6224990"/>
            <a:ext cx="6274827" cy="12450233"/>
            <a:chOff x="0" y="0"/>
            <a:chExt cx="3166110" cy="6282055"/>
          </a:xfrm>
        </p:grpSpPr>
        <p:sp>
          <p:nvSpPr>
            <p:cNvPr id="89" name="Google Shape;89;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ADC7EA"/>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132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 name="Google Shape;91;p1"/>
          <p:cNvGrpSpPr/>
          <p:nvPr/>
        </p:nvGrpSpPr>
        <p:grpSpPr>
          <a:xfrm rot="-5400000">
            <a:off x="9151318" y="4851619"/>
            <a:ext cx="6274827" cy="12450233"/>
            <a:chOff x="0" y="0"/>
            <a:chExt cx="3166110" cy="6282055"/>
          </a:xfrm>
        </p:grpSpPr>
        <p:sp>
          <p:nvSpPr>
            <p:cNvPr id="92" name="Google Shape;92;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E0E6E9"/>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E0E6E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 name="Google Shape;94;p1"/>
          <p:cNvGrpSpPr/>
          <p:nvPr/>
        </p:nvGrpSpPr>
        <p:grpSpPr>
          <a:xfrm>
            <a:off x="12814229" y="6175561"/>
            <a:ext cx="12630150" cy="1367582"/>
            <a:chOff x="0" y="-66675"/>
            <a:chExt cx="3326459" cy="360186"/>
          </a:xfrm>
        </p:grpSpPr>
        <p:sp>
          <p:nvSpPr>
            <p:cNvPr id="95" name="Google Shape;95;p1"/>
            <p:cNvSpPr/>
            <p:nvPr/>
          </p:nvSpPr>
          <p:spPr>
            <a:xfrm>
              <a:off x="0" y="0"/>
              <a:ext cx="3326459" cy="293511"/>
            </a:xfrm>
            <a:custGeom>
              <a:rect b="b" l="l" r="r" t="t"/>
              <a:pathLst>
                <a:path extrusionOk="0" h="293511" w="3326459">
                  <a:moveTo>
                    <a:pt x="3123259" y="0"/>
                  </a:moveTo>
                  <a:cubicBezTo>
                    <a:pt x="3235484" y="0"/>
                    <a:pt x="3326459" y="65705"/>
                    <a:pt x="3326459" y="146756"/>
                  </a:cubicBezTo>
                  <a:cubicBezTo>
                    <a:pt x="3326459" y="227806"/>
                    <a:pt x="3235484" y="293511"/>
                    <a:pt x="3123259" y="293511"/>
                  </a:cubicBezTo>
                  <a:lnTo>
                    <a:pt x="203200" y="293511"/>
                  </a:lnTo>
                  <a:cubicBezTo>
                    <a:pt x="90976" y="293511"/>
                    <a:pt x="0" y="227806"/>
                    <a:pt x="0" y="146756"/>
                  </a:cubicBezTo>
                  <a:cubicBezTo>
                    <a:pt x="0" y="65705"/>
                    <a:pt x="90976" y="0"/>
                    <a:pt x="2032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
            <p:cNvSpPr txBox="1"/>
            <p:nvPr/>
          </p:nvSpPr>
          <p:spPr>
            <a:xfrm>
              <a:off x="0" y="-66675"/>
              <a:ext cx="3326459" cy="360186"/>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7" name="Google Shape;97;p1"/>
          <p:cNvSpPr txBox="1"/>
          <p:nvPr/>
        </p:nvSpPr>
        <p:spPr>
          <a:xfrm>
            <a:off x="344927" y="3722182"/>
            <a:ext cx="13236000" cy="4016400"/>
          </a:xfrm>
          <a:prstGeom prst="rect">
            <a:avLst/>
          </a:prstGeom>
          <a:noFill/>
          <a:ln>
            <a:noFill/>
          </a:ln>
        </p:spPr>
        <p:txBody>
          <a:bodyPr anchorCtr="0" anchor="t" bIns="0" lIns="0" spcFirstLastPara="1" rIns="0" wrap="square" tIns="0">
            <a:spAutoFit/>
          </a:bodyPr>
          <a:lstStyle/>
          <a:p>
            <a:pPr indent="0" lvl="0" marL="0" marR="0" rtl="0" algn="ctr">
              <a:lnSpc>
                <a:spcPct val="114003"/>
              </a:lnSpc>
              <a:spcBef>
                <a:spcPts val="0"/>
              </a:spcBef>
              <a:spcAft>
                <a:spcPts val="0"/>
              </a:spcAft>
              <a:buClr>
                <a:srgbClr val="000000"/>
              </a:buClr>
              <a:buSzPts val="7955"/>
              <a:buFont typeface="Arial"/>
              <a:buNone/>
            </a:pPr>
            <a:r>
              <a:rPr b="1" i="0" lang="en-US" sz="7955" u="none" cap="none" strike="noStrike">
                <a:solidFill>
                  <a:srgbClr val="FFFFFF"/>
                </a:solidFill>
                <a:latin typeface="Oswald"/>
                <a:ea typeface="Oswald"/>
                <a:cs typeface="Oswald"/>
                <a:sym typeface="Oswald"/>
              </a:rPr>
              <a:t>LOGICA DIGITAL SECUENCIAL:</a:t>
            </a:r>
            <a:endParaRPr b="0" i="0" sz="1400" u="none" cap="none" strike="noStrike">
              <a:solidFill>
                <a:srgbClr val="000000"/>
              </a:solidFill>
              <a:latin typeface="Arial"/>
              <a:ea typeface="Arial"/>
              <a:cs typeface="Arial"/>
              <a:sym typeface="Arial"/>
            </a:endParaRPr>
          </a:p>
          <a:p>
            <a:pPr indent="0" lvl="0" marL="0" marR="0" rtl="0" algn="ctr">
              <a:lnSpc>
                <a:spcPct val="114003"/>
              </a:lnSpc>
              <a:spcBef>
                <a:spcPts val="0"/>
              </a:spcBef>
              <a:spcAft>
                <a:spcPts val="0"/>
              </a:spcAft>
              <a:buClr>
                <a:srgbClr val="000000"/>
              </a:buClr>
              <a:buSzPts val="7955"/>
              <a:buFont typeface="Arial"/>
              <a:buNone/>
            </a:pPr>
            <a:r>
              <a:rPr b="1" i="0" lang="en-US" sz="7955" u="none" cap="none" strike="noStrike">
                <a:solidFill>
                  <a:srgbClr val="FFFFFF"/>
                </a:solidFill>
                <a:latin typeface="Oswald"/>
                <a:ea typeface="Oswald"/>
                <a:cs typeface="Oswald"/>
                <a:sym typeface="Oswald"/>
              </a:rPr>
              <a:t>Latches, Flip-Flops y</a:t>
            </a:r>
            <a:endParaRPr b="0" i="0" sz="1400" u="none" cap="none" strike="noStrike">
              <a:solidFill>
                <a:srgbClr val="000000"/>
              </a:solidFill>
              <a:latin typeface="Arial"/>
              <a:ea typeface="Arial"/>
              <a:cs typeface="Arial"/>
              <a:sym typeface="Arial"/>
            </a:endParaRPr>
          </a:p>
          <a:p>
            <a:pPr indent="0" lvl="0" marL="0" marR="0" rtl="0" algn="ctr">
              <a:lnSpc>
                <a:spcPct val="114003"/>
              </a:lnSpc>
              <a:spcBef>
                <a:spcPts val="0"/>
              </a:spcBef>
              <a:spcAft>
                <a:spcPts val="0"/>
              </a:spcAft>
              <a:buClr>
                <a:srgbClr val="000000"/>
              </a:buClr>
              <a:buSzPts val="7955"/>
              <a:buFont typeface="Arial"/>
              <a:buNone/>
            </a:pPr>
            <a:r>
              <a:rPr b="1" i="0" lang="en-US" sz="7955" u="none" cap="none" strike="noStrike">
                <a:solidFill>
                  <a:srgbClr val="FFFFFF"/>
                </a:solidFill>
                <a:latin typeface="Oswald"/>
                <a:ea typeface="Oswald"/>
                <a:cs typeface="Oswald"/>
                <a:sym typeface="Oswald"/>
              </a:rPr>
              <a:t>Relojes</a:t>
            </a:r>
            <a:endParaRPr b="0" i="0" sz="1400" u="none" cap="none" strike="noStrike">
              <a:solidFill>
                <a:srgbClr val="000000"/>
              </a:solidFill>
              <a:latin typeface="Arial"/>
              <a:ea typeface="Arial"/>
              <a:cs typeface="Arial"/>
              <a:sym typeface="Arial"/>
            </a:endParaRPr>
          </a:p>
        </p:txBody>
      </p:sp>
      <p:sp>
        <p:nvSpPr>
          <p:cNvPr id="98" name="Google Shape;98;p1"/>
          <p:cNvSpPr txBox="1"/>
          <p:nvPr/>
        </p:nvSpPr>
        <p:spPr>
          <a:xfrm>
            <a:off x="1028700" y="8063399"/>
            <a:ext cx="13293265" cy="691388"/>
          </a:xfrm>
          <a:prstGeom prst="rect">
            <a:avLst/>
          </a:prstGeom>
          <a:noFill/>
          <a:ln>
            <a:noFill/>
          </a:ln>
        </p:spPr>
        <p:txBody>
          <a:bodyPr anchorCtr="0" anchor="t" bIns="0" lIns="0" spcFirstLastPara="1" rIns="0" wrap="square" tIns="0">
            <a:spAutoFit/>
          </a:bodyPr>
          <a:lstStyle/>
          <a:p>
            <a:pPr indent="0" lvl="0" marL="0" marR="0" rtl="0" algn="l">
              <a:lnSpc>
                <a:spcPct val="118008"/>
              </a:lnSpc>
              <a:spcBef>
                <a:spcPts val="0"/>
              </a:spcBef>
              <a:spcAft>
                <a:spcPts val="0"/>
              </a:spcAft>
              <a:buClr>
                <a:srgbClr val="000000"/>
              </a:buClr>
              <a:buSzPts val="2199"/>
              <a:buFont typeface="Arial"/>
              <a:buNone/>
            </a:pPr>
            <a:r>
              <a:rPr b="0" i="0" lang="en-US" sz="2199" u="none" cap="none" strike="noStrike">
                <a:solidFill>
                  <a:srgbClr val="FFFFFF"/>
                </a:solidFill>
                <a:latin typeface="Lato Black"/>
                <a:ea typeface="Lato Black"/>
                <a:cs typeface="Lato Black"/>
                <a:sym typeface="Lato Black"/>
              </a:rPr>
              <a:t>ORGANIZACIÓN COMPUTACIONAL</a:t>
            </a:r>
            <a:endParaRPr b="0" i="0" sz="1400" u="none" cap="none" strike="noStrike">
              <a:solidFill>
                <a:srgbClr val="000000"/>
              </a:solidFill>
              <a:latin typeface="Arial"/>
              <a:ea typeface="Arial"/>
              <a:cs typeface="Arial"/>
              <a:sym typeface="Arial"/>
            </a:endParaRPr>
          </a:p>
          <a:p>
            <a:pPr indent="0" lvl="0" marL="0" marR="0" rtl="0" algn="l">
              <a:lnSpc>
                <a:spcPct val="118008"/>
              </a:lnSpc>
              <a:spcBef>
                <a:spcPts val="0"/>
              </a:spcBef>
              <a:spcAft>
                <a:spcPts val="0"/>
              </a:spcAft>
              <a:buClr>
                <a:srgbClr val="000000"/>
              </a:buClr>
              <a:buSzPts val="2199"/>
              <a:buFont typeface="Arial"/>
              <a:buNone/>
            </a:pPr>
            <a:r>
              <a:rPr b="0" i="0" lang="en-US" sz="2199" u="none" cap="none" strike="noStrike">
                <a:solidFill>
                  <a:srgbClr val="FFFFFF"/>
                </a:solidFill>
                <a:latin typeface="Lato Black"/>
                <a:ea typeface="Lato Black"/>
                <a:cs typeface="Lato Black"/>
                <a:sym typeface="Lato Black"/>
              </a:rPr>
              <a:t>SECCIÓN A</a:t>
            </a:r>
            <a:endParaRPr b="0" i="0" sz="1400" u="none" cap="none" strike="noStrike">
              <a:solidFill>
                <a:srgbClr val="000000"/>
              </a:solidFill>
              <a:latin typeface="Arial"/>
              <a:ea typeface="Arial"/>
              <a:cs typeface="Arial"/>
              <a:sym typeface="Arial"/>
            </a:endParaRPr>
          </a:p>
        </p:txBody>
      </p:sp>
      <p:cxnSp>
        <p:nvCxnSpPr>
          <p:cNvPr id="99" name="Google Shape;99;p1"/>
          <p:cNvCxnSpPr/>
          <p:nvPr/>
        </p:nvCxnSpPr>
        <p:spPr>
          <a:xfrm>
            <a:off x="-428625" y="3501989"/>
            <a:ext cx="6492240" cy="0"/>
          </a:xfrm>
          <a:prstGeom prst="straightConnector1">
            <a:avLst/>
          </a:prstGeom>
          <a:noFill/>
          <a:ln cap="flat" cmpd="sng" w="38100">
            <a:solidFill>
              <a:srgbClr val="FFFFFF"/>
            </a:solidFill>
            <a:prstDash val="solid"/>
            <a:round/>
            <a:headEnd len="sm" w="sm" type="none"/>
            <a:tailEnd len="lg" w="lg" type="oval"/>
          </a:ln>
        </p:spPr>
      </p:cxnSp>
      <p:cxnSp>
        <p:nvCxnSpPr>
          <p:cNvPr id="100" name="Google Shape;100;p1"/>
          <p:cNvCxnSpPr/>
          <p:nvPr/>
        </p:nvCxnSpPr>
        <p:spPr>
          <a:xfrm>
            <a:off x="12471329" y="7739549"/>
            <a:ext cx="6492240" cy="0"/>
          </a:xfrm>
          <a:prstGeom prst="straightConnector1">
            <a:avLst/>
          </a:prstGeom>
          <a:noFill/>
          <a:ln cap="flat" cmpd="sng" w="38100">
            <a:solidFill>
              <a:srgbClr val="FFFFFF"/>
            </a:solidFill>
            <a:prstDash val="solid"/>
            <a:round/>
            <a:headEnd len="lg" w="lg" type="oval"/>
            <a:tailEnd len="sm" w="sm" type="none"/>
          </a:ln>
        </p:spPr>
      </p:cxnSp>
      <p:grpSp>
        <p:nvGrpSpPr>
          <p:cNvPr id="101" name="Google Shape;101;p1"/>
          <p:cNvGrpSpPr/>
          <p:nvPr/>
        </p:nvGrpSpPr>
        <p:grpSpPr>
          <a:xfrm rot="-5400000">
            <a:off x="9766774" y="5394544"/>
            <a:ext cx="6274827" cy="12450233"/>
            <a:chOff x="0" y="0"/>
            <a:chExt cx="3166110" cy="6282055"/>
          </a:xfrm>
        </p:grpSpPr>
        <p:sp>
          <p:nvSpPr>
            <p:cNvPr id="102" name="Google Shape;102;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9DB3C1"/>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9DB3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 name="Google Shape;104;p1"/>
          <p:cNvGrpSpPr/>
          <p:nvPr/>
        </p:nvGrpSpPr>
        <p:grpSpPr>
          <a:xfrm rot="5400000">
            <a:off x="2154253" y="-6869939"/>
            <a:ext cx="6274827" cy="12450233"/>
            <a:chOff x="0" y="0"/>
            <a:chExt cx="3166110" cy="6282055"/>
          </a:xfrm>
        </p:grpSpPr>
        <p:sp>
          <p:nvSpPr>
            <p:cNvPr id="105" name="Google Shape;105;p1"/>
            <p:cNvSpPr/>
            <p:nvPr/>
          </p:nvSpPr>
          <p:spPr>
            <a:xfrm>
              <a:off x="4318" y="4318"/>
              <a:ext cx="3157347" cy="6273419"/>
            </a:xfrm>
            <a:custGeom>
              <a:rect b="b" l="l" r="r" t="t"/>
              <a:pathLst>
                <a:path extrusionOk="0"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5B696F"/>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
            <p:cNvSpPr/>
            <p:nvPr/>
          </p:nvSpPr>
          <p:spPr>
            <a:xfrm>
              <a:off x="0" y="0"/>
              <a:ext cx="3166110" cy="6282055"/>
            </a:xfrm>
            <a:custGeom>
              <a:rect b="b" l="l" r="r" t="t"/>
              <a:pathLst>
                <a:path extrusionOk="0"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5B696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grpSp>
        <p:nvGrpSpPr>
          <p:cNvPr id="115" name="Google Shape;115;p2"/>
          <p:cNvGrpSpPr/>
          <p:nvPr/>
        </p:nvGrpSpPr>
        <p:grpSpPr>
          <a:xfrm>
            <a:off x="0" y="-253157"/>
            <a:ext cx="18288000" cy="2841699"/>
            <a:chOff x="0" y="-66675"/>
            <a:chExt cx="4816593" cy="748431"/>
          </a:xfrm>
        </p:grpSpPr>
        <p:sp>
          <p:nvSpPr>
            <p:cNvPr id="116" name="Google Shape;116;p2"/>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17" name="Google Shape;117;p2"/>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8" name="Google Shape;118;p2"/>
          <p:cNvSpPr txBox="1"/>
          <p:nvPr/>
        </p:nvSpPr>
        <p:spPr>
          <a:xfrm>
            <a:off x="1028700" y="3467218"/>
            <a:ext cx="15924600" cy="5751300"/>
          </a:xfrm>
          <a:prstGeom prst="rect">
            <a:avLst/>
          </a:prstGeom>
          <a:noFill/>
          <a:ln>
            <a:noFill/>
          </a:ln>
        </p:spPr>
        <p:txBody>
          <a:bodyPr anchorCtr="0" anchor="t" bIns="0" lIns="0" spcFirstLastPara="1" rIns="0" wrap="square" tIns="0">
            <a:spAutoFit/>
          </a:bodyPr>
          <a:lstStyle/>
          <a:p>
            <a:pPr indent="0" lvl="0" marL="0" marR="0" rtl="0" algn="l">
              <a:lnSpc>
                <a:spcPct val="131001"/>
              </a:lnSpc>
              <a:spcBef>
                <a:spcPts val="0"/>
              </a:spcBef>
              <a:spcAft>
                <a:spcPts val="0"/>
              </a:spcAft>
              <a:buClr>
                <a:srgbClr val="000000"/>
              </a:buClr>
              <a:buSzPts val="3674"/>
              <a:buFont typeface="Arial"/>
              <a:buNone/>
            </a:pPr>
            <a:r>
              <a:rPr b="0" i="0" lang="en-US" sz="3674" u="none" cap="none" strike="noStrike">
                <a:solidFill>
                  <a:srgbClr val="000000"/>
                </a:solidFill>
                <a:latin typeface="Montserrat"/>
                <a:ea typeface="Montserrat"/>
                <a:cs typeface="Montserrat"/>
                <a:sym typeface="Montserrat"/>
              </a:rPr>
              <a:t>Los valores de las salidas, en un momento dado, no dependen exclusivamente de los valores de las entradas en dicho momento, sino también dependen del estado anterior o estado interno.</a:t>
            </a:r>
            <a:endParaRPr b="0" i="0" sz="1400" u="none" cap="none" strike="noStrike">
              <a:solidFill>
                <a:srgbClr val="000000"/>
              </a:solidFill>
              <a:latin typeface="Arial"/>
              <a:ea typeface="Arial"/>
              <a:cs typeface="Arial"/>
              <a:sym typeface="Arial"/>
            </a:endParaRPr>
          </a:p>
          <a:p>
            <a:pPr indent="0" lvl="0" marL="0" marR="0" rtl="0" algn="l">
              <a:lnSpc>
                <a:spcPct val="131001"/>
              </a:lnSpc>
              <a:spcBef>
                <a:spcPts val="0"/>
              </a:spcBef>
              <a:spcAft>
                <a:spcPts val="0"/>
              </a:spcAft>
              <a:buClr>
                <a:srgbClr val="000000"/>
              </a:buClr>
              <a:buSzPts val="3674"/>
              <a:buFont typeface="Arial"/>
              <a:buNone/>
            </a:pPr>
            <a:r>
              <a:t/>
            </a:r>
            <a:endParaRPr b="0" i="0" sz="3674" u="none" cap="none" strike="noStrike">
              <a:solidFill>
                <a:srgbClr val="000000"/>
              </a:solidFill>
              <a:latin typeface="Montserrat"/>
              <a:ea typeface="Montserrat"/>
              <a:cs typeface="Montserrat"/>
              <a:sym typeface="Montserrat"/>
            </a:endParaRPr>
          </a:p>
          <a:p>
            <a:pPr indent="0" lvl="0" marL="0" marR="0" rtl="0" algn="l">
              <a:lnSpc>
                <a:spcPct val="131001"/>
              </a:lnSpc>
              <a:spcBef>
                <a:spcPts val="0"/>
              </a:spcBef>
              <a:spcAft>
                <a:spcPts val="0"/>
              </a:spcAft>
              <a:buClr>
                <a:srgbClr val="000000"/>
              </a:buClr>
              <a:buSzPts val="3674"/>
              <a:buFont typeface="Arial"/>
              <a:buNone/>
            </a:pPr>
            <a:r>
              <a:rPr b="0" i="0" lang="en-US" sz="3674" u="none" cap="none" strike="noStrike">
                <a:solidFill>
                  <a:srgbClr val="000000"/>
                </a:solidFill>
                <a:latin typeface="Montserrat"/>
                <a:ea typeface="Montserrat"/>
                <a:cs typeface="Montserrat"/>
                <a:sym typeface="Montserrat"/>
              </a:rPr>
              <a:t>El sistema secuencial en si es  un dispositivo de memoria que puede almacenar la historia pasada de sus entradas (denominadas variables de estado) y le permite mantener su estado durante algún tiempo de acuerdo a la disposición de la red.</a:t>
            </a:r>
            <a:endParaRPr b="0" i="0" sz="1400" u="none" cap="none" strike="noStrike">
              <a:solidFill>
                <a:srgbClr val="000000"/>
              </a:solidFill>
              <a:latin typeface="Arial"/>
              <a:ea typeface="Arial"/>
              <a:cs typeface="Arial"/>
              <a:sym typeface="Arial"/>
            </a:endParaRPr>
          </a:p>
        </p:txBody>
      </p:sp>
      <p:sp>
        <p:nvSpPr>
          <p:cNvPr id="119" name="Google Shape;119;p2"/>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LOGICA SECUENCIAL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123" name="Shape 123"/>
        <p:cNvGrpSpPr/>
        <p:nvPr/>
      </p:nvGrpSpPr>
      <p:grpSpPr>
        <a:xfrm>
          <a:off x="0" y="0"/>
          <a:ext cx="0" cy="0"/>
          <a:chOff x="0" y="0"/>
          <a:chExt cx="0" cy="0"/>
        </a:xfrm>
      </p:grpSpPr>
      <p:sp>
        <p:nvSpPr>
          <p:cNvPr id="124" name="Google Shape;124;p3"/>
          <p:cNvSpPr/>
          <p:nvPr/>
        </p:nvSpPr>
        <p:spPr>
          <a:xfrm>
            <a:off x="1331931" y="2147963"/>
            <a:ext cx="15624138" cy="5991074"/>
          </a:xfrm>
          <a:custGeom>
            <a:rect b="b" l="l" r="r" t="t"/>
            <a:pathLst>
              <a:path extrusionOk="0" h="5991074" w="15624138">
                <a:moveTo>
                  <a:pt x="0" y="0"/>
                </a:moveTo>
                <a:lnTo>
                  <a:pt x="15624138" y="0"/>
                </a:lnTo>
                <a:lnTo>
                  <a:pt x="15624138" y="5991074"/>
                </a:lnTo>
                <a:lnTo>
                  <a:pt x="0" y="599107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grpSp>
        <p:nvGrpSpPr>
          <p:cNvPr id="133" name="Google Shape;133;p4"/>
          <p:cNvGrpSpPr/>
          <p:nvPr/>
        </p:nvGrpSpPr>
        <p:grpSpPr>
          <a:xfrm>
            <a:off x="0" y="-253157"/>
            <a:ext cx="18288000" cy="2841699"/>
            <a:chOff x="0" y="-66675"/>
            <a:chExt cx="4816593" cy="748431"/>
          </a:xfrm>
        </p:grpSpPr>
        <p:sp>
          <p:nvSpPr>
            <p:cNvPr id="134" name="Google Shape;134;p4"/>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35" name="Google Shape;135;p4"/>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6" name="Google Shape;136;p4"/>
          <p:cNvSpPr txBox="1"/>
          <p:nvPr/>
        </p:nvSpPr>
        <p:spPr>
          <a:xfrm>
            <a:off x="1028700" y="3179626"/>
            <a:ext cx="16673700" cy="6894900"/>
          </a:xfrm>
          <a:prstGeom prst="rect">
            <a:avLst/>
          </a:prstGeom>
          <a:noFill/>
          <a:ln>
            <a:noFill/>
          </a:ln>
        </p:spPr>
        <p:txBody>
          <a:bodyPr anchorCtr="0" anchor="t" bIns="0" lIns="0" spcFirstLastPara="1" rIns="0" wrap="square" tIns="0">
            <a:spAutoFit/>
          </a:bodyPr>
          <a:lstStyle/>
          <a:p>
            <a:pPr indent="0" lvl="0" marL="0" marR="0" rtl="0" algn="l">
              <a:lnSpc>
                <a:spcPct val="131009"/>
              </a:lnSpc>
              <a:spcBef>
                <a:spcPts val="0"/>
              </a:spcBef>
              <a:spcAft>
                <a:spcPts val="0"/>
              </a:spcAft>
              <a:buClr>
                <a:srgbClr val="000000"/>
              </a:buClr>
              <a:buSzPts val="3502"/>
              <a:buFont typeface="Arial"/>
              <a:buNone/>
            </a:pPr>
            <a:r>
              <a:rPr b="0" i="0" lang="en-US" sz="3502" u="none" cap="none" strike="noStrike">
                <a:solidFill>
                  <a:srgbClr val="000000"/>
                </a:solidFill>
                <a:latin typeface="Montserrat"/>
                <a:ea typeface="Montserrat"/>
                <a:cs typeface="Montserrat"/>
                <a:sym typeface="Montserrat"/>
              </a:rPr>
              <a:t>Es un sistema cuyo comportamiento se define conociendo sus señales en instantes discretos. </a:t>
            </a:r>
            <a:endParaRPr b="0" i="0" sz="1400" u="none" cap="none" strike="noStrike">
              <a:solidFill>
                <a:srgbClr val="000000"/>
              </a:solidFill>
              <a:latin typeface="Arial"/>
              <a:ea typeface="Arial"/>
              <a:cs typeface="Arial"/>
              <a:sym typeface="Arial"/>
            </a:endParaRPr>
          </a:p>
          <a:p>
            <a:pPr indent="0" lvl="0" marL="0" marR="0" rtl="0" algn="l">
              <a:lnSpc>
                <a:spcPct val="131009"/>
              </a:lnSpc>
              <a:spcBef>
                <a:spcPts val="0"/>
              </a:spcBef>
              <a:spcAft>
                <a:spcPts val="0"/>
              </a:spcAft>
              <a:buClr>
                <a:srgbClr val="000000"/>
              </a:buClr>
              <a:buSzPts val="3502"/>
              <a:buFont typeface="Arial"/>
              <a:buNone/>
            </a:pPr>
            <a:r>
              <a:t/>
            </a:r>
            <a:endParaRPr b="0" i="0" sz="3502" u="none" cap="none" strike="noStrike">
              <a:solidFill>
                <a:srgbClr val="000000"/>
              </a:solidFill>
              <a:latin typeface="Montserrat"/>
              <a:ea typeface="Montserrat"/>
              <a:cs typeface="Montserrat"/>
              <a:sym typeface="Montserrat"/>
            </a:endParaRPr>
          </a:p>
          <a:p>
            <a:pPr indent="0" lvl="0" marL="0" marR="0" rtl="0" algn="l">
              <a:lnSpc>
                <a:spcPct val="131009"/>
              </a:lnSpc>
              <a:spcBef>
                <a:spcPts val="0"/>
              </a:spcBef>
              <a:spcAft>
                <a:spcPts val="0"/>
              </a:spcAft>
              <a:buClr>
                <a:srgbClr val="000000"/>
              </a:buClr>
              <a:buSzPts val="3502"/>
              <a:buFont typeface="Arial"/>
              <a:buNone/>
            </a:pPr>
            <a:r>
              <a:rPr b="0" i="0" lang="en-US" sz="3502" u="none" cap="none" strike="noStrike">
                <a:solidFill>
                  <a:srgbClr val="000000"/>
                </a:solidFill>
                <a:latin typeface="Montserrat"/>
                <a:ea typeface="Montserrat"/>
                <a:cs typeface="Montserrat"/>
                <a:sym typeface="Montserrat"/>
              </a:rPr>
              <a:t>Éste utiliza señales que afectan a los elementos de almacenamiento únicamente en instantes discretos. La sincronización se logra con la conexión en común de pulsos digitales en la entrada de “reloj” de estos dispositivos, el cual produce un tren periódico de pulsos de reloj. Los pulsos pueden ser periodicos o aleatorios, lo importante es que a traves del permiso de cambio sincronizado de estos pulsos los dispositivos o el sistema secuencial cambie al mismo tiempo .</a:t>
            </a:r>
            <a:endParaRPr b="0" i="0" sz="1400" u="none" cap="none" strike="noStrike">
              <a:solidFill>
                <a:srgbClr val="000000"/>
              </a:solidFill>
              <a:latin typeface="Arial"/>
              <a:ea typeface="Arial"/>
              <a:cs typeface="Arial"/>
              <a:sym typeface="Arial"/>
            </a:endParaRPr>
          </a:p>
        </p:txBody>
      </p:sp>
      <p:sp>
        <p:nvSpPr>
          <p:cNvPr id="137" name="Google Shape;137;p4"/>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CIRCUITOS SINCRÓNICOS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grpSp>
        <p:nvGrpSpPr>
          <p:cNvPr id="146" name="Google Shape;146;p5"/>
          <p:cNvGrpSpPr/>
          <p:nvPr/>
        </p:nvGrpSpPr>
        <p:grpSpPr>
          <a:xfrm>
            <a:off x="0" y="-253157"/>
            <a:ext cx="18288000" cy="2841699"/>
            <a:chOff x="0" y="-66675"/>
            <a:chExt cx="4816593" cy="748431"/>
          </a:xfrm>
        </p:grpSpPr>
        <p:sp>
          <p:nvSpPr>
            <p:cNvPr id="147" name="Google Shape;147;p5"/>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48" name="Google Shape;148;p5"/>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9" name="Google Shape;149;p5"/>
          <p:cNvSpPr/>
          <p:nvPr/>
        </p:nvSpPr>
        <p:spPr>
          <a:xfrm>
            <a:off x="5992257" y="5143500"/>
            <a:ext cx="8935347" cy="4911600"/>
          </a:xfrm>
          <a:custGeom>
            <a:rect b="b" l="l" r="r" t="t"/>
            <a:pathLst>
              <a:path extrusionOk="0" h="4911600" w="8935347">
                <a:moveTo>
                  <a:pt x="0" y="0"/>
                </a:moveTo>
                <a:lnTo>
                  <a:pt x="8935346" y="0"/>
                </a:lnTo>
                <a:lnTo>
                  <a:pt x="8935346" y="4911600"/>
                </a:lnTo>
                <a:lnTo>
                  <a:pt x="0" y="4911600"/>
                </a:lnTo>
                <a:lnTo>
                  <a:pt x="0" y="0"/>
                </a:lnTo>
                <a:close/>
              </a:path>
            </a:pathLst>
          </a:custGeom>
          <a:blipFill rotWithShape="1">
            <a:blip r:embed="rId3">
              <a:alphaModFix/>
            </a:blip>
            <a:stretch>
              <a:fillRect b="0" l="-1991" r="-1991" t="0"/>
            </a:stretch>
          </a:blipFill>
          <a:ln>
            <a:noFill/>
          </a:ln>
        </p:spPr>
      </p:sp>
      <p:sp>
        <p:nvSpPr>
          <p:cNvPr id="150" name="Google Shape;150;p5"/>
          <p:cNvSpPr txBox="1"/>
          <p:nvPr/>
        </p:nvSpPr>
        <p:spPr>
          <a:xfrm>
            <a:off x="1028700" y="2901597"/>
            <a:ext cx="16230600" cy="2556571"/>
          </a:xfrm>
          <a:prstGeom prst="rect">
            <a:avLst/>
          </a:prstGeom>
          <a:noFill/>
          <a:ln>
            <a:noFill/>
          </a:ln>
        </p:spPr>
        <p:txBody>
          <a:bodyPr anchorCtr="0" anchor="t" bIns="0" lIns="0" spcFirstLastPara="1" rIns="0" wrap="square" tIns="0">
            <a:spAutoFit/>
          </a:bodyPr>
          <a:lstStyle/>
          <a:p>
            <a:pPr indent="0" lvl="0" marL="0" marR="0" rtl="0" algn="l">
              <a:lnSpc>
                <a:spcPct val="131013"/>
              </a:lnSpc>
              <a:spcBef>
                <a:spcPts val="0"/>
              </a:spcBef>
              <a:spcAft>
                <a:spcPts val="0"/>
              </a:spcAft>
              <a:buClr>
                <a:srgbClr val="000000"/>
              </a:buClr>
              <a:buSzPts val="3089"/>
              <a:buFont typeface="Arial"/>
              <a:buNone/>
            </a:pPr>
            <a:r>
              <a:rPr b="0" i="0" lang="en-US" sz="3089" u="none" cap="none" strike="noStrike">
                <a:solidFill>
                  <a:srgbClr val="000000"/>
                </a:solidFill>
                <a:latin typeface="Montserrat"/>
                <a:ea typeface="Montserrat"/>
                <a:cs typeface="Montserrat"/>
                <a:sym typeface="Montserrat"/>
              </a:rPr>
              <a:t>Los elementos de almacenamiento empleados en los circuitos secuenciales con reloj se llaman flip-flops. Un flip-flop es un dispositivo binario de almacenamiento que puede almacenar un bit de información. Un circuito secuencial podría usar muchos flip-flops para almacenar tantos bits como sea necesario.</a:t>
            </a:r>
            <a:endParaRPr b="0" i="0" sz="1400" u="none" cap="none" strike="noStrike">
              <a:solidFill>
                <a:srgbClr val="000000"/>
              </a:solidFill>
              <a:latin typeface="Arial"/>
              <a:ea typeface="Arial"/>
              <a:cs typeface="Arial"/>
              <a:sym typeface="Arial"/>
            </a:endParaRPr>
          </a:p>
        </p:txBody>
      </p:sp>
      <p:sp>
        <p:nvSpPr>
          <p:cNvPr id="151" name="Google Shape;151;p5"/>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CIRCUITOS SINCRÓNICOS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grpSp>
        <p:nvGrpSpPr>
          <p:cNvPr id="160" name="Google Shape;160;p6"/>
          <p:cNvGrpSpPr/>
          <p:nvPr/>
        </p:nvGrpSpPr>
        <p:grpSpPr>
          <a:xfrm>
            <a:off x="0" y="-253157"/>
            <a:ext cx="18288000" cy="2841699"/>
            <a:chOff x="0" y="-66675"/>
            <a:chExt cx="4816593" cy="748431"/>
          </a:xfrm>
        </p:grpSpPr>
        <p:sp>
          <p:nvSpPr>
            <p:cNvPr id="161" name="Google Shape;161;p6"/>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62" name="Google Shape;162;p6"/>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6"/>
          <p:cNvSpPr txBox="1"/>
          <p:nvPr/>
        </p:nvSpPr>
        <p:spPr>
          <a:xfrm>
            <a:off x="1243148" y="3861140"/>
            <a:ext cx="15801705" cy="3718730"/>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El comportamiento de un circuito secuencial asincrónico depende de las señales de entrada en cualquier instante dado y del orden en que cambian las entradas. Los elementos de almacenamiento que suelen usarse en los circuitos secuenciales asincrónicos son dispositivos de retardo de tiempo.</a:t>
            </a:r>
            <a:endParaRPr b="0" i="0" sz="1400" u="none" cap="none" strike="noStrike">
              <a:solidFill>
                <a:srgbClr val="000000"/>
              </a:solidFill>
              <a:latin typeface="Arial"/>
              <a:ea typeface="Arial"/>
              <a:cs typeface="Arial"/>
              <a:sym typeface="Arial"/>
            </a:endParaRPr>
          </a:p>
        </p:txBody>
      </p:sp>
      <p:sp>
        <p:nvSpPr>
          <p:cNvPr id="164" name="Google Shape;164;p6"/>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CIRCUITO ASINCRONICO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grpSp>
        <p:nvGrpSpPr>
          <p:cNvPr id="173" name="Google Shape;173;p7"/>
          <p:cNvGrpSpPr/>
          <p:nvPr/>
        </p:nvGrpSpPr>
        <p:grpSpPr>
          <a:xfrm>
            <a:off x="0" y="-253157"/>
            <a:ext cx="18288000" cy="2841699"/>
            <a:chOff x="0" y="-66675"/>
            <a:chExt cx="4816593" cy="748431"/>
          </a:xfrm>
        </p:grpSpPr>
        <p:sp>
          <p:nvSpPr>
            <p:cNvPr id="174" name="Google Shape;174;p7"/>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75" name="Google Shape;175;p7"/>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6" name="Google Shape;176;p7"/>
          <p:cNvSpPr txBox="1"/>
          <p:nvPr/>
        </p:nvSpPr>
        <p:spPr>
          <a:xfrm>
            <a:off x="1028700" y="3355632"/>
            <a:ext cx="15801705" cy="4963081"/>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En circuitos secuenciales asíncronos los cambios de estados ocurren al ritmo natural asociado a las compuertas lógicas utilizadas en su implementación, lo que produce retardos en cascadas entre los biestables del circuito, es decir no utilizan elementos especiales de memoria, lo que puede ocasionar algunos problemas de funcionamiento, ya que estos retardos naturales no están bajo el control del diseñador y además no son idénticos en cada compuerta lógica.</a:t>
            </a:r>
            <a:endParaRPr b="0" i="0" sz="1400" u="none" cap="none" strike="noStrike">
              <a:solidFill>
                <a:srgbClr val="000000"/>
              </a:solidFill>
              <a:latin typeface="Arial"/>
              <a:ea typeface="Arial"/>
              <a:cs typeface="Arial"/>
              <a:sym typeface="Arial"/>
            </a:endParaRPr>
          </a:p>
        </p:txBody>
      </p:sp>
      <p:sp>
        <p:nvSpPr>
          <p:cNvPr id="177" name="Google Shape;177;p7"/>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CIRCUITO ASINCRONICO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grpSp>
        <p:nvGrpSpPr>
          <p:cNvPr id="186" name="Google Shape;186;p8"/>
          <p:cNvGrpSpPr/>
          <p:nvPr/>
        </p:nvGrpSpPr>
        <p:grpSpPr>
          <a:xfrm>
            <a:off x="0" y="-253157"/>
            <a:ext cx="18288000" cy="2841699"/>
            <a:chOff x="0" y="-66675"/>
            <a:chExt cx="4816593" cy="748431"/>
          </a:xfrm>
        </p:grpSpPr>
        <p:sp>
          <p:nvSpPr>
            <p:cNvPr id="187" name="Google Shape;187;p8"/>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188" name="Google Shape;188;p8"/>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9" name="Google Shape;189;p8"/>
          <p:cNvSpPr txBox="1"/>
          <p:nvPr/>
        </p:nvSpPr>
        <p:spPr>
          <a:xfrm>
            <a:off x="1028700" y="3785314"/>
            <a:ext cx="15801705" cy="3718730"/>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Los tipos más básicos de flip-flops operan con niveles de señal</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y se llaman latches. Los latches que veremos aquí son los</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circuitos básicos con los que se construyen todos los flip-flops.</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Aunque los latches son útiles para almacenar información</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binaria y para diseñar circuitos secuenciales asincrónicos , NO</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resultan prácticos en los circuitos secuenciales sincrónicos.</a:t>
            </a:r>
            <a:endParaRPr b="0" i="0" sz="1400" u="none" cap="none" strike="noStrike">
              <a:solidFill>
                <a:srgbClr val="000000"/>
              </a:solidFill>
              <a:latin typeface="Arial"/>
              <a:ea typeface="Arial"/>
              <a:cs typeface="Arial"/>
              <a:sym typeface="Arial"/>
            </a:endParaRPr>
          </a:p>
        </p:txBody>
      </p:sp>
      <p:sp>
        <p:nvSpPr>
          <p:cNvPr id="190" name="Google Shape;190;p8"/>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LATCH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grpSp>
        <p:nvGrpSpPr>
          <p:cNvPr id="199" name="Google Shape;199;p9"/>
          <p:cNvGrpSpPr/>
          <p:nvPr/>
        </p:nvGrpSpPr>
        <p:grpSpPr>
          <a:xfrm>
            <a:off x="0" y="-253157"/>
            <a:ext cx="18288000" cy="2841699"/>
            <a:chOff x="0" y="-66675"/>
            <a:chExt cx="4816593" cy="748431"/>
          </a:xfrm>
        </p:grpSpPr>
        <p:sp>
          <p:nvSpPr>
            <p:cNvPr id="200" name="Google Shape;200;p9"/>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01" name="Google Shape;201;p9"/>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9"/>
          <p:cNvSpPr txBox="1"/>
          <p:nvPr/>
        </p:nvSpPr>
        <p:spPr>
          <a:xfrm>
            <a:off x="1028700" y="3153429"/>
            <a:ext cx="15801705" cy="5585256"/>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El latch SR es un circuito con dos compuertas NOR acopladas</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en cruz o dos compuertas NAND acopladas en cruz. Tiene dos</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entradas, S (de set, establecer) y R (de reset, restablecer). El</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latch SR que se construye con dos compuertas NOR acopladas</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en cruz.</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t/>
            </a:r>
            <a:endParaRPr b="0" i="0" sz="3752" u="none" cap="none" strike="noStrike">
              <a:solidFill>
                <a:srgbClr val="000000"/>
              </a:solidFill>
              <a:latin typeface="Montserrat"/>
              <a:ea typeface="Montserrat"/>
              <a:cs typeface="Montserrat"/>
              <a:sym typeface="Montserrat"/>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El latch tiene dos estados útiles. Cuando las salidas Q=1 y</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Q’=0, decimos que está en el estado establecido. Cuando Q=0</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y Q’=1, está en el estado restablecido.</a:t>
            </a:r>
            <a:endParaRPr b="0" i="0" sz="1400" u="none" cap="none" strike="noStrike">
              <a:solidFill>
                <a:srgbClr val="000000"/>
              </a:solidFill>
              <a:latin typeface="Arial"/>
              <a:ea typeface="Arial"/>
              <a:cs typeface="Arial"/>
              <a:sym typeface="Arial"/>
            </a:endParaRPr>
          </a:p>
        </p:txBody>
      </p:sp>
      <p:sp>
        <p:nvSpPr>
          <p:cNvPr id="203" name="Google Shape;203;p9"/>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LATCH SR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07" name="Shape 207"/>
        <p:cNvGrpSpPr/>
        <p:nvPr/>
      </p:nvGrpSpPr>
      <p:grpSpPr>
        <a:xfrm>
          <a:off x="0" y="0"/>
          <a:ext cx="0" cy="0"/>
          <a:chOff x="0" y="0"/>
          <a:chExt cx="0" cy="0"/>
        </a:xfrm>
      </p:grpSpPr>
      <p:sp>
        <p:nvSpPr>
          <p:cNvPr id="208" name="Google Shape;208;p10"/>
          <p:cNvSpPr/>
          <p:nvPr/>
        </p:nvSpPr>
        <p:spPr>
          <a:xfrm>
            <a:off x="1028700" y="1956344"/>
            <a:ext cx="15811797" cy="6374313"/>
          </a:xfrm>
          <a:custGeom>
            <a:rect b="b" l="l" r="r" t="t"/>
            <a:pathLst>
              <a:path extrusionOk="0" h="6374313" w="15811797">
                <a:moveTo>
                  <a:pt x="0" y="0"/>
                </a:moveTo>
                <a:lnTo>
                  <a:pt x="15811797" y="0"/>
                </a:lnTo>
                <a:lnTo>
                  <a:pt x="15811797" y="6374312"/>
                </a:lnTo>
                <a:lnTo>
                  <a:pt x="0" y="637431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12" name="Shape 212"/>
        <p:cNvGrpSpPr/>
        <p:nvPr/>
      </p:nvGrpSpPr>
      <p:grpSpPr>
        <a:xfrm>
          <a:off x="0" y="0"/>
          <a:ext cx="0" cy="0"/>
          <a:chOff x="0" y="0"/>
          <a:chExt cx="0" cy="0"/>
        </a:xfrm>
      </p:grpSpPr>
      <p:sp>
        <p:nvSpPr>
          <p:cNvPr id="213" name="Google Shape;213;p11"/>
          <p:cNvSpPr/>
          <p:nvPr/>
        </p:nvSpPr>
        <p:spPr>
          <a:xfrm>
            <a:off x="1212171" y="1891271"/>
            <a:ext cx="15406171" cy="6672189"/>
          </a:xfrm>
          <a:custGeom>
            <a:rect b="b" l="l" r="r" t="t"/>
            <a:pathLst>
              <a:path extrusionOk="0" h="6672189" w="15406171">
                <a:moveTo>
                  <a:pt x="0" y="0"/>
                </a:moveTo>
                <a:lnTo>
                  <a:pt x="15406171" y="0"/>
                </a:lnTo>
                <a:lnTo>
                  <a:pt x="15406171" y="6672189"/>
                </a:lnTo>
                <a:lnTo>
                  <a:pt x="0" y="667218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17" name="Shape 217"/>
        <p:cNvGrpSpPr/>
        <p:nvPr/>
      </p:nvGrpSpPr>
      <p:grpSpPr>
        <a:xfrm>
          <a:off x="0" y="0"/>
          <a:ext cx="0" cy="0"/>
          <a:chOff x="0" y="0"/>
          <a:chExt cx="0" cy="0"/>
        </a:xfrm>
      </p:grpSpPr>
      <p:sp>
        <p:nvSpPr>
          <p:cNvPr id="218" name="Google Shape;218;p12"/>
          <p:cNvSpPr/>
          <p:nvPr/>
        </p:nvSpPr>
        <p:spPr>
          <a:xfrm>
            <a:off x="1028700" y="1835256"/>
            <a:ext cx="15975710" cy="6616489"/>
          </a:xfrm>
          <a:custGeom>
            <a:rect b="b" l="l" r="r" t="t"/>
            <a:pathLst>
              <a:path extrusionOk="0" h="6616489" w="15975710">
                <a:moveTo>
                  <a:pt x="0" y="0"/>
                </a:moveTo>
                <a:lnTo>
                  <a:pt x="15975710" y="0"/>
                </a:lnTo>
                <a:lnTo>
                  <a:pt x="15975710" y="6616488"/>
                </a:lnTo>
                <a:lnTo>
                  <a:pt x="0" y="661648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grpSp>
        <p:nvGrpSpPr>
          <p:cNvPr id="227" name="Google Shape;227;p13"/>
          <p:cNvGrpSpPr/>
          <p:nvPr/>
        </p:nvGrpSpPr>
        <p:grpSpPr>
          <a:xfrm>
            <a:off x="0" y="-253157"/>
            <a:ext cx="18288000" cy="2841699"/>
            <a:chOff x="0" y="-66675"/>
            <a:chExt cx="4816593" cy="748431"/>
          </a:xfrm>
        </p:grpSpPr>
        <p:sp>
          <p:nvSpPr>
            <p:cNvPr id="228" name="Google Shape;228;p13"/>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29" name="Google Shape;229;p13"/>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0" name="Google Shape;230;p13"/>
          <p:cNvSpPr txBox="1"/>
          <p:nvPr/>
        </p:nvSpPr>
        <p:spPr>
          <a:xfrm>
            <a:off x="1028700" y="3962241"/>
            <a:ext cx="15801705" cy="3718730"/>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Una forma de eliminar la condición indeseable del estado</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indeterminado en el latch SR es garantizar que las entradas S</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y R nunca sean 1 al mismo tiempo. Esto se hace en el latch D.</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Este latch sólo tiene dos entradas: D (datos) y C (control). La</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entrada D pasa directamente a la entrada S y su complemento</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se aplica a la entrada R</a:t>
            </a:r>
            <a:endParaRPr b="0" i="0" sz="1400" u="none" cap="none" strike="noStrike">
              <a:solidFill>
                <a:srgbClr val="000000"/>
              </a:solidFill>
              <a:latin typeface="Arial"/>
              <a:ea typeface="Arial"/>
              <a:cs typeface="Arial"/>
              <a:sym typeface="Arial"/>
            </a:endParaRPr>
          </a:p>
        </p:txBody>
      </p:sp>
      <p:sp>
        <p:nvSpPr>
          <p:cNvPr id="231" name="Google Shape;231;p13"/>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LATCH 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35" name="Shape 235"/>
        <p:cNvGrpSpPr/>
        <p:nvPr/>
      </p:nvGrpSpPr>
      <p:grpSpPr>
        <a:xfrm>
          <a:off x="0" y="0"/>
          <a:ext cx="0" cy="0"/>
          <a:chOff x="0" y="0"/>
          <a:chExt cx="0" cy="0"/>
        </a:xfrm>
      </p:grpSpPr>
      <p:sp>
        <p:nvSpPr>
          <p:cNvPr id="236" name="Google Shape;236;p14"/>
          <p:cNvSpPr/>
          <p:nvPr/>
        </p:nvSpPr>
        <p:spPr>
          <a:xfrm>
            <a:off x="1028700" y="1957938"/>
            <a:ext cx="16045311" cy="6371124"/>
          </a:xfrm>
          <a:custGeom>
            <a:rect b="b" l="l" r="r" t="t"/>
            <a:pathLst>
              <a:path extrusionOk="0" h="6371124" w="16045311">
                <a:moveTo>
                  <a:pt x="0" y="0"/>
                </a:moveTo>
                <a:lnTo>
                  <a:pt x="16045311" y="0"/>
                </a:lnTo>
                <a:lnTo>
                  <a:pt x="16045311" y="6371124"/>
                </a:lnTo>
                <a:lnTo>
                  <a:pt x="0" y="637112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grpSp>
        <p:nvGrpSpPr>
          <p:cNvPr id="245" name="Google Shape;245;p15"/>
          <p:cNvGrpSpPr/>
          <p:nvPr/>
        </p:nvGrpSpPr>
        <p:grpSpPr>
          <a:xfrm>
            <a:off x="0" y="-253157"/>
            <a:ext cx="18288000" cy="2841699"/>
            <a:chOff x="0" y="-66675"/>
            <a:chExt cx="4816593" cy="748431"/>
          </a:xfrm>
        </p:grpSpPr>
        <p:sp>
          <p:nvSpPr>
            <p:cNvPr id="246" name="Google Shape;246;p15"/>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47" name="Google Shape;247;p15"/>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8" name="Google Shape;248;p15"/>
          <p:cNvSpPr txBox="1"/>
          <p:nvPr/>
        </p:nvSpPr>
        <p:spPr>
          <a:xfrm>
            <a:off x="1028700" y="3962241"/>
            <a:ext cx="15801705" cy="3718730"/>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El estado de un latch o flip-flop se conmuta con un cambio en</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la entrada de control. Este cambio momentáneo se denomina</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disparo y decimos que la transición que causa dispara el</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flip-flop. El latch D con pulsos en su entrada de control es</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básicamente un flip-flop que se dispara cada vez que el pulso</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alcanza el nivel de 1 lógico.</a:t>
            </a:r>
            <a:endParaRPr b="0" i="0" sz="1400" u="none" cap="none" strike="noStrike">
              <a:solidFill>
                <a:srgbClr val="000000"/>
              </a:solidFill>
              <a:latin typeface="Arial"/>
              <a:ea typeface="Arial"/>
              <a:cs typeface="Arial"/>
              <a:sym typeface="Arial"/>
            </a:endParaRPr>
          </a:p>
        </p:txBody>
      </p:sp>
      <p:sp>
        <p:nvSpPr>
          <p:cNvPr id="249" name="Google Shape;249;p15"/>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FLIP-FLOPS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53" name="Shape 253"/>
        <p:cNvGrpSpPr/>
        <p:nvPr/>
      </p:nvGrpSpPr>
      <p:grpSpPr>
        <a:xfrm>
          <a:off x="0" y="0"/>
          <a:ext cx="0" cy="0"/>
          <a:chOff x="0" y="0"/>
          <a:chExt cx="0" cy="0"/>
        </a:xfrm>
      </p:grpSpPr>
      <p:sp>
        <p:nvSpPr>
          <p:cNvPr id="254" name="Google Shape;254;p16"/>
          <p:cNvSpPr/>
          <p:nvPr/>
        </p:nvSpPr>
        <p:spPr>
          <a:xfrm>
            <a:off x="1534208" y="1028700"/>
            <a:ext cx="14429245" cy="8561751"/>
          </a:xfrm>
          <a:custGeom>
            <a:rect b="b" l="l" r="r" t="t"/>
            <a:pathLst>
              <a:path extrusionOk="0" h="8561751" w="14429245">
                <a:moveTo>
                  <a:pt x="0" y="0"/>
                </a:moveTo>
                <a:lnTo>
                  <a:pt x="14429245" y="0"/>
                </a:lnTo>
                <a:lnTo>
                  <a:pt x="14429245" y="8561751"/>
                </a:lnTo>
                <a:lnTo>
                  <a:pt x="0" y="856175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58" name="Shape 258"/>
        <p:cNvGrpSpPr/>
        <p:nvPr/>
      </p:nvGrpSpPr>
      <p:grpSpPr>
        <a:xfrm>
          <a:off x="0" y="0"/>
          <a:ext cx="0" cy="0"/>
          <a:chOff x="0" y="0"/>
          <a:chExt cx="0" cy="0"/>
        </a:xfrm>
      </p:grpSpPr>
      <p:sp>
        <p:nvSpPr>
          <p:cNvPr id="259" name="Google Shape;259;p17"/>
          <p:cNvSpPr/>
          <p:nvPr/>
        </p:nvSpPr>
        <p:spPr>
          <a:xfrm>
            <a:off x="708085" y="587270"/>
            <a:ext cx="16391903" cy="8323130"/>
          </a:xfrm>
          <a:custGeom>
            <a:rect b="b" l="l" r="r" t="t"/>
            <a:pathLst>
              <a:path extrusionOk="0" h="8323130" w="16391903">
                <a:moveTo>
                  <a:pt x="0" y="0"/>
                </a:moveTo>
                <a:lnTo>
                  <a:pt x="16391903" y="0"/>
                </a:lnTo>
                <a:lnTo>
                  <a:pt x="16391903" y="8323130"/>
                </a:lnTo>
                <a:lnTo>
                  <a:pt x="0" y="832313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63" name="Shape 263"/>
        <p:cNvGrpSpPr/>
        <p:nvPr/>
      </p:nvGrpSpPr>
      <p:grpSpPr>
        <a:xfrm>
          <a:off x="0" y="0"/>
          <a:ext cx="0" cy="0"/>
          <a:chOff x="0" y="0"/>
          <a:chExt cx="0" cy="0"/>
        </a:xfrm>
      </p:grpSpPr>
      <p:sp>
        <p:nvSpPr>
          <p:cNvPr id="264" name="Google Shape;264;p18"/>
          <p:cNvSpPr/>
          <p:nvPr/>
        </p:nvSpPr>
        <p:spPr>
          <a:xfrm>
            <a:off x="413870" y="869048"/>
            <a:ext cx="17460259" cy="8176512"/>
          </a:xfrm>
          <a:custGeom>
            <a:rect b="b" l="l" r="r" t="t"/>
            <a:pathLst>
              <a:path extrusionOk="0" h="8176512" w="17460259">
                <a:moveTo>
                  <a:pt x="0" y="0"/>
                </a:moveTo>
                <a:lnTo>
                  <a:pt x="17460260" y="0"/>
                </a:lnTo>
                <a:lnTo>
                  <a:pt x="17460260" y="8176511"/>
                </a:lnTo>
                <a:lnTo>
                  <a:pt x="0" y="817651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268" name="Shape 268"/>
        <p:cNvGrpSpPr/>
        <p:nvPr/>
      </p:nvGrpSpPr>
      <p:grpSpPr>
        <a:xfrm>
          <a:off x="0" y="0"/>
          <a:ext cx="0" cy="0"/>
          <a:chOff x="0" y="0"/>
          <a:chExt cx="0" cy="0"/>
        </a:xfrm>
      </p:grpSpPr>
      <p:sp>
        <p:nvSpPr>
          <p:cNvPr id="269" name="Google Shape;269;p19"/>
          <p:cNvSpPr/>
          <p:nvPr/>
        </p:nvSpPr>
        <p:spPr>
          <a:xfrm>
            <a:off x="647323" y="1256178"/>
            <a:ext cx="16993353" cy="7273263"/>
          </a:xfrm>
          <a:custGeom>
            <a:rect b="b" l="l" r="r" t="t"/>
            <a:pathLst>
              <a:path extrusionOk="0" h="7273263" w="16993353">
                <a:moveTo>
                  <a:pt x="0" y="0"/>
                </a:moveTo>
                <a:lnTo>
                  <a:pt x="16993354" y="0"/>
                </a:lnTo>
                <a:lnTo>
                  <a:pt x="16993354" y="7273263"/>
                </a:lnTo>
                <a:lnTo>
                  <a:pt x="0" y="727326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grpSp>
        <p:nvGrpSpPr>
          <p:cNvPr id="278" name="Google Shape;278;p20"/>
          <p:cNvGrpSpPr/>
          <p:nvPr/>
        </p:nvGrpSpPr>
        <p:grpSpPr>
          <a:xfrm>
            <a:off x="0" y="-253157"/>
            <a:ext cx="18288000" cy="2841699"/>
            <a:chOff x="0" y="-66675"/>
            <a:chExt cx="4816593" cy="748431"/>
          </a:xfrm>
        </p:grpSpPr>
        <p:sp>
          <p:nvSpPr>
            <p:cNvPr id="279" name="Google Shape;279;p20"/>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80" name="Google Shape;280;p20"/>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1" name="Google Shape;281;p20"/>
          <p:cNvSpPr/>
          <p:nvPr/>
        </p:nvSpPr>
        <p:spPr>
          <a:xfrm>
            <a:off x="10138812" y="6240461"/>
            <a:ext cx="3763269" cy="3749175"/>
          </a:xfrm>
          <a:custGeom>
            <a:rect b="b" l="l" r="r" t="t"/>
            <a:pathLst>
              <a:path extrusionOk="0" h="3749175" w="3763269">
                <a:moveTo>
                  <a:pt x="0" y="0"/>
                </a:moveTo>
                <a:lnTo>
                  <a:pt x="3763270" y="0"/>
                </a:lnTo>
                <a:lnTo>
                  <a:pt x="3763270" y="3749174"/>
                </a:lnTo>
                <a:lnTo>
                  <a:pt x="0" y="3749174"/>
                </a:lnTo>
                <a:lnTo>
                  <a:pt x="0" y="0"/>
                </a:lnTo>
                <a:close/>
              </a:path>
            </a:pathLst>
          </a:custGeom>
          <a:blipFill rotWithShape="1">
            <a:blip r:embed="rId3">
              <a:alphaModFix/>
            </a:blip>
            <a:stretch>
              <a:fillRect b="0" l="0" r="0" t="0"/>
            </a:stretch>
          </a:blipFill>
          <a:ln>
            <a:noFill/>
          </a:ln>
        </p:spPr>
      </p:sp>
      <p:sp>
        <p:nvSpPr>
          <p:cNvPr id="282" name="Google Shape;282;p20"/>
          <p:cNvSpPr txBox="1"/>
          <p:nvPr/>
        </p:nvSpPr>
        <p:spPr>
          <a:xfrm>
            <a:off x="1028700" y="2951226"/>
            <a:ext cx="15801705" cy="3718730"/>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Es un dispositivo pasivo, utilizado en electricidad y</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electrónica, capaz de almacenar energía sustentando un</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campo eléctrico. Está formado por un par de superficies</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conductoras, generalmente en forma de láminas o placas, en</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situación de influencia total separadas por un material</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dieléctrico o por vacío.</a:t>
            </a:r>
            <a:endParaRPr b="0" i="0" sz="1400" u="none" cap="none" strike="noStrike">
              <a:solidFill>
                <a:srgbClr val="000000"/>
              </a:solidFill>
              <a:latin typeface="Arial"/>
              <a:ea typeface="Arial"/>
              <a:cs typeface="Arial"/>
              <a:sym typeface="Arial"/>
            </a:endParaRPr>
          </a:p>
        </p:txBody>
      </p:sp>
      <p:sp>
        <p:nvSpPr>
          <p:cNvPr id="283" name="Google Shape;283;p20"/>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CAPACITOR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grpSp>
        <p:nvGrpSpPr>
          <p:cNvPr id="292" name="Google Shape;292;p21"/>
          <p:cNvGrpSpPr/>
          <p:nvPr/>
        </p:nvGrpSpPr>
        <p:grpSpPr>
          <a:xfrm>
            <a:off x="0" y="-253157"/>
            <a:ext cx="18288000" cy="2841699"/>
            <a:chOff x="0" y="-66675"/>
            <a:chExt cx="4816593" cy="748431"/>
          </a:xfrm>
        </p:grpSpPr>
        <p:sp>
          <p:nvSpPr>
            <p:cNvPr id="293" name="Google Shape;293;p21"/>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294" name="Google Shape;294;p21"/>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5" name="Google Shape;295;p21"/>
          <p:cNvSpPr txBox="1"/>
          <p:nvPr/>
        </p:nvSpPr>
        <p:spPr>
          <a:xfrm>
            <a:off x="1243148" y="4720503"/>
            <a:ext cx="15801705" cy="2474380"/>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Cuando aumenta la diferencia de potencial entre sus</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terminales, el condensador almacena carga eléctrica debido a</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la presencia de un campo eléctrico en su interior; cuando esta</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disminuye, el condensador devuelve dicha carga al circuito.</a:t>
            </a:r>
            <a:endParaRPr b="0" i="0" sz="1400" u="none" cap="none" strike="noStrike">
              <a:solidFill>
                <a:srgbClr val="000000"/>
              </a:solidFill>
              <a:latin typeface="Arial"/>
              <a:ea typeface="Arial"/>
              <a:cs typeface="Arial"/>
              <a:sym typeface="Arial"/>
            </a:endParaRPr>
          </a:p>
        </p:txBody>
      </p:sp>
      <p:sp>
        <p:nvSpPr>
          <p:cNvPr id="296" name="Google Shape;296;p21"/>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ALMACENAJE DE ENERGÍA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grpSp>
        <p:nvGrpSpPr>
          <p:cNvPr id="305" name="Google Shape;305;p22"/>
          <p:cNvGrpSpPr/>
          <p:nvPr/>
        </p:nvGrpSpPr>
        <p:grpSpPr>
          <a:xfrm>
            <a:off x="0" y="-253157"/>
            <a:ext cx="18288000" cy="2841699"/>
            <a:chOff x="0" y="-66675"/>
            <a:chExt cx="4816593" cy="748431"/>
          </a:xfrm>
        </p:grpSpPr>
        <p:sp>
          <p:nvSpPr>
            <p:cNvPr id="306" name="Google Shape;306;p22"/>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307" name="Google Shape;307;p22"/>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8" name="Google Shape;308;p22"/>
          <p:cNvSpPr txBox="1"/>
          <p:nvPr/>
        </p:nvSpPr>
        <p:spPr>
          <a:xfrm>
            <a:off x="1028700" y="2875400"/>
            <a:ext cx="15801705" cy="6207431"/>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Al conectar un condensador en serie con una resistencia a una</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fuente de tensión eléctrica (o comúnmente, fuente de alimentación), la corriente empieza a circular por ambos. El condensador va acumulando carga entre sus placas. Cuando el condensador se encuentra totalmente cargado, deja de circular corriente por el circuito. Si se quita la fuente y se coloca el condensador y la resistencia en paralelo, las cargas empiezan a fluir de una de las placas del condensador a la otra a través de la resistencia, hasta que la carga o energía almacenada en el condensador es nula.</a:t>
            </a:r>
            <a:endParaRPr b="0" i="0" sz="1400" u="none" cap="none" strike="noStrike">
              <a:solidFill>
                <a:srgbClr val="000000"/>
              </a:solidFill>
              <a:latin typeface="Arial"/>
              <a:ea typeface="Arial"/>
              <a:cs typeface="Arial"/>
              <a:sym typeface="Arial"/>
            </a:endParaRPr>
          </a:p>
        </p:txBody>
      </p:sp>
      <p:sp>
        <p:nvSpPr>
          <p:cNvPr id="309" name="Google Shape;309;p22"/>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CARGA Y DESCARGA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grpSp>
        <p:nvGrpSpPr>
          <p:cNvPr id="318" name="Google Shape;318;p23"/>
          <p:cNvGrpSpPr/>
          <p:nvPr/>
        </p:nvGrpSpPr>
        <p:grpSpPr>
          <a:xfrm>
            <a:off x="0" y="-253157"/>
            <a:ext cx="18288000" cy="2841699"/>
            <a:chOff x="0" y="-66675"/>
            <a:chExt cx="4816593" cy="748431"/>
          </a:xfrm>
        </p:grpSpPr>
        <p:sp>
          <p:nvSpPr>
            <p:cNvPr id="319" name="Google Shape;319;p23"/>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320" name="Google Shape;320;p23"/>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1" name="Google Shape;321;p23"/>
          <p:cNvSpPr/>
          <p:nvPr/>
        </p:nvSpPr>
        <p:spPr>
          <a:xfrm>
            <a:off x="11684228" y="5555675"/>
            <a:ext cx="5990727" cy="4731313"/>
          </a:xfrm>
          <a:custGeom>
            <a:rect b="b" l="l" r="r" t="t"/>
            <a:pathLst>
              <a:path extrusionOk="0" h="4731313" w="5990727">
                <a:moveTo>
                  <a:pt x="0" y="0"/>
                </a:moveTo>
                <a:lnTo>
                  <a:pt x="5990727" y="0"/>
                </a:lnTo>
                <a:lnTo>
                  <a:pt x="5990727" y="4731313"/>
                </a:lnTo>
                <a:lnTo>
                  <a:pt x="0" y="4731313"/>
                </a:lnTo>
                <a:lnTo>
                  <a:pt x="0" y="0"/>
                </a:lnTo>
                <a:close/>
              </a:path>
            </a:pathLst>
          </a:custGeom>
          <a:blipFill rotWithShape="1">
            <a:blip r:embed="rId3">
              <a:alphaModFix/>
            </a:blip>
            <a:stretch>
              <a:fillRect b="0" l="0" r="0" t="0"/>
            </a:stretch>
          </a:blipFill>
          <a:ln>
            <a:noFill/>
          </a:ln>
        </p:spPr>
      </p:sp>
      <p:sp>
        <p:nvSpPr>
          <p:cNvPr id="322" name="Google Shape;322;p23"/>
          <p:cNvSpPr txBox="1"/>
          <p:nvPr/>
        </p:nvSpPr>
        <p:spPr>
          <a:xfrm>
            <a:off x="1028700" y="2875400"/>
            <a:ext cx="15801600" cy="3603600"/>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El dispositivo 555 es un circuito integrado muy versatil cuya</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función primordial es la de producir pulsos de temporización</a:t>
            </a:r>
            <a:endParaRPr b="0" i="0" sz="1400" u="none" cap="none" strike="noStrike">
              <a:solidFill>
                <a:srgbClr val="000000"/>
              </a:solidFill>
              <a:latin typeface="Arial"/>
              <a:ea typeface="Arial"/>
              <a:cs typeface="Arial"/>
              <a:sym typeface="Arial"/>
            </a:endParaRPr>
          </a:p>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con precisión y que, además, puede funcionar generando un tren de pulsos simetricos y periodicos en el tiempo bajo esta modalidad comunmente se le llama oscilador.</a:t>
            </a:r>
            <a:endParaRPr b="0" i="0" sz="1400" u="none" cap="none" strike="noStrike">
              <a:solidFill>
                <a:srgbClr val="000000"/>
              </a:solidFill>
              <a:latin typeface="Arial"/>
              <a:ea typeface="Arial"/>
              <a:cs typeface="Arial"/>
              <a:sym typeface="Arial"/>
            </a:endParaRPr>
          </a:p>
        </p:txBody>
      </p:sp>
      <p:sp>
        <p:nvSpPr>
          <p:cNvPr id="323" name="Google Shape;323;p23"/>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555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grpSp>
        <p:nvGrpSpPr>
          <p:cNvPr id="332" name="Google Shape;332;p24"/>
          <p:cNvGrpSpPr/>
          <p:nvPr/>
        </p:nvGrpSpPr>
        <p:grpSpPr>
          <a:xfrm>
            <a:off x="0" y="-253157"/>
            <a:ext cx="18288000" cy="2841699"/>
            <a:chOff x="0" y="-66675"/>
            <a:chExt cx="4816593" cy="748431"/>
          </a:xfrm>
        </p:grpSpPr>
        <p:sp>
          <p:nvSpPr>
            <p:cNvPr id="333" name="Google Shape;333;p24"/>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334" name="Google Shape;334;p24"/>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5" name="Google Shape;335;p24"/>
          <p:cNvSpPr/>
          <p:nvPr/>
        </p:nvSpPr>
        <p:spPr>
          <a:xfrm>
            <a:off x="2684220" y="2882144"/>
            <a:ext cx="11656950" cy="6767626"/>
          </a:xfrm>
          <a:custGeom>
            <a:rect b="b" l="l" r="r" t="t"/>
            <a:pathLst>
              <a:path extrusionOk="0" h="6767626" w="11656950">
                <a:moveTo>
                  <a:pt x="0" y="0"/>
                </a:moveTo>
                <a:lnTo>
                  <a:pt x="11656950" y="0"/>
                </a:lnTo>
                <a:lnTo>
                  <a:pt x="11656950" y="6767626"/>
                </a:lnTo>
                <a:lnTo>
                  <a:pt x="0" y="6767626"/>
                </a:lnTo>
                <a:lnTo>
                  <a:pt x="0" y="0"/>
                </a:lnTo>
                <a:close/>
              </a:path>
            </a:pathLst>
          </a:custGeom>
          <a:blipFill rotWithShape="1">
            <a:blip r:embed="rId3">
              <a:alphaModFix/>
            </a:blip>
            <a:stretch>
              <a:fillRect b="0" l="0" r="0" t="0"/>
            </a:stretch>
          </a:blipFill>
          <a:ln>
            <a:noFill/>
          </a:ln>
        </p:spPr>
      </p:sp>
      <p:sp>
        <p:nvSpPr>
          <p:cNvPr id="336" name="Google Shape;336;p24"/>
          <p:cNvSpPr txBox="1"/>
          <p:nvPr/>
        </p:nvSpPr>
        <p:spPr>
          <a:xfrm>
            <a:off x="1028700" y="1066763"/>
            <a:ext cx="13103867"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MONOESTABLE (CONTROLADO)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grpSp>
        <p:nvGrpSpPr>
          <p:cNvPr id="345" name="Google Shape;345;p25"/>
          <p:cNvGrpSpPr/>
          <p:nvPr/>
        </p:nvGrpSpPr>
        <p:grpSpPr>
          <a:xfrm>
            <a:off x="0" y="-253157"/>
            <a:ext cx="18288000" cy="2841699"/>
            <a:chOff x="0" y="-66675"/>
            <a:chExt cx="4816593" cy="748431"/>
          </a:xfrm>
        </p:grpSpPr>
        <p:sp>
          <p:nvSpPr>
            <p:cNvPr id="346" name="Google Shape;346;p25"/>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347" name="Google Shape;347;p25"/>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8" name="Google Shape;348;p25"/>
          <p:cNvSpPr txBox="1"/>
          <p:nvPr/>
        </p:nvSpPr>
        <p:spPr>
          <a:xfrm>
            <a:off x="1028700" y="251742"/>
            <a:ext cx="16230600" cy="2336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CALCULAR RESISTENCIAS, capacitancia y tiempos</a:t>
            </a:r>
            <a:endParaRPr b="0" i="0" sz="1400" u="none" cap="none" strike="noStrike">
              <a:solidFill>
                <a:srgbClr val="000000"/>
              </a:solidFill>
              <a:latin typeface="Arial"/>
              <a:ea typeface="Arial"/>
              <a:cs typeface="Arial"/>
              <a:sym typeface="Arial"/>
            </a:endParaRPr>
          </a:p>
        </p:txBody>
      </p:sp>
      <p:sp>
        <p:nvSpPr>
          <p:cNvPr id="349" name="Google Shape;349;p25"/>
          <p:cNvSpPr txBox="1"/>
          <p:nvPr/>
        </p:nvSpPr>
        <p:spPr>
          <a:xfrm>
            <a:off x="1243148" y="5105400"/>
            <a:ext cx="15801705" cy="607854"/>
          </a:xfrm>
          <a:prstGeom prst="rect">
            <a:avLst/>
          </a:prstGeom>
          <a:noFill/>
          <a:ln>
            <a:noFill/>
          </a:ln>
        </p:spPr>
        <p:txBody>
          <a:bodyPr anchorCtr="0" anchor="t" bIns="0" lIns="0" spcFirstLastPara="1" rIns="0" wrap="square" tIns="0">
            <a:spAutoFit/>
          </a:bodyPr>
          <a:lstStyle/>
          <a:p>
            <a:pPr indent="0" lvl="0" marL="0" marR="0" rtl="0" algn="l">
              <a:lnSpc>
                <a:spcPct val="130996"/>
              </a:lnSpc>
              <a:spcBef>
                <a:spcPts val="0"/>
              </a:spcBef>
              <a:spcAft>
                <a:spcPts val="0"/>
              </a:spcAft>
              <a:buClr>
                <a:srgbClr val="000000"/>
              </a:buClr>
              <a:buSzPts val="3752"/>
              <a:buFont typeface="Arial"/>
              <a:buNone/>
            </a:pPr>
            <a:r>
              <a:rPr b="0" i="0" lang="en-US" sz="3752" u="none" cap="none" strike="noStrike">
                <a:solidFill>
                  <a:srgbClr val="000000"/>
                </a:solidFill>
                <a:latin typeface="Montserrat"/>
                <a:ea typeface="Montserrat"/>
                <a:cs typeface="Montserrat"/>
                <a:sym typeface="Montserrat"/>
              </a:rPr>
              <a:t>https://ohmslawcalculator.com/555-monostable-calculator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grpSp>
        <p:nvGrpSpPr>
          <p:cNvPr id="358" name="Google Shape;358;p26"/>
          <p:cNvGrpSpPr/>
          <p:nvPr/>
        </p:nvGrpSpPr>
        <p:grpSpPr>
          <a:xfrm>
            <a:off x="0" y="-253157"/>
            <a:ext cx="18288000" cy="2841699"/>
            <a:chOff x="0" y="-66675"/>
            <a:chExt cx="4816593" cy="748431"/>
          </a:xfrm>
        </p:grpSpPr>
        <p:sp>
          <p:nvSpPr>
            <p:cNvPr id="359" name="Google Shape;359;p26"/>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360" name="Google Shape;360;p26"/>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1" name="Google Shape;361;p26"/>
          <p:cNvSpPr txBox="1"/>
          <p:nvPr/>
        </p:nvSpPr>
        <p:spPr>
          <a:xfrm>
            <a:off x="1028700" y="3198714"/>
            <a:ext cx="16230600" cy="5362956"/>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Clr>
                <a:srgbClr val="000000"/>
              </a:buClr>
              <a:buSzPts val="2699"/>
              <a:buFont typeface="Arial"/>
              <a:buNone/>
            </a:pPr>
            <a:r>
              <a:rPr b="0" i="0" lang="en-US" sz="2699" u="none" cap="none" strike="noStrike">
                <a:solidFill>
                  <a:srgbClr val="000000"/>
                </a:solidFill>
                <a:latin typeface="Montserrat"/>
                <a:ea typeface="Montserrat"/>
                <a:cs typeface="Montserrat"/>
                <a:sym typeface="Montserrat"/>
              </a:rPr>
              <a:t>Para poder usar los controladores de Display de 7 segmentos, se requiere de un número en formato BCD (Binary-Coded Decimal), y para esto, tenemos que convertir nuestra entrada binaria al formato BCD.</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699"/>
              <a:buFont typeface="Arial"/>
              <a:buNone/>
            </a:pPr>
            <a:r>
              <a:t/>
            </a:r>
            <a:endParaRPr b="0" i="0" sz="26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Clr>
                <a:srgbClr val="000000"/>
              </a:buClr>
              <a:buSzPts val="2699"/>
              <a:buFont typeface="Arial"/>
              <a:buNone/>
            </a:pPr>
            <a:r>
              <a:rPr b="0" i="0" lang="en-US" sz="2699" u="none" cap="none" strike="noStrike">
                <a:solidFill>
                  <a:srgbClr val="000000"/>
                </a:solidFill>
                <a:latin typeface="Montserrat"/>
                <a:ea typeface="Montserrat"/>
                <a:cs typeface="Montserrat"/>
                <a:sym typeface="Montserrat"/>
              </a:rPr>
              <a:t>Para la conversión, se requiere el uso de un algoritmo denominado desplazar a la izquierda y sumar tres.</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699"/>
              <a:buFont typeface="Arial"/>
              <a:buNone/>
            </a:pPr>
            <a:r>
              <a:t/>
            </a:r>
            <a:endParaRPr b="0" i="0" sz="26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Clr>
                <a:srgbClr val="000000"/>
              </a:buClr>
              <a:buSzPts val="2699"/>
              <a:buFont typeface="Arial"/>
              <a:buNone/>
            </a:pPr>
            <a:r>
              <a:rPr b="0" i="0" lang="en-US" sz="2699" u="none" cap="none" strike="noStrike">
                <a:solidFill>
                  <a:srgbClr val="000000"/>
                </a:solidFill>
                <a:latin typeface="Montserrat"/>
                <a:ea typeface="Montserrat"/>
                <a:cs typeface="Montserrat"/>
                <a:sym typeface="Montserrat"/>
              </a:rPr>
              <a:t>En resumen, el proceso es:</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699"/>
              <a:buFont typeface="Arial"/>
              <a:buNone/>
            </a:pPr>
            <a:r>
              <a:t/>
            </a:r>
            <a:endParaRPr b="0" i="0" sz="2699" u="none" cap="none" strike="noStrike">
              <a:solidFill>
                <a:srgbClr val="000000"/>
              </a:solidFill>
              <a:latin typeface="Montserrat"/>
              <a:ea typeface="Montserrat"/>
              <a:cs typeface="Montserrat"/>
              <a:sym typeface="Montserrat"/>
            </a:endParaRPr>
          </a:p>
          <a:p>
            <a:pPr indent="-291463" lvl="1" marL="582927" marR="0" rtl="0" algn="l">
              <a:lnSpc>
                <a:spcPct val="131011"/>
              </a:lnSpc>
              <a:spcBef>
                <a:spcPts val="0"/>
              </a:spcBef>
              <a:spcAft>
                <a:spcPts val="0"/>
              </a:spcAft>
              <a:buClr>
                <a:srgbClr val="000000"/>
              </a:buClr>
              <a:buSzPts val="2699"/>
              <a:buFont typeface="Arial"/>
              <a:buChar char="•"/>
            </a:pPr>
            <a:r>
              <a:rPr b="0" i="0" lang="en-US" sz="2699" u="none" cap="none" strike="noStrike">
                <a:solidFill>
                  <a:srgbClr val="000000"/>
                </a:solidFill>
                <a:latin typeface="Montserrat"/>
                <a:ea typeface="Montserrat"/>
                <a:cs typeface="Montserrat"/>
                <a:sym typeface="Montserrat"/>
              </a:rPr>
              <a:t>Desplazar el número binario hacia la izquierda un bit.</a:t>
            </a:r>
            <a:endParaRPr b="0" i="0" sz="1400" u="none" cap="none" strike="noStrike">
              <a:solidFill>
                <a:srgbClr val="000000"/>
              </a:solidFill>
              <a:latin typeface="Arial"/>
              <a:ea typeface="Arial"/>
              <a:cs typeface="Arial"/>
              <a:sym typeface="Arial"/>
            </a:endParaRPr>
          </a:p>
          <a:p>
            <a:pPr indent="-291463" lvl="1" marL="582927" marR="0" rtl="0" algn="l">
              <a:lnSpc>
                <a:spcPct val="131011"/>
              </a:lnSpc>
              <a:spcBef>
                <a:spcPts val="0"/>
              </a:spcBef>
              <a:spcAft>
                <a:spcPts val="0"/>
              </a:spcAft>
              <a:buClr>
                <a:srgbClr val="000000"/>
              </a:buClr>
              <a:buSzPts val="2699"/>
              <a:buFont typeface="Arial"/>
              <a:buChar char="•"/>
            </a:pPr>
            <a:r>
              <a:rPr b="0" i="0" lang="en-US" sz="2699" u="none" cap="none" strike="noStrike">
                <a:solidFill>
                  <a:srgbClr val="000000"/>
                </a:solidFill>
                <a:latin typeface="Montserrat"/>
                <a:ea typeface="Montserrat"/>
                <a:cs typeface="Montserrat"/>
                <a:sym typeface="Montserrat"/>
              </a:rPr>
              <a:t>Si alguno de los dígitos tiene una valor igual o mayor a cinco, sumar tres.</a:t>
            </a:r>
            <a:endParaRPr b="0" i="0" sz="1400" u="none" cap="none" strike="noStrike">
              <a:solidFill>
                <a:srgbClr val="000000"/>
              </a:solidFill>
              <a:latin typeface="Arial"/>
              <a:ea typeface="Arial"/>
              <a:cs typeface="Arial"/>
              <a:sym typeface="Arial"/>
            </a:endParaRPr>
          </a:p>
          <a:p>
            <a:pPr indent="-291463" lvl="1" marL="582927" marR="0" rtl="0" algn="l">
              <a:lnSpc>
                <a:spcPct val="131011"/>
              </a:lnSpc>
              <a:spcBef>
                <a:spcPts val="0"/>
              </a:spcBef>
              <a:spcAft>
                <a:spcPts val="0"/>
              </a:spcAft>
              <a:buClr>
                <a:srgbClr val="000000"/>
              </a:buClr>
              <a:buSzPts val="2699"/>
              <a:buFont typeface="Arial"/>
              <a:buChar char="•"/>
            </a:pPr>
            <a:r>
              <a:rPr b="0" i="0" lang="en-US" sz="2699" u="none" cap="none" strike="noStrike">
                <a:solidFill>
                  <a:srgbClr val="000000"/>
                </a:solidFill>
                <a:latin typeface="Montserrat"/>
                <a:ea typeface="Montserrat"/>
                <a:cs typeface="Montserrat"/>
                <a:sym typeface="Montserrat"/>
              </a:rPr>
              <a:t>Repetir los pasos 1 y 2 la cantidad de bits del número binario que se quiere convertir.</a:t>
            </a:r>
            <a:endParaRPr b="0" i="0" sz="1400" u="none" cap="none" strike="noStrike">
              <a:solidFill>
                <a:srgbClr val="000000"/>
              </a:solidFill>
              <a:latin typeface="Arial"/>
              <a:ea typeface="Arial"/>
              <a:cs typeface="Arial"/>
              <a:sym typeface="Arial"/>
            </a:endParaRPr>
          </a:p>
        </p:txBody>
      </p:sp>
      <p:sp>
        <p:nvSpPr>
          <p:cNvPr id="362" name="Google Shape;362;p26"/>
          <p:cNvSpPr txBox="1"/>
          <p:nvPr/>
        </p:nvSpPr>
        <p:spPr>
          <a:xfrm>
            <a:off x="1028700" y="1066775"/>
            <a:ext cx="16777800" cy="1231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CODIFICACION BINARIA A BCD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232"/>
        </a:solidFill>
      </p:bgPr>
    </p:bg>
    <p:spTree>
      <p:nvGrpSpPr>
        <p:cNvPr id="366" name="Shape 366"/>
        <p:cNvGrpSpPr/>
        <p:nvPr/>
      </p:nvGrpSpPr>
      <p:grpSpPr>
        <a:xfrm>
          <a:off x="0" y="0"/>
          <a:ext cx="0" cy="0"/>
          <a:chOff x="0" y="0"/>
          <a:chExt cx="0" cy="0"/>
        </a:xfrm>
      </p:grpSpPr>
      <p:sp>
        <p:nvSpPr>
          <p:cNvPr id="367" name="Google Shape;367;p27"/>
          <p:cNvSpPr/>
          <p:nvPr/>
        </p:nvSpPr>
        <p:spPr>
          <a:xfrm>
            <a:off x="1086511" y="1028700"/>
            <a:ext cx="16172789" cy="7796654"/>
          </a:xfrm>
          <a:custGeom>
            <a:rect b="b" l="l" r="r" t="t"/>
            <a:pathLst>
              <a:path extrusionOk="0" h="7796654" w="16172789">
                <a:moveTo>
                  <a:pt x="0" y="0"/>
                </a:moveTo>
                <a:lnTo>
                  <a:pt x="16172789" y="0"/>
                </a:lnTo>
                <a:lnTo>
                  <a:pt x="16172789" y="7796654"/>
                </a:lnTo>
                <a:lnTo>
                  <a:pt x="0" y="779665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grpSp>
        <p:nvGrpSpPr>
          <p:cNvPr id="376" name="Google Shape;376;p28"/>
          <p:cNvGrpSpPr/>
          <p:nvPr/>
        </p:nvGrpSpPr>
        <p:grpSpPr>
          <a:xfrm>
            <a:off x="0" y="-253157"/>
            <a:ext cx="18288000" cy="2841699"/>
            <a:chOff x="0" y="-66675"/>
            <a:chExt cx="4816593" cy="748431"/>
          </a:xfrm>
        </p:grpSpPr>
        <p:sp>
          <p:nvSpPr>
            <p:cNvPr id="377" name="Google Shape;377;p28"/>
            <p:cNvSpPr/>
            <p:nvPr/>
          </p:nvSpPr>
          <p:spPr>
            <a:xfrm>
              <a:off x="0" y="0"/>
              <a:ext cx="4816592" cy="681756"/>
            </a:xfrm>
            <a:custGeom>
              <a:rect b="b" l="l" r="r" t="t"/>
              <a:pathLst>
                <a:path extrusionOk="0" h="681756" w="4816592">
                  <a:moveTo>
                    <a:pt x="0" y="0"/>
                  </a:moveTo>
                  <a:lnTo>
                    <a:pt x="4816592" y="0"/>
                  </a:lnTo>
                  <a:lnTo>
                    <a:pt x="4816592" y="681756"/>
                  </a:lnTo>
                  <a:lnTo>
                    <a:pt x="0" y="681756"/>
                  </a:lnTo>
                  <a:close/>
                </a:path>
              </a:pathLst>
            </a:custGeom>
            <a:solidFill>
              <a:srgbClr val="132232"/>
            </a:solidFill>
            <a:ln>
              <a:noFill/>
            </a:ln>
          </p:spPr>
        </p:sp>
        <p:sp>
          <p:nvSpPr>
            <p:cNvPr id="378" name="Google Shape;378;p28"/>
            <p:cNvSpPr txBox="1"/>
            <p:nvPr/>
          </p:nvSpPr>
          <p:spPr>
            <a:xfrm>
              <a:off x="0" y="-66675"/>
              <a:ext cx="4816593" cy="748431"/>
            </a:xfrm>
            <a:prstGeom prst="rect">
              <a:avLst/>
            </a:prstGeom>
            <a:noFill/>
            <a:ln>
              <a:noFill/>
            </a:ln>
          </p:spPr>
          <p:txBody>
            <a:bodyPr anchorCtr="0" anchor="ctr" bIns="50800" lIns="50800" spcFirstLastPara="1" rIns="50800" wrap="square" tIns="50800">
              <a:noAutofit/>
            </a:bodyPr>
            <a:lstStyle/>
            <a:p>
              <a:pPr indent="0" lvl="0" marL="0" marR="0" rtl="0" algn="ctr">
                <a:lnSpc>
                  <a:spcPct val="201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9" name="Google Shape;379;p28"/>
          <p:cNvSpPr txBox="1"/>
          <p:nvPr/>
        </p:nvSpPr>
        <p:spPr>
          <a:xfrm>
            <a:off x="1028700" y="3198714"/>
            <a:ext cx="16230600" cy="4025400"/>
          </a:xfrm>
          <a:prstGeom prst="rect">
            <a:avLst/>
          </a:prstGeom>
          <a:noFill/>
          <a:ln>
            <a:noFill/>
          </a:ln>
        </p:spPr>
        <p:txBody>
          <a:bodyPr anchorCtr="0" anchor="t" bIns="0" lIns="0" spcFirstLastPara="1" rIns="0" wrap="square" tIns="0">
            <a:spAutoFit/>
          </a:bodyPr>
          <a:lstStyle/>
          <a:p>
            <a:pPr indent="0" lvl="0" marL="0" marR="0" rtl="0" algn="l">
              <a:lnSpc>
                <a:spcPct val="131011"/>
              </a:lnSpc>
              <a:spcBef>
                <a:spcPts val="0"/>
              </a:spcBef>
              <a:spcAft>
                <a:spcPts val="0"/>
              </a:spcAft>
              <a:buClr>
                <a:srgbClr val="000000"/>
              </a:buClr>
              <a:buSzPts val="2699"/>
              <a:buFont typeface="Arial"/>
              <a:buNone/>
            </a:pPr>
            <a:r>
              <a:rPr b="0" i="0" lang="en-US" sz="2699" u="none" cap="none" strike="noStrike">
                <a:solidFill>
                  <a:srgbClr val="000000"/>
                </a:solidFill>
                <a:latin typeface="Montserrat"/>
                <a:ea typeface="Montserrat"/>
                <a:cs typeface="Montserrat"/>
                <a:sym typeface="Montserrat"/>
              </a:rPr>
              <a:t>La potencia es una operación aritmética con un numero base X y un exponente Y. El número X se multiplica Y veces por el mismo. La aplicación de este concepto en la electrónica digital puede llegar a ser algo difícil y complejo si utilizamos el concepto de un algoritmo de base 10. Por eso la lógica combinacional es un perfecto aliado para resolver este problema.</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699"/>
              <a:buFont typeface="Arial"/>
              <a:buNone/>
            </a:pPr>
            <a:r>
              <a:t/>
            </a:r>
            <a:endParaRPr b="0" i="0" sz="26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Clr>
                <a:srgbClr val="000000"/>
              </a:buClr>
              <a:buSzPts val="2699"/>
              <a:buFont typeface="Arial"/>
              <a:buNone/>
            </a:pPr>
            <a:r>
              <a:rPr b="0" i="0" lang="en-US" sz="2699" u="none" cap="none" strike="noStrike">
                <a:solidFill>
                  <a:srgbClr val="000000"/>
                </a:solidFill>
                <a:latin typeface="Montserrat"/>
                <a:ea typeface="Montserrat"/>
                <a:cs typeface="Montserrat"/>
                <a:sym typeface="Montserrat"/>
              </a:rPr>
              <a:t>Usar decoders de </a:t>
            </a:r>
            <a:r>
              <a:rPr lang="en-US" sz="2699">
                <a:latin typeface="Montserrat"/>
                <a:ea typeface="Montserrat"/>
                <a:cs typeface="Montserrat"/>
                <a:sym typeface="Montserrat"/>
              </a:rPr>
              <a:t>línea</a:t>
            </a:r>
            <a:r>
              <a:rPr b="0" i="0" lang="en-US" sz="2699" u="none" cap="none" strike="noStrike">
                <a:solidFill>
                  <a:srgbClr val="000000"/>
                </a:solidFill>
                <a:latin typeface="Montserrat"/>
                <a:ea typeface="Montserrat"/>
                <a:cs typeface="Montserrat"/>
                <a:sym typeface="Montserrat"/>
              </a:rPr>
              <a:t> es fundamental para conseguir nuestros resultados.</a:t>
            </a:r>
            <a:endParaRPr b="0" i="0" sz="1400" u="none" cap="none" strike="noStrike">
              <a:solidFill>
                <a:srgbClr val="000000"/>
              </a:solidFill>
              <a:latin typeface="Arial"/>
              <a:ea typeface="Arial"/>
              <a:cs typeface="Arial"/>
              <a:sym typeface="Arial"/>
            </a:endParaRPr>
          </a:p>
          <a:p>
            <a:pPr indent="0" lvl="0" marL="0" marR="0" rtl="0" algn="l">
              <a:lnSpc>
                <a:spcPct val="131011"/>
              </a:lnSpc>
              <a:spcBef>
                <a:spcPts val="0"/>
              </a:spcBef>
              <a:spcAft>
                <a:spcPts val="0"/>
              </a:spcAft>
              <a:buClr>
                <a:srgbClr val="000000"/>
              </a:buClr>
              <a:buSzPts val="2699"/>
              <a:buFont typeface="Arial"/>
              <a:buNone/>
            </a:pPr>
            <a:r>
              <a:t/>
            </a:r>
            <a:endParaRPr b="0" i="0" sz="2699" u="none" cap="none" strike="noStrike">
              <a:solidFill>
                <a:srgbClr val="000000"/>
              </a:solidFill>
              <a:latin typeface="Montserrat"/>
              <a:ea typeface="Montserrat"/>
              <a:cs typeface="Montserrat"/>
              <a:sym typeface="Montserrat"/>
            </a:endParaRPr>
          </a:p>
          <a:p>
            <a:pPr indent="0" lvl="0" marL="0" marR="0" rtl="0" algn="l">
              <a:lnSpc>
                <a:spcPct val="131011"/>
              </a:lnSpc>
              <a:spcBef>
                <a:spcPts val="0"/>
              </a:spcBef>
              <a:spcAft>
                <a:spcPts val="0"/>
              </a:spcAft>
              <a:buClr>
                <a:srgbClr val="000000"/>
              </a:buClr>
              <a:buSzPts val="2699"/>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28"/>
          <p:cNvSpPr txBox="1"/>
          <p:nvPr/>
        </p:nvSpPr>
        <p:spPr>
          <a:xfrm>
            <a:off x="1028700" y="1066763"/>
            <a:ext cx="9540038" cy="11747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8000"/>
              <a:buFont typeface="Arial"/>
              <a:buNone/>
            </a:pPr>
            <a:r>
              <a:rPr b="0" i="0" lang="en-US" sz="8000" u="none" cap="none" strike="noStrike">
                <a:solidFill>
                  <a:srgbClr val="FFFFFF"/>
                </a:solidFill>
                <a:latin typeface="Oswald"/>
                <a:ea typeface="Oswald"/>
                <a:cs typeface="Oswald"/>
                <a:sym typeface="Oswald"/>
              </a:rPr>
              <a:t>POTENCIA ARITMÉTICA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