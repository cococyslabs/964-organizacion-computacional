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Montserrat"/>
      <p:regular r:id="rId16"/>
      <p:bold r:id="rId17"/>
      <p:italic r:id="rId18"/>
      <p:boldItalic r:id="rId19"/>
    </p:embeddedFont>
    <p:embeddedFont>
      <p:font typeface="Lato Black"/>
      <p:bold r:id="rId20"/>
      <p:boldItalic r:id="rId21"/>
    </p:embeddedFont>
    <p:embeddedFont>
      <p:font typeface="Oswald"/>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iTq9GLew7qpmbyQeVyKfEdp807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lack-bold.fntdata"/><Relationship Id="rId11" Type="http://schemas.openxmlformats.org/officeDocument/2006/relationships/slide" Target="slides/slide6.xml"/><Relationship Id="rId22" Type="http://schemas.openxmlformats.org/officeDocument/2006/relationships/font" Target="fonts/Oswald-bold.fntdata"/><Relationship Id="rId10" Type="http://schemas.openxmlformats.org/officeDocument/2006/relationships/slide" Target="slides/slide5.xml"/><Relationship Id="rId21" Type="http://schemas.openxmlformats.org/officeDocument/2006/relationships/font" Target="fonts/LatoBlack-bold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9" name="Google Shape;10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0" name="Google Shape;11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12" name="Google Shape;11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3" name="Google Shape;11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2" name="Google Shape;122;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3" name="Google Shape;123;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25" name="Google Shape;125;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6" name="Google Shape;126;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5" name="Google Shape;13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6" name="Google Shape;136;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38" name="Google Shape;13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9" name="Google Shape;13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8" name="Google Shape;148;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9" name="Google Shape;149;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51" name="Google Shape;151;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2" name="Google Shape;152;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6" name="Google Shape;166;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68" name="Google Shape;168;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9" name="Google Shape;169;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9" name="Google Shape;179;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81" name="Google Shape;181;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2" name="Google Shape;182;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3" name="Google Shape;193;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4" name="Google Shape;194;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96" name="Google Shape;196;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7" name="Google Shape;197;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8" name="Google Shape;208;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9" name="Google Shape;209;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11" name="Google Shape;211;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2" name="Google Shape;212;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p:nvPr>
            <p:ph idx="2" type="pic"/>
          </p:nvPr>
        </p:nvSpPr>
        <p:spPr>
          <a:xfrm>
            <a:off x="1792288" y="612775"/>
            <a:ext cx="5486400" cy="4114800"/>
          </a:xfrm>
          <a:prstGeom prst="rect">
            <a:avLst/>
          </a:prstGeom>
          <a:noFill/>
          <a:ln>
            <a:noFill/>
          </a:ln>
        </p:spPr>
      </p:sp>
      <p:sp>
        <p:nvSpPr>
          <p:cNvPr id="68" name="Google Shape;68;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87" name="Shape 87"/>
        <p:cNvGrpSpPr/>
        <p:nvPr/>
      </p:nvGrpSpPr>
      <p:grpSpPr>
        <a:xfrm>
          <a:off x="0" y="0"/>
          <a:ext cx="0" cy="0"/>
          <a:chOff x="0" y="0"/>
          <a:chExt cx="0" cy="0"/>
        </a:xfrm>
      </p:grpSpPr>
      <p:grpSp>
        <p:nvGrpSpPr>
          <p:cNvPr id="88" name="Google Shape;88;p1"/>
          <p:cNvGrpSpPr/>
          <p:nvPr/>
        </p:nvGrpSpPr>
        <p:grpSpPr>
          <a:xfrm rot="5400000">
            <a:off x="2659078" y="-6224990"/>
            <a:ext cx="6274827" cy="12450233"/>
            <a:chOff x="0" y="0"/>
            <a:chExt cx="3166110" cy="6282055"/>
          </a:xfrm>
        </p:grpSpPr>
        <p:sp>
          <p:nvSpPr>
            <p:cNvPr id="89" name="Google Shape;89;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
          <p:cNvGrpSpPr/>
          <p:nvPr/>
        </p:nvGrpSpPr>
        <p:grpSpPr>
          <a:xfrm rot="-5400000">
            <a:off x="9151318" y="4851619"/>
            <a:ext cx="6274827" cy="12450233"/>
            <a:chOff x="0" y="0"/>
            <a:chExt cx="3166110" cy="6282055"/>
          </a:xfrm>
        </p:grpSpPr>
        <p:sp>
          <p:nvSpPr>
            <p:cNvPr id="92" name="Google Shape;9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
          <p:cNvGrpSpPr/>
          <p:nvPr/>
        </p:nvGrpSpPr>
        <p:grpSpPr>
          <a:xfrm>
            <a:off x="12814229" y="6175561"/>
            <a:ext cx="12630150" cy="1367582"/>
            <a:chOff x="0" y="-66675"/>
            <a:chExt cx="3326459" cy="360186"/>
          </a:xfrm>
        </p:grpSpPr>
        <p:sp>
          <p:nvSpPr>
            <p:cNvPr id="95" name="Google Shape;95;p1"/>
            <p:cNvSpPr/>
            <p:nvPr/>
          </p:nvSpPr>
          <p:spPr>
            <a:xfrm>
              <a:off x="0" y="0"/>
              <a:ext cx="3326459" cy="293511"/>
            </a:xfrm>
            <a:custGeom>
              <a:rect b="b" l="l" r="r" t="t"/>
              <a:pathLst>
                <a:path extrusionOk="0"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0" y="-66675"/>
              <a:ext cx="3326459" cy="360186"/>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344927" y="3722182"/>
            <a:ext cx="13236000" cy="4016400"/>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LOGICA COMBINACIONAL:</a:t>
            </a:r>
            <a:endParaRPr/>
          </a:p>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COMPARADORES, ENCODERS, DECODERS, MUX Y DEMUX</a:t>
            </a:r>
            <a:endParaRPr/>
          </a:p>
        </p:txBody>
      </p:sp>
      <p:sp>
        <p:nvSpPr>
          <p:cNvPr id="98" name="Google Shape;98;p1"/>
          <p:cNvSpPr txBox="1"/>
          <p:nvPr/>
        </p:nvSpPr>
        <p:spPr>
          <a:xfrm>
            <a:off x="1028700" y="8063399"/>
            <a:ext cx="13293265" cy="691388"/>
          </a:xfrm>
          <a:prstGeom prst="rect">
            <a:avLst/>
          </a:prstGeom>
          <a:noFill/>
          <a:ln>
            <a:noFill/>
          </a:ln>
        </p:spPr>
        <p:txBody>
          <a:bodyPr anchorCtr="0" anchor="t" bIns="0" lIns="0" spcFirstLastPara="1" rIns="0" wrap="square" tIns="0">
            <a:spAutoFit/>
          </a:bodyPr>
          <a:lstStyle/>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ORGANIZACIÓN COMPUTACIONAL</a:t>
            </a:r>
            <a:endParaRPr/>
          </a:p>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SECCIÓN A</a:t>
            </a:r>
            <a:endParaRPr/>
          </a:p>
        </p:txBody>
      </p:sp>
      <p:cxnSp>
        <p:nvCxnSpPr>
          <p:cNvPr id="99" name="Google Shape;99;p1"/>
          <p:cNvCxnSpPr/>
          <p:nvPr/>
        </p:nvCxnSpPr>
        <p:spPr>
          <a:xfrm>
            <a:off x="-428625" y="3501989"/>
            <a:ext cx="6492240" cy="0"/>
          </a:xfrm>
          <a:prstGeom prst="straightConnector1">
            <a:avLst/>
          </a:prstGeom>
          <a:noFill/>
          <a:ln cap="flat" cmpd="sng" w="38100">
            <a:solidFill>
              <a:srgbClr val="FFFFFF"/>
            </a:solidFill>
            <a:prstDash val="solid"/>
            <a:round/>
            <a:headEnd len="sm" w="sm" type="none"/>
            <a:tailEnd len="lg" w="lg" type="oval"/>
          </a:ln>
        </p:spPr>
      </p:cxnSp>
      <p:cxnSp>
        <p:nvCxnSpPr>
          <p:cNvPr id="100" name="Google Shape;100;p1"/>
          <p:cNvCxnSpPr/>
          <p:nvPr/>
        </p:nvCxnSpPr>
        <p:spPr>
          <a:xfrm>
            <a:off x="12471329" y="7739549"/>
            <a:ext cx="6492240" cy="0"/>
          </a:xfrm>
          <a:prstGeom prst="straightConnector1">
            <a:avLst/>
          </a:prstGeom>
          <a:noFill/>
          <a:ln cap="flat" cmpd="sng" w="38100">
            <a:solidFill>
              <a:srgbClr val="FFFFFF"/>
            </a:solidFill>
            <a:prstDash val="solid"/>
            <a:round/>
            <a:headEnd len="lg" w="lg" type="oval"/>
            <a:tailEnd len="sm" w="sm" type="none"/>
          </a:ln>
        </p:spPr>
      </p:cxnSp>
      <p:grpSp>
        <p:nvGrpSpPr>
          <p:cNvPr id="101" name="Google Shape;101;p1"/>
          <p:cNvGrpSpPr/>
          <p:nvPr/>
        </p:nvGrpSpPr>
        <p:grpSpPr>
          <a:xfrm rot="-5400000">
            <a:off x="9766774" y="5394544"/>
            <a:ext cx="6274827" cy="12450233"/>
            <a:chOff x="0" y="0"/>
            <a:chExt cx="3166110" cy="6282055"/>
          </a:xfrm>
        </p:grpSpPr>
        <p:sp>
          <p:nvSpPr>
            <p:cNvPr id="102" name="Google Shape;10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1"/>
          <p:cNvGrpSpPr/>
          <p:nvPr/>
        </p:nvGrpSpPr>
        <p:grpSpPr>
          <a:xfrm rot="5400000">
            <a:off x="2154253" y="-6869939"/>
            <a:ext cx="6274827" cy="12450233"/>
            <a:chOff x="0" y="0"/>
            <a:chExt cx="3166110" cy="6282055"/>
          </a:xfrm>
        </p:grpSpPr>
        <p:sp>
          <p:nvSpPr>
            <p:cNvPr id="105" name="Google Shape;105;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p2"/>
          <p:cNvGrpSpPr/>
          <p:nvPr/>
        </p:nvGrpSpPr>
        <p:grpSpPr>
          <a:xfrm>
            <a:off x="0" y="-253157"/>
            <a:ext cx="18288000" cy="2841699"/>
            <a:chOff x="0" y="-66675"/>
            <a:chExt cx="4816593" cy="748431"/>
          </a:xfrm>
        </p:grpSpPr>
        <p:sp>
          <p:nvSpPr>
            <p:cNvPr id="116" name="Google Shape;116;p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17" name="Google Shape;117;p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2"/>
          <p:cNvSpPr txBox="1"/>
          <p:nvPr/>
        </p:nvSpPr>
        <p:spPr>
          <a:xfrm>
            <a:off x="1028700" y="2904907"/>
            <a:ext cx="16028100" cy="66894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La lógica combinacional </a:t>
            </a:r>
            <a:r>
              <a:rPr lang="en-US" sz="2599">
                <a:latin typeface="Montserrat"/>
                <a:ea typeface="Montserrat"/>
                <a:cs typeface="Montserrat"/>
                <a:sym typeface="Montserrat"/>
              </a:rPr>
              <a:t>se caracteriza por </a:t>
            </a:r>
            <a:r>
              <a:rPr b="0" i="0" lang="en-US" sz="2599" u="none" cap="none" strike="noStrike">
                <a:solidFill>
                  <a:srgbClr val="000000"/>
                </a:solidFill>
                <a:latin typeface="Montserrat"/>
                <a:ea typeface="Montserrat"/>
                <a:cs typeface="Montserrat"/>
                <a:sym typeface="Montserrat"/>
              </a:rPr>
              <a:t> circuitos electrónicos  digitales donde las salidas dependen exclusivamente de las entradas actuales, sin considerar el historial previo de valores. Esto significa que el circuito no tiene memoria. Decimos tambien que la variable tiempo NO esta involucrada.</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Sus caracteristicas son:</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Sin Estado: Las salidas no dependen de estados previos, sino únicamente de las entradas actuales.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Uso de Puertas Lógicas sin retr</a:t>
            </a:r>
            <a:r>
              <a:rPr lang="en-US" sz="2599">
                <a:latin typeface="Montserrat"/>
                <a:ea typeface="Montserrat"/>
                <a:cs typeface="Montserrat"/>
                <a:sym typeface="Montserrat"/>
              </a:rPr>
              <a:t>o alimentación</a:t>
            </a:r>
            <a:r>
              <a:rPr b="0" i="0" lang="en-US" sz="2599" u="none" cap="none" strike="noStrike">
                <a:solidFill>
                  <a:srgbClr val="000000"/>
                </a:solidFill>
                <a:latin typeface="Montserrat"/>
                <a:ea typeface="Montserrat"/>
                <a:cs typeface="Montserrat"/>
                <a:sym typeface="Montserrat"/>
              </a:rPr>
              <a:t>: Utiliza compuertas lógicas de la comunmente conocidas sin feed back </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Tiempo de Propagación: La respuesta del circuito ocurre casi de inmediato tras la entrada de datos, aunque con un breve retardo debido a la propagación de señales.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p:txBody>
      </p:sp>
      <p:sp>
        <p:nvSpPr>
          <p:cNvPr id="119" name="Google Shape;119;p2"/>
          <p:cNvSpPr txBox="1"/>
          <p:nvPr/>
        </p:nvSpPr>
        <p:spPr>
          <a:xfrm>
            <a:off x="1028700" y="1066763"/>
            <a:ext cx="16028025"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¿QUE ES LA LOGICA COMBINACIONAL?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pSp>
        <p:nvGrpSpPr>
          <p:cNvPr id="128" name="Google Shape;128;p3"/>
          <p:cNvGrpSpPr/>
          <p:nvPr/>
        </p:nvGrpSpPr>
        <p:grpSpPr>
          <a:xfrm>
            <a:off x="0" y="-253157"/>
            <a:ext cx="18288000" cy="2841699"/>
            <a:chOff x="0" y="-66675"/>
            <a:chExt cx="4816593" cy="748431"/>
          </a:xfrm>
        </p:grpSpPr>
        <p:sp>
          <p:nvSpPr>
            <p:cNvPr id="129" name="Google Shape;129;p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30" name="Google Shape;130;p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1" name="Google Shape;131;p3"/>
          <p:cNvSpPr txBox="1"/>
          <p:nvPr/>
        </p:nvSpPr>
        <p:spPr>
          <a:xfrm>
            <a:off x="1028700" y="2904907"/>
            <a:ext cx="16028025" cy="5993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Principios de Funcionamiento:</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Los circuitos combinacionales siguen un diseño matemático basado en álgebra booleana, lo que permite simplificar expresiones lógicas.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La salida se calcula en función de una tabla de verdad que relaciona todas las posibles combinaciones de las entradas con sus salidas correspondientes.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Aplicaciones en la Vida Real:</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Sumadores en Computadoras: Los circuitos sumadores realizan operaciones aritméticas fundamentales en procesadores.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Codificadores/Decodificadores: Transforman datos entre diferentes formatos en sistemas de comunicación y computación.</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p:txBody>
      </p:sp>
      <p:sp>
        <p:nvSpPr>
          <p:cNvPr id="132" name="Google Shape;132;p3"/>
          <p:cNvSpPr txBox="1"/>
          <p:nvPr/>
        </p:nvSpPr>
        <p:spPr>
          <a:xfrm>
            <a:off x="1028700" y="1066763"/>
            <a:ext cx="16028025"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LÓGICA COMBINACIONAL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pSp>
        <p:nvGrpSpPr>
          <p:cNvPr id="141" name="Google Shape;141;p4"/>
          <p:cNvGrpSpPr/>
          <p:nvPr/>
        </p:nvGrpSpPr>
        <p:grpSpPr>
          <a:xfrm>
            <a:off x="0" y="-253157"/>
            <a:ext cx="18288000" cy="2841699"/>
            <a:chOff x="0" y="-66675"/>
            <a:chExt cx="4816593" cy="748431"/>
          </a:xfrm>
        </p:grpSpPr>
        <p:sp>
          <p:nvSpPr>
            <p:cNvPr id="142" name="Google Shape;142;p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43" name="Google Shape;143;p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4" name="Google Shape;144;p4"/>
          <p:cNvSpPr txBox="1"/>
          <p:nvPr/>
        </p:nvSpPr>
        <p:spPr>
          <a:xfrm>
            <a:off x="639600" y="1447107"/>
            <a:ext cx="16028100" cy="8785800"/>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Convertir 1101(gray)</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lang="en-US" sz="2599">
                <a:latin typeface="Montserrat"/>
                <a:ea typeface="Montserrat"/>
                <a:cs typeface="Montserrat"/>
                <a:sym typeface="Montserrat"/>
              </a:rPr>
              <a:t>El bit mas significativo MSB  del numero en Gray se mantiene y se coloca a la izquierda del binario buscado:</a:t>
            </a:r>
            <a:r>
              <a:rPr b="0" i="0" lang="en-US" sz="2599" u="none" cap="none" strike="noStrike">
                <a:solidFill>
                  <a:srgbClr val="000000"/>
                </a:solidFill>
                <a:latin typeface="Montserrat"/>
                <a:ea typeface="Montserrat"/>
                <a:cs typeface="Montserrat"/>
                <a:sym typeface="Montserrat"/>
              </a:rPr>
              <a:t>:</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(1)101 -&gt; [1]____</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Luego </a:t>
            </a:r>
            <a:r>
              <a:rPr lang="en-US" sz="2599">
                <a:latin typeface="Montserrat"/>
                <a:ea typeface="Montserrat"/>
                <a:cs typeface="Montserrat"/>
                <a:sym typeface="Montserrat"/>
              </a:rPr>
              <a:t>a cada bit del codigo binario generado se le suma en binario el siguiente bit adyacente del numero en codigo Gray y el acarreo se descarta:</a:t>
            </a:r>
            <a:r>
              <a:rPr b="0" i="0" lang="en-US" sz="2599" u="none" cap="none" strike="noStrike">
                <a:solidFill>
                  <a:srgbClr val="000000"/>
                </a:solidFill>
                <a:latin typeface="Montserrat"/>
                <a:ea typeface="Montserrat"/>
                <a:cs typeface="Montserrat"/>
                <a:sym typeface="Montserrat"/>
              </a:rPr>
              <a:t>.</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1(1)01 -&gt; (1)[0]</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11(0)1-&gt; 1(0)[0]</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 -&gt; 10(0)[1]</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Resultado: 1001</a:t>
            </a:r>
            <a:endParaRPr/>
          </a:p>
        </p:txBody>
      </p:sp>
      <p:sp>
        <p:nvSpPr>
          <p:cNvPr id="145" name="Google Shape;145;p4"/>
          <p:cNvSpPr txBox="1"/>
          <p:nvPr/>
        </p:nvSpPr>
        <p:spPr>
          <a:xfrm>
            <a:off x="639600" y="215588"/>
            <a:ext cx="13104000" cy="1231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GRAY A BINARIO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5"/>
          <p:cNvGrpSpPr/>
          <p:nvPr/>
        </p:nvGrpSpPr>
        <p:grpSpPr>
          <a:xfrm>
            <a:off x="0" y="-253157"/>
            <a:ext cx="18288000" cy="2841699"/>
            <a:chOff x="0" y="-66675"/>
            <a:chExt cx="4816593" cy="748431"/>
          </a:xfrm>
        </p:grpSpPr>
        <p:sp>
          <p:nvSpPr>
            <p:cNvPr id="155" name="Google Shape;155;p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56" name="Google Shape;156;p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5"/>
          <p:cNvSpPr/>
          <p:nvPr/>
        </p:nvSpPr>
        <p:spPr>
          <a:xfrm>
            <a:off x="1350010" y="4070761"/>
            <a:ext cx="5952594" cy="4935056"/>
          </a:xfrm>
          <a:custGeom>
            <a:rect b="b" l="l" r="r" t="t"/>
            <a:pathLst>
              <a:path extrusionOk="0" h="4935056" w="5952594">
                <a:moveTo>
                  <a:pt x="0" y="0"/>
                </a:moveTo>
                <a:lnTo>
                  <a:pt x="5952594" y="0"/>
                </a:lnTo>
                <a:lnTo>
                  <a:pt x="5952594" y="4935056"/>
                </a:lnTo>
                <a:lnTo>
                  <a:pt x="0" y="4935056"/>
                </a:lnTo>
                <a:lnTo>
                  <a:pt x="0" y="0"/>
                </a:lnTo>
                <a:close/>
              </a:path>
            </a:pathLst>
          </a:custGeom>
          <a:blipFill rotWithShape="1">
            <a:blip r:embed="rId3">
              <a:alphaModFix/>
            </a:blip>
            <a:stretch>
              <a:fillRect b="0" l="0" r="0" t="0"/>
            </a:stretch>
          </a:blipFill>
          <a:ln>
            <a:noFill/>
          </a:ln>
        </p:spPr>
      </p:sp>
      <p:sp>
        <p:nvSpPr>
          <p:cNvPr id="158" name="Google Shape;158;p5"/>
          <p:cNvSpPr/>
          <p:nvPr/>
        </p:nvSpPr>
        <p:spPr>
          <a:xfrm>
            <a:off x="9846049" y="3754411"/>
            <a:ext cx="5015849" cy="5183666"/>
          </a:xfrm>
          <a:custGeom>
            <a:rect b="b" l="l" r="r" t="t"/>
            <a:pathLst>
              <a:path extrusionOk="0" h="5183666" w="5015849">
                <a:moveTo>
                  <a:pt x="0" y="0"/>
                </a:moveTo>
                <a:lnTo>
                  <a:pt x="5015849" y="0"/>
                </a:lnTo>
                <a:lnTo>
                  <a:pt x="5015849" y="5183665"/>
                </a:lnTo>
                <a:lnTo>
                  <a:pt x="0" y="5183665"/>
                </a:lnTo>
                <a:lnTo>
                  <a:pt x="0" y="0"/>
                </a:lnTo>
                <a:close/>
              </a:path>
            </a:pathLst>
          </a:custGeom>
          <a:blipFill rotWithShape="1">
            <a:blip r:embed="rId4">
              <a:alphaModFix/>
            </a:blip>
            <a:stretch>
              <a:fillRect b="0" l="0" r="0" t="0"/>
            </a:stretch>
          </a:blipFill>
          <a:ln>
            <a:noFill/>
          </a:ln>
        </p:spPr>
      </p:sp>
      <p:sp>
        <p:nvSpPr>
          <p:cNvPr id="159" name="Google Shape;159;p5"/>
          <p:cNvSpPr txBox="1"/>
          <p:nvPr/>
        </p:nvSpPr>
        <p:spPr>
          <a:xfrm>
            <a:off x="1028700" y="2904907"/>
            <a:ext cx="16028025" cy="8495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dispositivo capaz de comparar dos señales de entrada y variar la salida de cual es el mayor</a:t>
            </a:r>
            <a:endParaRPr/>
          </a:p>
        </p:txBody>
      </p:sp>
      <p:sp>
        <p:nvSpPr>
          <p:cNvPr id="160" name="Google Shape;160;p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COMPARADORES</a:t>
            </a:r>
            <a:endParaRPr/>
          </a:p>
        </p:txBody>
      </p:sp>
      <p:sp>
        <p:nvSpPr>
          <p:cNvPr id="161" name="Google Shape;161;p5"/>
          <p:cNvSpPr/>
          <p:nvPr/>
        </p:nvSpPr>
        <p:spPr>
          <a:xfrm>
            <a:off x="1678300" y="5402075"/>
            <a:ext cx="895374" cy="152388"/>
          </a:xfrm>
          <a:prstGeom prst="flowChartTerminator">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Calibri"/>
                <a:ea typeface="Calibri"/>
                <a:cs typeface="Calibri"/>
                <a:sym typeface="Calibri"/>
              </a:rPr>
              <a:t>B</a:t>
            </a:r>
            <a:endParaRPr sz="2400">
              <a:latin typeface="Calibri"/>
              <a:ea typeface="Calibri"/>
              <a:cs typeface="Calibri"/>
              <a:sym typeface="Calibri"/>
            </a:endParaRPr>
          </a:p>
        </p:txBody>
      </p:sp>
      <p:sp>
        <p:nvSpPr>
          <p:cNvPr id="162" name="Google Shape;162;p5"/>
          <p:cNvSpPr/>
          <p:nvPr/>
        </p:nvSpPr>
        <p:spPr>
          <a:xfrm>
            <a:off x="2726050" y="5325875"/>
            <a:ext cx="628668" cy="228582"/>
          </a:xfrm>
          <a:prstGeom prst="flowChartTerminator">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Calibri"/>
                <a:ea typeface="Calibri"/>
                <a:cs typeface="Calibri"/>
                <a:sym typeface="Calibri"/>
              </a:rPr>
              <a:t>A</a:t>
            </a:r>
            <a:endParaRPr sz="24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6"/>
          <p:cNvGrpSpPr/>
          <p:nvPr/>
        </p:nvGrpSpPr>
        <p:grpSpPr>
          <a:xfrm>
            <a:off x="0" y="-253157"/>
            <a:ext cx="18288000" cy="2841699"/>
            <a:chOff x="0" y="-66675"/>
            <a:chExt cx="4816593" cy="748431"/>
          </a:xfrm>
        </p:grpSpPr>
        <p:sp>
          <p:nvSpPr>
            <p:cNvPr id="172" name="Google Shape;172;p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73" name="Google Shape;173;p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6"/>
          <p:cNvSpPr txBox="1"/>
          <p:nvPr/>
        </p:nvSpPr>
        <p:spPr>
          <a:xfrm>
            <a:off x="1028700" y="2904898"/>
            <a:ext cx="16028100" cy="47139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circuito combinacional con 2N entradas y N salidas, cuya misión es presentar en la salida el código binario correspondiente a la entrada activada. Comunmente los cod</a:t>
            </a:r>
            <a:r>
              <a:rPr lang="en-US" sz="2599">
                <a:latin typeface="Montserrat"/>
                <a:ea typeface="Montserrat"/>
                <a:cs typeface="Montserrat"/>
                <a:sym typeface="Montserrat"/>
              </a:rPr>
              <a:t>ificadores son fabricados con una salida de validación para corregir la situación real en la cual las entradas puedan tener valores verdaderos en mas de una entrada y que el codificador no llegue a codificaciones coherentes</a:t>
            </a:r>
            <a:endParaRPr sz="2599">
              <a:latin typeface="Montserrat"/>
              <a:ea typeface="Montserrat"/>
              <a:cs typeface="Montserrat"/>
              <a:sym typeface="Montserrat"/>
            </a:endParaRPr>
          </a:p>
          <a:p>
            <a:pPr indent="0" lvl="0" marL="0" marR="0" rtl="0" algn="l">
              <a:lnSpc>
                <a:spcPct val="131011"/>
              </a:lnSpc>
              <a:spcBef>
                <a:spcPts val="0"/>
              </a:spcBef>
              <a:spcAft>
                <a:spcPts val="0"/>
              </a:spcAft>
              <a:buNone/>
            </a:pPr>
            <a:r>
              <a:t/>
            </a:r>
            <a:endParaRPr sz="2599">
              <a:latin typeface="Montserrat"/>
              <a:ea typeface="Montserrat"/>
              <a:cs typeface="Montserrat"/>
              <a:sym typeface="Montserrat"/>
            </a:endParaRPr>
          </a:p>
          <a:p>
            <a:pPr indent="0" lvl="0" marL="0" marR="0" rtl="0" algn="l">
              <a:lnSpc>
                <a:spcPct val="131011"/>
              </a:lnSpc>
              <a:spcBef>
                <a:spcPts val="0"/>
              </a:spcBef>
              <a:spcAft>
                <a:spcPts val="0"/>
              </a:spcAft>
              <a:buNone/>
            </a:pPr>
            <a:r>
              <a:rPr lang="en-US" sz="2899">
                <a:latin typeface="Montserrat"/>
                <a:ea typeface="Montserrat"/>
                <a:cs typeface="Montserrat"/>
                <a:sym typeface="Montserrat"/>
              </a:rPr>
              <a:t>COLOCAR OTRO DIAGRAMA Y OTRA TABLA Y QUE SEA EL MISMO CODIFICADOR PUEDE USAR EL DEL LIBRO DE TEXTO  </a:t>
            </a:r>
            <a:endParaRPr sz="2899">
              <a:latin typeface="Montserrat"/>
              <a:ea typeface="Montserrat"/>
              <a:cs typeface="Montserrat"/>
              <a:sym typeface="Montserrat"/>
            </a:endParaRPr>
          </a:p>
          <a:p>
            <a:pPr indent="0" lvl="0" marL="0" marR="0" rtl="0" algn="l">
              <a:lnSpc>
                <a:spcPct val="131011"/>
              </a:lnSpc>
              <a:spcBef>
                <a:spcPts val="0"/>
              </a:spcBef>
              <a:spcAft>
                <a:spcPts val="0"/>
              </a:spcAft>
              <a:buNone/>
            </a:pPr>
            <a:r>
              <a:t/>
            </a:r>
            <a:endParaRPr sz="2599">
              <a:latin typeface="Montserrat"/>
              <a:ea typeface="Montserrat"/>
              <a:cs typeface="Montserrat"/>
              <a:sym typeface="Montserrat"/>
            </a:endParaRPr>
          </a:p>
        </p:txBody>
      </p:sp>
      <p:sp>
        <p:nvSpPr>
          <p:cNvPr id="175" name="Google Shape;175;p6"/>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CODIFICADOR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pSp>
        <p:nvGrpSpPr>
          <p:cNvPr id="184" name="Google Shape;184;p7"/>
          <p:cNvGrpSpPr/>
          <p:nvPr/>
        </p:nvGrpSpPr>
        <p:grpSpPr>
          <a:xfrm>
            <a:off x="0" y="-253157"/>
            <a:ext cx="18288000" cy="2841699"/>
            <a:chOff x="0" y="-66675"/>
            <a:chExt cx="4816593" cy="748431"/>
          </a:xfrm>
        </p:grpSpPr>
        <p:sp>
          <p:nvSpPr>
            <p:cNvPr id="185" name="Google Shape;185;p7"/>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86" name="Google Shape;186;p7"/>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7" name="Google Shape;187;p7"/>
          <p:cNvSpPr/>
          <p:nvPr/>
        </p:nvSpPr>
        <p:spPr>
          <a:xfrm>
            <a:off x="1626666" y="5811811"/>
            <a:ext cx="7416047" cy="4051234"/>
          </a:xfrm>
          <a:custGeom>
            <a:rect b="b" l="l" r="r" t="t"/>
            <a:pathLst>
              <a:path extrusionOk="0" h="4051234" w="7416047">
                <a:moveTo>
                  <a:pt x="0" y="0"/>
                </a:moveTo>
                <a:lnTo>
                  <a:pt x="7416047" y="0"/>
                </a:lnTo>
                <a:lnTo>
                  <a:pt x="7416047" y="4051234"/>
                </a:lnTo>
                <a:lnTo>
                  <a:pt x="0" y="4051234"/>
                </a:lnTo>
                <a:lnTo>
                  <a:pt x="0" y="0"/>
                </a:lnTo>
                <a:close/>
              </a:path>
            </a:pathLst>
          </a:custGeom>
          <a:blipFill rotWithShape="1">
            <a:blip r:embed="rId3">
              <a:alphaModFix/>
            </a:blip>
            <a:stretch>
              <a:fillRect b="0" l="0" r="0" t="0"/>
            </a:stretch>
          </a:blipFill>
          <a:ln>
            <a:noFill/>
          </a:ln>
        </p:spPr>
      </p:sp>
      <p:sp>
        <p:nvSpPr>
          <p:cNvPr id="188" name="Google Shape;188;p7"/>
          <p:cNvSpPr/>
          <p:nvPr/>
        </p:nvSpPr>
        <p:spPr>
          <a:xfrm>
            <a:off x="11491297" y="5267796"/>
            <a:ext cx="5282540" cy="4719328"/>
          </a:xfrm>
          <a:custGeom>
            <a:rect b="b" l="l" r="r" t="t"/>
            <a:pathLst>
              <a:path extrusionOk="0" h="4719328" w="5282540">
                <a:moveTo>
                  <a:pt x="0" y="0"/>
                </a:moveTo>
                <a:lnTo>
                  <a:pt x="5282539" y="0"/>
                </a:lnTo>
                <a:lnTo>
                  <a:pt x="5282539" y="4719328"/>
                </a:lnTo>
                <a:lnTo>
                  <a:pt x="0" y="4719328"/>
                </a:lnTo>
                <a:lnTo>
                  <a:pt x="0" y="0"/>
                </a:lnTo>
                <a:close/>
              </a:path>
            </a:pathLst>
          </a:custGeom>
          <a:blipFill rotWithShape="1">
            <a:blip r:embed="rId4">
              <a:alphaModFix/>
            </a:blip>
            <a:stretch>
              <a:fillRect b="0" l="0" r="0" t="0"/>
            </a:stretch>
          </a:blipFill>
          <a:ln>
            <a:noFill/>
          </a:ln>
        </p:spPr>
      </p:sp>
      <p:sp>
        <p:nvSpPr>
          <p:cNvPr id="189" name="Google Shape;189;p7"/>
          <p:cNvSpPr txBox="1"/>
          <p:nvPr/>
        </p:nvSpPr>
        <p:spPr>
          <a:xfrm>
            <a:off x="1028700" y="2904907"/>
            <a:ext cx="16028100" cy="30207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circuito combinacional, cuya función es inversa a la del codificador, es decir, convierte un código binario (natural, BCD, etc.) de N bits de entrada y </a:t>
            </a:r>
            <a:r>
              <a:rPr lang="en-US" sz="2599">
                <a:latin typeface="Montserrat"/>
                <a:ea typeface="Montserrat"/>
                <a:cs typeface="Montserrat"/>
                <a:sym typeface="Montserrat"/>
              </a:rPr>
              <a:t>2N  o menos </a:t>
            </a:r>
            <a:r>
              <a:rPr b="0" i="0" lang="en-US" sz="2599" u="none" cap="none" strike="noStrike">
                <a:solidFill>
                  <a:srgbClr val="000000"/>
                </a:solidFill>
                <a:latin typeface="Montserrat"/>
                <a:ea typeface="Montserrat"/>
                <a:cs typeface="Montserrat"/>
                <a:sym typeface="Montserrat"/>
              </a:rPr>
              <a:t> líneas de sal</a:t>
            </a:r>
            <a:r>
              <a:rPr lang="en-US" sz="2599">
                <a:latin typeface="Montserrat"/>
                <a:ea typeface="Montserrat"/>
                <a:cs typeface="Montserrat"/>
                <a:sym typeface="Montserrat"/>
              </a:rPr>
              <a:t>ida</a:t>
            </a:r>
            <a:r>
              <a:rPr b="0" i="0" lang="en-US" sz="2599" u="none" cap="none" strike="noStrike">
                <a:solidFill>
                  <a:srgbClr val="000000"/>
                </a:solidFill>
                <a:latin typeface="Montserrat"/>
                <a:ea typeface="Montserrat"/>
                <a:cs typeface="Montserrat"/>
                <a:sym typeface="Montserrat"/>
              </a:rPr>
              <a:t>, existe un tipo especifico de decodificador </a:t>
            </a:r>
            <a:r>
              <a:rPr lang="en-US" sz="2599">
                <a:latin typeface="Montserrat"/>
                <a:ea typeface="Montserrat"/>
                <a:cs typeface="Montserrat"/>
                <a:sym typeface="Montserrat"/>
              </a:rPr>
              <a:t>“el de linea” en el cual </a:t>
            </a:r>
            <a:r>
              <a:rPr b="0" i="0" lang="en-US" sz="2599" u="none" cap="none" strike="noStrike">
                <a:solidFill>
                  <a:srgbClr val="000000"/>
                </a:solidFill>
                <a:latin typeface="Montserrat"/>
                <a:ea typeface="Montserrat"/>
                <a:cs typeface="Montserrat"/>
                <a:sym typeface="Montserrat"/>
              </a:rPr>
              <a:t> cada línea de salida será activada para una sola de las combinaciones posibles de entrada. Normalmente, estos circuitos suelen encontrarse como decodificador / demultiplexor. Esto es debido a que un demultiplexor puede comportarse como un decodificador.  COMPONER TITULO DE TABLAS</a:t>
            </a:r>
            <a:endParaRPr/>
          </a:p>
        </p:txBody>
      </p:sp>
      <p:sp>
        <p:nvSpPr>
          <p:cNvPr id="190" name="Google Shape;190;p7"/>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DECODIFICADOR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pSp>
        <p:nvGrpSpPr>
          <p:cNvPr id="199" name="Google Shape;199;p8"/>
          <p:cNvGrpSpPr/>
          <p:nvPr/>
        </p:nvGrpSpPr>
        <p:grpSpPr>
          <a:xfrm>
            <a:off x="0" y="-253157"/>
            <a:ext cx="18288000" cy="2841699"/>
            <a:chOff x="0" y="-66675"/>
            <a:chExt cx="4816593" cy="748431"/>
          </a:xfrm>
        </p:grpSpPr>
        <p:sp>
          <p:nvSpPr>
            <p:cNvPr id="200" name="Google Shape;200;p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01" name="Google Shape;201;p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8"/>
          <p:cNvSpPr/>
          <p:nvPr/>
        </p:nvSpPr>
        <p:spPr>
          <a:xfrm>
            <a:off x="2093597" y="4525936"/>
            <a:ext cx="5968482" cy="5161930"/>
          </a:xfrm>
          <a:custGeom>
            <a:rect b="b" l="l" r="r" t="t"/>
            <a:pathLst>
              <a:path extrusionOk="0" h="5161930" w="5968482">
                <a:moveTo>
                  <a:pt x="0" y="0"/>
                </a:moveTo>
                <a:lnTo>
                  <a:pt x="5968482" y="0"/>
                </a:lnTo>
                <a:lnTo>
                  <a:pt x="5968482" y="5161930"/>
                </a:lnTo>
                <a:lnTo>
                  <a:pt x="0" y="5161930"/>
                </a:lnTo>
                <a:lnTo>
                  <a:pt x="0" y="0"/>
                </a:lnTo>
                <a:close/>
              </a:path>
            </a:pathLst>
          </a:custGeom>
          <a:blipFill rotWithShape="1">
            <a:blip r:embed="rId3">
              <a:alphaModFix/>
            </a:blip>
            <a:stretch>
              <a:fillRect b="0" l="0" r="0" t="0"/>
            </a:stretch>
          </a:blipFill>
          <a:ln>
            <a:noFill/>
          </a:ln>
        </p:spPr>
      </p:sp>
      <p:sp>
        <p:nvSpPr>
          <p:cNvPr id="203" name="Google Shape;203;p8"/>
          <p:cNvSpPr/>
          <p:nvPr/>
        </p:nvSpPr>
        <p:spPr>
          <a:xfrm>
            <a:off x="8518517" y="4878361"/>
            <a:ext cx="8740783" cy="3903802"/>
          </a:xfrm>
          <a:custGeom>
            <a:rect b="b" l="l" r="r" t="t"/>
            <a:pathLst>
              <a:path extrusionOk="0" h="3903802" w="8740783">
                <a:moveTo>
                  <a:pt x="0" y="0"/>
                </a:moveTo>
                <a:lnTo>
                  <a:pt x="8740783" y="0"/>
                </a:lnTo>
                <a:lnTo>
                  <a:pt x="8740783" y="3903801"/>
                </a:lnTo>
                <a:lnTo>
                  <a:pt x="0" y="3903801"/>
                </a:lnTo>
                <a:lnTo>
                  <a:pt x="0" y="0"/>
                </a:lnTo>
                <a:close/>
              </a:path>
            </a:pathLst>
          </a:custGeom>
          <a:blipFill rotWithShape="1">
            <a:blip r:embed="rId4">
              <a:alphaModFix/>
            </a:blip>
            <a:stretch>
              <a:fillRect b="0" l="0" r="0" t="0"/>
            </a:stretch>
          </a:blipFill>
          <a:ln>
            <a:noFill/>
          </a:ln>
        </p:spPr>
      </p:sp>
      <p:sp>
        <p:nvSpPr>
          <p:cNvPr id="204" name="Google Shape;204;p8"/>
          <p:cNvSpPr txBox="1"/>
          <p:nvPr/>
        </p:nvSpPr>
        <p:spPr>
          <a:xfrm>
            <a:off x="1028700" y="2904907"/>
            <a:ext cx="16028100" cy="19725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Son circuitos combinacionales con </a:t>
            </a:r>
            <a:r>
              <a:rPr lang="en-US" sz="2599">
                <a:latin typeface="Montserrat"/>
                <a:ea typeface="Montserrat"/>
                <a:cs typeface="Montserrat"/>
                <a:sym typeface="Montserrat"/>
              </a:rPr>
              <a:t>2N canales de</a:t>
            </a:r>
            <a:r>
              <a:rPr b="0" i="0" lang="en-US" sz="2599" u="none" cap="none" strike="noStrike">
                <a:solidFill>
                  <a:srgbClr val="000000"/>
                </a:solidFill>
                <a:latin typeface="Montserrat"/>
                <a:ea typeface="Montserrat"/>
                <a:cs typeface="Montserrat"/>
                <a:sym typeface="Montserrat"/>
              </a:rPr>
              <a:t> entrada con informaci</a:t>
            </a:r>
            <a:r>
              <a:rPr lang="en-US" sz="2599">
                <a:latin typeface="Montserrat"/>
                <a:ea typeface="Montserrat"/>
                <a:cs typeface="Montserrat"/>
                <a:sym typeface="Montserrat"/>
              </a:rPr>
              <a:t>ó</a:t>
            </a:r>
            <a:r>
              <a:rPr b="0" i="0" lang="en-US" sz="2599" u="none" cap="none" strike="noStrike">
                <a:solidFill>
                  <a:srgbClr val="000000"/>
                </a:solidFill>
                <a:latin typeface="Montserrat"/>
                <a:ea typeface="Montserrat"/>
                <a:cs typeface="Montserrat"/>
                <a:sym typeface="Montserrat"/>
              </a:rPr>
              <a:t>n digital y un únic</a:t>
            </a:r>
            <a:r>
              <a:rPr lang="en-US" sz="2599">
                <a:latin typeface="Montserrat"/>
                <a:ea typeface="Montserrat"/>
                <a:cs typeface="Montserrat"/>
                <a:sym typeface="Montserrat"/>
              </a:rPr>
              <a:t>o canal de</a:t>
            </a:r>
            <a:r>
              <a:rPr b="0" i="0" lang="en-US" sz="2599" u="none" cap="none" strike="noStrike">
                <a:solidFill>
                  <a:srgbClr val="000000"/>
                </a:solidFill>
                <a:latin typeface="Montserrat"/>
                <a:ea typeface="Montserrat"/>
                <a:cs typeface="Montserrat"/>
                <a:sym typeface="Montserrat"/>
              </a:rPr>
              <a:t> salida. Están dotados de N entradas de control capaces de seleccionar un</a:t>
            </a:r>
            <a:r>
              <a:rPr lang="en-US" sz="2599">
                <a:latin typeface="Montserrat"/>
                <a:ea typeface="Montserrat"/>
                <a:cs typeface="Montserrat"/>
                <a:sym typeface="Montserrat"/>
              </a:rPr>
              <a:t>o</a:t>
            </a:r>
            <a:r>
              <a:rPr b="0" i="0" lang="en-US" sz="2599" u="none" cap="none" strike="noStrike">
                <a:solidFill>
                  <a:srgbClr val="000000"/>
                </a:solidFill>
                <a:latin typeface="Montserrat"/>
                <a:ea typeface="Montserrat"/>
                <a:cs typeface="Montserrat"/>
                <a:sym typeface="Montserrat"/>
              </a:rPr>
              <a:t>, y solo un</a:t>
            </a:r>
            <a:r>
              <a:rPr lang="en-US" sz="2599">
                <a:latin typeface="Montserrat"/>
                <a:ea typeface="Montserrat"/>
                <a:cs typeface="Montserrat"/>
                <a:sym typeface="Montserrat"/>
              </a:rPr>
              <a:t>o</a:t>
            </a:r>
            <a:r>
              <a:rPr b="0" i="0" lang="en-US" sz="2599" u="none" cap="none" strike="noStrike">
                <a:solidFill>
                  <a:srgbClr val="000000"/>
                </a:solidFill>
                <a:latin typeface="Montserrat"/>
                <a:ea typeface="Montserrat"/>
                <a:cs typeface="Montserrat"/>
                <a:sym typeface="Montserrat"/>
              </a:rPr>
              <a:t>, de l</a:t>
            </a:r>
            <a:r>
              <a:rPr lang="en-US" sz="2599">
                <a:latin typeface="Montserrat"/>
                <a:ea typeface="Montserrat"/>
                <a:cs typeface="Montserrat"/>
                <a:sym typeface="Montserrat"/>
              </a:rPr>
              <a:t>os canales de entrada</a:t>
            </a:r>
            <a:r>
              <a:rPr b="0" i="0" lang="en-US" sz="2599" u="none" cap="none" strike="noStrike">
                <a:solidFill>
                  <a:srgbClr val="000000"/>
                </a:solidFill>
                <a:latin typeface="Montserrat"/>
                <a:ea typeface="Montserrat"/>
                <a:cs typeface="Montserrat"/>
                <a:sym typeface="Montserrat"/>
              </a:rPr>
              <a:t> </a:t>
            </a:r>
            <a:r>
              <a:rPr lang="en-US" sz="2599">
                <a:latin typeface="Montserrat"/>
                <a:ea typeface="Montserrat"/>
                <a:cs typeface="Montserrat"/>
                <a:sym typeface="Montserrat"/>
              </a:rPr>
              <a:t>con informacion digital</a:t>
            </a:r>
            <a:r>
              <a:rPr b="0" i="0" lang="en-US" sz="2599" u="none" cap="none" strike="noStrike">
                <a:solidFill>
                  <a:srgbClr val="000000"/>
                </a:solidFill>
                <a:latin typeface="Montserrat"/>
                <a:ea typeface="Montserrat"/>
                <a:cs typeface="Montserrat"/>
                <a:sym typeface="Montserrat"/>
              </a:rPr>
              <a:t> para permitir su transmisión desde </a:t>
            </a:r>
            <a:r>
              <a:rPr lang="en-US" sz="2599">
                <a:latin typeface="Montserrat"/>
                <a:ea typeface="Montserrat"/>
                <a:cs typeface="Montserrat"/>
                <a:sym typeface="Montserrat"/>
              </a:rPr>
              <a:t>el canal de entrada </a:t>
            </a:r>
            <a:r>
              <a:rPr b="0" i="0" lang="en-US" sz="2599" u="none" cap="none" strike="noStrike">
                <a:solidFill>
                  <a:srgbClr val="000000"/>
                </a:solidFill>
                <a:latin typeface="Montserrat"/>
                <a:ea typeface="Montserrat"/>
                <a:cs typeface="Montserrat"/>
                <a:sym typeface="Montserrat"/>
              </a:rPr>
              <a:t> seleccionad</a:t>
            </a:r>
            <a:r>
              <a:rPr lang="en-US" sz="2599">
                <a:latin typeface="Montserrat"/>
                <a:ea typeface="Montserrat"/>
                <a:cs typeface="Montserrat"/>
                <a:sym typeface="Montserrat"/>
              </a:rPr>
              <a:t>o</a:t>
            </a:r>
            <a:r>
              <a:rPr b="0" i="0" lang="en-US" sz="2599" u="none" cap="none" strike="noStrike">
                <a:solidFill>
                  <a:srgbClr val="000000"/>
                </a:solidFill>
                <a:latin typeface="Montserrat"/>
                <a:ea typeface="Montserrat"/>
                <a:cs typeface="Montserrat"/>
                <a:sym typeface="Montserrat"/>
              </a:rPr>
              <a:t> hacia </a:t>
            </a:r>
            <a:r>
              <a:rPr lang="en-US" sz="2599">
                <a:latin typeface="Montserrat"/>
                <a:ea typeface="Montserrat"/>
                <a:cs typeface="Montserrat"/>
                <a:sym typeface="Montserrat"/>
              </a:rPr>
              <a:t>el unico canal de salida.</a:t>
            </a:r>
            <a:endParaRPr/>
          </a:p>
        </p:txBody>
      </p:sp>
      <p:sp>
        <p:nvSpPr>
          <p:cNvPr id="205" name="Google Shape;205;p8"/>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MULTIPLEXOR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grpSp>
        <p:nvGrpSpPr>
          <p:cNvPr id="214" name="Google Shape;214;p9"/>
          <p:cNvGrpSpPr/>
          <p:nvPr/>
        </p:nvGrpSpPr>
        <p:grpSpPr>
          <a:xfrm>
            <a:off x="0" y="-253157"/>
            <a:ext cx="18288000" cy="2841699"/>
            <a:chOff x="0" y="-66675"/>
            <a:chExt cx="4816593" cy="748431"/>
          </a:xfrm>
        </p:grpSpPr>
        <p:sp>
          <p:nvSpPr>
            <p:cNvPr id="215" name="Google Shape;215;p9"/>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16" name="Google Shape;216;p9"/>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9"/>
          <p:cNvSpPr/>
          <p:nvPr/>
        </p:nvSpPr>
        <p:spPr>
          <a:xfrm>
            <a:off x="1786940" y="4783111"/>
            <a:ext cx="6157723" cy="5408639"/>
          </a:xfrm>
          <a:custGeom>
            <a:rect b="b" l="l" r="r" t="t"/>
            <a:pathLst>
              <a:path extrusionOk="0" h="5408639" w="6157723">
                <a:moveTo>
                  <a:pt x="0" y="0"/>
                </a:moveTo>
                <a:lnTo>
                  <a:pt x="6157723" y="0"/>
                </a:lnTo>
                <a:lnTo>
                  <a:pt x="6157723" y="5408639"/>
                </a:lnTo>
                <a:lnTo>
                  <a:pt x="0" y="5408639"/>
                </a:lnTo>
                <a:lnTo>
                  <a:pt x="0" y="0"/>
                </a:lnTo>
                <a:close/>
              </a:path>
            </a:pathLst>
          </a:custGeom>
          <a:blipFill rotWithShape="1">
            <a:blip r:embed="rId3">
              <a:alphaModFix/>
            </a:blip>
            <a:stretch>
              <a:fillRect b="0" l="0" r="0" t="0"/>
            </a:stretch>
          </a:blipFill>
          <a:ln>
            <a:noFill/>
          </a:ln>
        </p:spPr>
      </p:sp>
      <p:sp>
        <p:nvSpPr>
          <p:cNvPr id="218" name="Google Shape;218;p9"/>
          <p:cNvSpPr/>
          <p:nvPr/>
        </p:nvSpPr>
        <p:spPr>
          <a:xfrm>
            <a:off x="9168215" y="4937303"/>
            <a:ext cx="8288493" cy="4540091"/>
          </a:xfrm>
          <a:custGeom>
            <a:rect b="b" l="l" r="r" t="t"/>
            <a:pathLst>
              <a:path extrusionOk="0" h="4540091" w="8288493">
                <a:moveTo>
                  <a:pt x="0" y="0"/>
                </a:moveTo>
                <a:lnTo>
                  <a:pt x="8288493" y="0"/>
                </a:lnTo>
                <a:lnTo>
                  <a:pt x="8288493" y="4540091"/>
                </a:lnTo>
                <a:lnTo>
                  <a:pt x="0" y="4540091"/>
                </a:lnTo>
                <a:lnTo>
                  <a:pt x="0" y="0"/>
                </a:lnTo>
                <a:close/>
              </a:path>
            </a:pathLst>
          </a:custGeom>
          <a:blipFill rotWithShape="1">
            <a:blip r:embed="rId4">
              <a:alphaModFix/>
            </a:blip>
            <a:stretch>
              <a:fillRect b="0" l="0" r="0" t="0"/>
            </a:stretch>
          </a:blipFill>
          <a:ln>
            <a:noFill/>
          </a:ln>
        </p:spPr>
      </p:sp>
      <p:sp>
        <p:nvSpPr>
          <p:cNvPr id="219" name="Google Shape;219;p9"/>
          <p:cNvSpPr txBox="1"/>
          <p:nvPr/>
        </p:nvSpPr>
        <p:spPr>
          <a:xfrm>
            <a:off x="1028700" y="2819182"/>
            <a:ext cx="16028100" cy="19725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circuito combinacional que tiene un</a:t>
            </a:r>
            <a:r>
              <a:rPr lang="en-US" sz="2599">
                <a:latin typeface="Montserrat"/>
                <a:ea typeface="Montserrat"/>
                <a:cs typeface="Montserrat"/>
                <a:sym typeface="Montserrat"/>
              </a:rPr>
              <a:t> canal de </a:t>
            </a:r>
            <a:r>
              <a:rPr b="0" i="0" lang="en-US" sz="2599" u="none" cap="none" strike="noStrike">
                <a:solidFill>
                  <a:srgbClr val="000000"/>
                </a:solidFill>
                <a:latin typeface="Montserrat"/>
                <a:ea typeface="Montserrat"/>
                <a:cs typeface="Montserrat"/>
                <a:sym typeface="Montserrat"/>
              </a:rPr>
              <a:t> entrada </a:t>
            </a:r>
            <a:r>
              <a:rPr lang="en-US" sz="2599">
                <a:latin typeface="Montserrat"/>
                <a:ea typeface="Montserrat"/>
                <a:cs typeface="Montserrat"/>
                <a:sym typeface="Montserrat"/>
              </a:rPr>
              <a:t>con información digital</a:t>
            </a:r>
            <a:r>
              <a:rPr b="0" i="0" lang="en-US" sz="2599" u="none" cap="none" strike="noStrike">
                <a:solidFill>
                  <a:srgbClr val="000000"/>
                </a:solidFill>
                <a:latin typeface="Montserrat"/>
                <a:ea typeface="Montserrat"/>
                <a:cs typeface="Montserrat"/>
                <a:sym typeface="Montserrat"/>
              </a:rPr>
              <a:t>  y n entradas de control que sirven para seleccionar un</a:t>
            </a:r>
            <a:r>
              <a:rPr lang="en-US" sz="2599">
                <a:latin typeface="Montserrat"/>
                <a:ea typeface="Montserrat"/>
                <a:cs typeface="Montserrat"/>
                <a:sym typeface="Montserrat"/>
              </a:rPr>
              <a:t>o</a:t>
            </a:r>
            <a:r>
              <a:rPr b="0" i="0" lang="en-US" sz="2599" u="none" cap="none" strike="noStrike">
                <a:solidFill>
                  <a:srgbClr val="000000"/>
                </a:solidFill>
                <a:latin typeface="Montserrat"/>
                <a:ea typeface="Montserrat"/>
                <a:cs typeface="Montserrat"/>
                <a:sym typeface="Montserrat"/>
              </a:rPr>
              <a:t> de l</a:t>
            </a:r>
            <a:r>
              <a:rPr lang="en-US" sz="2599">
                <a:latin typeface="Montserrat"/>
                <a:ea typeface="Montserrat"/>
                <a:cs typeface="Montserrat"/>
                <a:sym typeface="Montserrat"/>
              </a:rPr>
              <a:t>o</a:t>
            </a:r>
            <a:r>
              <a:rPr b="0" i="0" lang="en-US" sz="2599" u="none" cap="none" strike="noStrike">
                <a:solidFill>
                  <a:srgbClr val="000000"/>
                </a:solidFill>
                <a:latin typeface="Montserrat"/>
                <a:ea typeface="Montserrat"/>
                <a:cs typeface="Montserrat"/>
                <a:sym typeface="Montserrat"/>
              </a:rPr>
              <a:t>s 2n canales de salida</a:t>
            </a:r>
            <a:r>
              <a:rPr lang="en-US" sz="2599">
                <a:latin typeface="Montserrat"/>
                <a:ea typeface="Montserrat"/>
                <a:cs typeface="Montserrat"/>
                <a:sym typeface="Montserrat"/>
              </a:rPr>
              <a:t> </a:t>
            </a:r>
            <a:r>
              <a:rPr b="0" i="0" lang="en-US" sz="2599" u="none" cap="none" strike="noStrike">
                <a:solidFill>
                  <a:srgbClr val="000000"/>
                </a:solidFill>
                <a:latin typeface="Montserrat"/>
                <a:ea typeface="Montserrat"/>
                <a:cs typeface="Montserrat"/>
                <a:sym typeface="Montserrat"/>
              </a:rPr>
              <a:t> por </a:t>
            </a:r>
            <a:r>
              <a:rPr lang="en-US" sz="2599">
                <a:latin typeface="Montserrat"/>
                <a:ea typeface="Montserrat"/>
                <a:cs typeface="Montserrat"/>
                <a:sym typeface="Montserrat"/>
              </a:rPr>
              <a:t>el</a:t>
            </a:r>
            <a:r>
              <a:rPr b="0" i="0" lang="en-US" sz="2599" u="none" cap="none" strike="noStrike">
                <a:solidFill>
                  <a:srgbClr val="000000"/>
                </a:solidFill>
                <a:latin typeface="Montserrat"/>
                <a:ea typeface="Montserrat"/>
                <a:cs typeface="Montserrat"/>
                <a:sym typeface="Montserrat"/>
              </a:rPr>
              <a:t> que ha de salir </a:t>
            </a:r>
            <a:r>
              <a:rPr lang="en-US" sz="2599">
                <a:latin typeface="Montserrat"/>
                <a:ea typeface="Montserrat"/>
                <a:cs typeface="Montserrat"/>
                <a:sym typeface="Montserrat"/>
              </a:rPr>
              <a:t>la</a:t>
            </a:r>
            <a:r>
              <a:rPr b="0" i="0" lang="en-US" sz="2599" u="none" cap="none" strike="noStrike">
                <a:solidFill>
                  <a:srgbClr val="000000"/>
                </a:solidFill>
                <a:latin typeface="Montserrat"/>
                <a:ea typeface="Montserrat"/>
                <a:cs typeface="Montserrat"/>
                <a:sym typeface="Montserrat"/>
              </a:rPr>
              <a:t> </a:t>
            </a:r>
            <a:r>
              <a:rPr lang="en-US" sz="2599">
                <a:latin typeface="Montserrat"/>
                <a:ea typeface="Montserrat"/>
                <a:cs typeface="Montserrat"/>
                <a:sym typeface="Montserrat"/>
              </a:rPr>
              <a:t>información digital </a:t>
            </a:r>
            <a:r>
              <a:rPr b="0" i="0" lang="en-US" sz="2599" u="none" cap="none" strike="noStrike">
                <a:solidFill>
                  <a:srgbClr val="000000"/>
                </a:solidFill>
                <a:latin typeface="Montserrat"/>
                <a:ea typeface="Montserrat"/>
                <a:cs typeface="Montserrat"/>
                <a:sym typeface="Montserrat"/>
              </a:rPr>
              <a:t> que </a:t>
            </a:r>
            <a:r>
              <a:rPr lang="en-US" sz="2599">
                <a:latin typeface="Montserrat"/>
                <a:ea typeface="Montserrat"/>
                <a:cs typeface="Montserrat"/>
                <a:sym typeface="Montserrat"/>
              </a:rPr>
              <a:t>encuentra en el único canal de entrada</a:t>
            </a:r>
            <a:r>
              <a:rPr b="0" i="0" lang="en-US" sz="2599" u="none" cap="none" strike="noStrike">
                <a:solidFill>
                  <a:srgbClr val="000000"/>
                </a:solidFill>
                <a:latin typeface="Montserrat"/>
                <a:ea typeface="Montserrat"/>
                <a:cs typeface="Montserrat"/>
                <a:sym typeface="Montserrat"/>
              </a:rPr>
              <a:t>. Esto se consigue aplicando a las entradas de control la combinación binaria correspondiente a la salida que se desea seleccionar.</a:t>
            </a:r>
            <a:endParaRPr/>
          </a:p>
        </p:txBody>
      </p:sp>
      <p:sp>
        <p:nvSpPr>
          <p:cNvPr id="220" name="Google Shape;220;p9"/>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DEMULTIPLEXOR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24" name="Shape 224"/>
        <p:cNvGrpSpPr/>
        <p:nvPr/>
      </p:nvGrpSpPr>
      <p:grpSpPr>
        <a:xfrm>
          <a:off x="0" y="0"/>
          <a:ext cx="0" cy="0"/>
          <a:chOff x="0" y="0"/>
          <a:chExt cx="0" cy="0"/>
        </a:xfrm>
      </p:grpSpPr>
      <p:sp>
        <p:nvSpPr>
          <p:cNvPr id="225" name="Google Shape;225;p10"/>
          <p:cNvSpPr/>
          <p:nvPr/>
        </p:nvSpPr>
        <p:spPr>
          <a:xfrm>
            <a:off x="2750505" y="3383082"/>
            <a:ext cx="12285769" cy="3520836"/>
          </a:xfrm>
          <a:custGeom>
            <a:rect b="b" l="l" r="r" t="t"/>
            <a:pathLst>
              <a:path extrusionOk="0" h="3520836" w="12285769">
                <a:moveTo>
                  <a:pt x="0" y="0"/>
                </a:moveTo>
                <a:lnTo>
                  <a:pt x="12285769" y="0"/>
                </a:lnTo>
                <a:lnTo>
                  <a:pt x="12285769" y="3520836"/>
                </a:lnTo>
                <a:lnTo>
                  <a:pt x="0" y="3520836"/>
                </a:lnTo>
                <a:lnTo>
                  <a:pt x="0" y="0"/>
                </a:lnTo>
                <a:close/>
              </a:path>
            </a:pathLst>
          </a:custGeom>
          <a:blipFill rotWithShape="1">
            <a:blip r:embed="rId3">
              <a:alphaModFix/>
            </a:blip>
            <a:stretch>
              <a:fillRect b="-32102" l="-1293" r="0" t="-4772"/>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