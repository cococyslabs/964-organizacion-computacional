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10287000" cx="18288000"/>
  <p:notesSz cx="6858000" cy="9144000"/>
  <p:embeddedFontLst>
    <p:embeddedFont>
      <p:font typeface="Montserrat"/>
      <p:regular r:id="rId16"/>
      <p:bold r:id="rId17"/>
      <p:italic r:id="rId18"/>
      <p:boldItalic r:id="rId19"/>
    </p:embeddedFont>
    <p:embeddedFont>
      <p:font typeface="Lato Black"/>
      <p:bold r:id="rId20"/>
      <p:boldItalic r:id="rId21"/>
    </p:embeddedFont>
    <p:embeddedFont>
      <p:font typeface="Oswald"/>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4" roundtripDataSignature="AMtx7mgOtQPS0XeDuEfS4jaZ6yv0s7X9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lack-bold.fntdata"/><Relationship Id="rId11" Type="http://schemas.openxmlformats.org/officeDocument/2006/relationships/slide" Target="slides/slide6.xml"/><Relationship Id="rId22" Type="http://schemas.openxmlformats.org/officeDocument/2006/relationships/font" Target="fonts/Oswald-regular.fntdata"/><Relationship Id="rId10" Type="http://schemas.openxmlformats.org/officeDocument/2006/relationships/slide" Target="slides/slide5.xml"/><Relationship Id="rId21" Type="http://schemas.openxmlformats.org/officeDocument/2006/relationships/font" Target="fonts/LatoBlack-boldItalic.fntdata"/><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font" Target="fonts/Oswa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ontserrat-bold.fntdata"/><Relationship Id="rId16" Type="http://schemas.openxmlformats.org/officeDocument/2006/relationships/font" Target="fonts/Montserrat-regular.fntdata"/><Relationship Id="rId5" Type="http://schemas.openxmlformats.org/officeDocument/2006/relationships/notesMaster" Target="notesMasters/notesMaster1.xml"/><Relationship Id="rId19" Type="http://schemas.openxmlformats.org/officeDocument/2006/relationships/font" Target="fonts/Montserrat-boldItalic.fntdata"/><Relationship Id="rId6" Type="http://schemas.openxmlformats.org/officeDocument/2006/relationships/slide" Target="slides/slide1.xml"/><Relationship Id="rId18" Type="http://schemas.openxmlformats.org/officeDocument/2006/relationships/font" Target="fonts/Montserrat-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09" name="Google Shape;109;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10" name="Google Shape;110;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112" name="Google Shape;112;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13" name="Google Shape;113;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22" name="Google Shape;122;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23" name="Google Shape;123;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125" name="Google Shape;125;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26" name="Google Shape;126;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35" name="Google Shape;135;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36" name="Google Shape;136;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138" name="Google Shape;138;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39" name="Google Shape;139;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48" name="Google Shape;148;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49" name="Google Shape;149;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151" name="Google Shape;151;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52" name="Google Shape;152;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63" name="Google Shape;163;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64" name="Google Shape;164;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166" name="Google Shape;166;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67" name="Google Shape;167;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78" name="Google Shape;178;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79" name="Google Shape;179;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181" name="Google Shape;181;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82" name="Google Shape;182;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93" name="Google Shape;193;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94" name="Google Shape;194;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196" name="Google Shape;196;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97" name="Google Shape;197;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08" name="Google Shape;208;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09" name="Google Shape;209;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211" name="Google Shape;211;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12" name="Google Shape;212;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1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p:nvPr>
            <p:ph idx="2" type="pic"/>
          </p:nvPr>
        </p:nvSpPr>
        <p:spPr>
          <a:xfrm>
            <a:off x="1792288" y="612775"/>
            <a:ext cx="5486400" cy="4114800"/>
          </a:xfrm>
          <a:prstGeom prst="rect">
            <a:avLst/>
          </a:prstGeom>
          <a:noFill/>
          <a:ln>
            <a:noFill/>
          </a:ln>
        </p:spPr>
      </p:sp>
      <p:sp>
        <p:nvSpPr>
          <p:cNvPr id="68" name="Google Shape;68;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87" name="Shape 87"/>
        <p:cNvGrpSpPr/>
        <p:nvPr/>
      </p:nvGrpSpPr>
      <p:grpSpPr>
        <a:xfrm>
          <a:off x="0" y="0"/>
          <a:ext cx="0" cy="0"/>
          <a:chOff x="0" y="0"/>
          <a:chExt cx="0" cy="0"/>
        </a:xfrm>
      </p:grpSpPr>
      <p:grpSp>
        <p:nvGrpSpPr>
          <p:cNvPr id="88" name="Google Shape;88;p1"/>
          <p:cNvGrpSpPr/>
          <p:nvPr/>
        </p:nvGrpSpPr>
        <p:grpSpPr>
          <a:xfrm rot="5400000">
            <a:off x="2659078" y="-6224990"/>
            <a:ext cx="6274827" cy="12450233"/>
            <a:chOff x="0" y="0"/>
            <a:chExt cx="3166110" cy="6282055"/>
          </a:xfrm>
        </p:grpSpPr>
        <p:sp>
          <p:nvSpPr>
            <p:cNvPr id="89" name="Google Shape;89;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ADC7EA"/>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132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 name="Google Shape;91;p1"/>
          <p:cNvGrpSpPr/>
          <p:nvPr/>
        </p:nvGrpSpPr>
        <p:grpSpPr>
          <a:xfrm rot="-5400000">
            <a:off x="9151318" y="4851619"/>
            <a:ext cx="6274827" cy="12450233"/>
            <a:chOff x="0" y="0"/>
            <a:chExt cx="3166110" cy="6282055"/>
          </a:xfrm>
        </p:grpSpPr>
        <p:sp>
          <p:nvSpPr>
            <p:cNvPr id="92" name="Google Shape;92;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E0E6E9"/>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E0E6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4" name="Google Shape;94;p1"/>
          <p:cNvGrpSpPr/>
          <p:nvPr/>
        </p:nvGrpSpPr>
        <p:grpSpPr>
          <a:xfrm>
            <a:off x="12814229" y="6175561"/>
            <a:ext cx="12630150" cy="1367582"/>
            <a:chOff x="0" y="-66675"/>
            <a:chExt cx="3326459" cy="360186"/>
          </a:xfrm>
        </p:grpSpPr>
        <p:sp>
          <p:nvSpPr>
            <p:cNvPr id="95" name="Google Shape;95;p1"/>
            <p:cNvSpPr/>
            <p:nvPr/>
          </p:nvSpPr>
          <p:spPr>
            <a:xfrm>
              <a:off x="0" y="0"/>
              <a:ext cx="3326459" cy="293511"/>
            </a:xfrm>
            <a:custGeom>
              <a:rect b="b" l="l" r="r" t="t"/>
              <a:pathLst>
                <a:path extrusionOk="0" h="293511" w="3326459">
                  <a:moveTo>
                    <a:pt x="3123259" y="0"/>
                  </a:moveTo>
                  <a:cubicBezTo>
                    <a:pt x="3235484" y="0"/>
                    <a:pt x="3326459" y="65705"/>
                    <a:pt x="3326459" y="146756"/>
                  </a:cubicBezTo>
                  <a:cubicBezTo>
                    <a:pt x="3326459" y="227806"/>
                    <a:pt x="3235484" y="293511"/>
                    <a:pt x="3123259" y="293511"/>
                  </a:cubicBezTo>
                  <a:lnTo>
                    <a:pt x="203200" y="293511"/>
                  </a:lnTo>
                  <a:cubicBezTo>
                    <a:pt x="90976" y="293511"/>
                    <a:pt x="0" y="227806"/>
                    <a:pt x="0" y="146756"/>
                  </a:cubicBezTo>
                  <a:cubicBezTo>
                    <a:pt x="0" y="65705"/>
                    <a:pt x="90976" y="0"/>
                    <a:pt x="2032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
            <p:cNvSpPr txBox="1"/>
            <p:nvPr/>
          </p:nvSpPr>
          <p:spPr>
            <a:xfrm>
              <a:off x="0" y="-66675"/>
              <a:ext cx="3326459" cy="360186"/>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97" name="Google Shape;97;p1"/>
          <p:cNvSpPr txBox="1"/>
          <p:nvPr/>
        </p:nvSpPr>
        <p:spPr>
          <a:xfrm>
            <a:off x="344927" y="3722182"/>
            <a:ext cx="13236000" cy="4016400"/>
          </a:xfrm>
          <a:prstGeom prst="rect">
            <a:avLst/>
          </a:prstGeom>
          <a:noFill/>
          <a:ln>
            <a:noFill/>
          </a:ln>
        </p:spPr>
        <p:txBody>
          <a:bodyPr anchorCtr="0" anchor="t" bIns="0" lIns="0" spcFirstLastPara="1" rIns="0" wrap="square" tIns="0">
            <a:spAutoFit/>
          </a:bodyPr>
          <a:lstStyle/>
          <a:p>
            <a:pPr indent="0" lvl="0" marL="0" marR="0" rtl="0" algn="ctr">
              <a:lnSpc>
                <a:spcPct val="114003"/>
              </a:lnSpc>
              <a:spcBef>
                <a:spcPts val="0"/>
              </a:spcBef>
              <a:spcAft>
                <a:spcPts val="0"/>
              </a:spcAft>
              <a:buClr>
                <a:srgbClr val="000000"/>
              </a:buClr>
              <a:buSzPts val="7955"/>
              <a:buFont typeface="Arial"/>
              <a:buNone/>
            </a:pPr>
            <a:r>
              <a:rPr b="1" i="0" lang="en-US" sz="7955" u="none" cap="none" strike="noStrike">
                <a:solidFill>
                  <a:srgbClr val="FFFFFF"/>
                </a:solidFill>
                <a:latin typeface="Oswald"/>
                <a:ea typeface="Oswald"/>
                <a:cs typeface="Oswald"/>
                <a:sym typeface="Oswald"/>
              </a:rPr>
              <a:t>LOGICA COMBINACIONAL:</a:t>
            </a:r>
            <a:endParaRPr b="0" i="0" sz="1400" u="none" cap="none" strike="noStrike">
              <a:solidFill>
                <a:srgbClr val="000000"/>
              </a:solidFill>
              <a:latin typeface="Arial"/>
              <a:ea typeface="Arial"/>
              <a:cs typeface="Arial"/>
              <a:sym typeface="Arial"/>
            </a:endParaRPr>
          </a:p>
          <a:p>
            <a:pPr indent="0" lvl="0" marL="0" marR="0" rtl="0" algn="ctr">
              <a:lnSpc>
                <a:spcPct val="114003"/>
              </a:lnSpc>
              <a:spcBef>
                <a:spcPts val="0"/>
              </a:spcBef>
              <a:spcAft>
                <a:spcPts val="0"/>
              </a:spcAft>
              <a:buClr>
                <a:srgbClr val="000000"/>
              </a:buClr>
              <a:buSzPts val="7955"/>
              <a:buFont typeface="Arial"/>
              <a:buNone/>
            </a:pPr>
            <a:r>
              <a:rPr b="1" i="0" lang="en-US" sz="7955" u="none" cap="none" strike="noStrike">
                <a:solidFill>
                  <a:srgbClr val="FFFFFF"/>
                </a:solidFill>
                <a:latin typeface="Oswald"/>
                <a:ea typeface="Oswald"/>
                <a:cs typeface="Oswald"/>
                <a:sym typeface="Oswald"/>
              </a:rPr>
              <a:t>COMPARADORES, ENCODERS, DECODERS, MUX Y DEMUX</a:t>
            </a:r>
            <a:endParaRPr b="0" i="0" sz="1400" u="none" cap="none" strike="noStrike">
              <a:solidFill>
                <a:srgbClr val="000000"/>
              </a:solidFill>
              <a:latin typeface="Arial"/>
              <a:ea typeface="Arial"/>
              <a:cs typeface="Arial"/>
              <a:sym typeface="Arial"/>
            </a:endParaRPr>
          </a:p>
        </p:txBody>
      </p:sp>
      <p:sp>
        <p:nvSpPr>
          <p:cNvPr id="98" name="Google Shape;98;p1"/>
          <p:cNvSpPr txBox="1"/>
          <p:nvPr/>
        </p:nvSpPr>
        <p:spPr>
          <a:xfrm>
            <a:off x="1028700" y="8063399"/>
            <a:ext cx="13293265" cy="691388"/>
          </a:xfrm>
          <a:prstGeom prst="rect">
            <a:avLst/>
          </a:prstGeom>
          <a:noFill/>
          <a:ln>
            <a:noFill/>
          </a:ln>
        </p:spPr>
        <p:txBody>
          <a:bodyPr anchorCtr="0" anchor="t" bIns="0" lIns="0" spcFirstLastPara="1" rIns="0" wrap="square" tIns="0">
            <a:spAutoFit/>
          </a:bodyPr>
          <a:lstStyle/>
          <a:p>
            <a:pPr indent="0" lvl="0" marL="0" marR="0" rtl="0" algn="l">
              <a:lnSpc>
                <a:spcPct val="118008"/>
              </a:lnSpc>
              <a:spcBef>
                <a:spcPts val="0"/>
              </a:spcBef>
              <a:spcAft>
                <a:spcPts val="0"/>
              </a:spcAft>
              <a:buClr>
                <a:srgbClr val="000000"/>
              </a:buClr>
              <a:buSzPts val="2199"/>
              <a:buFont typeface="Arial"/>
              <a:buNone/>
            </a:pPr>
            <a:r>
              <a:rPr b="0" i="0" lang="en-US" sz="2199" u="none" cap="none" strike="noStrike">
                <a:solidFill>
                  <a:srgbClr val="FFFFFF"/>
                </a:solidFill>
                <a:latin typeface="Lato Black"/>
                <a:ea typeface="Lato Black"/>
                <a:cs typeface="Lato Black"/>
                <a:sym typeface="Lato Black"/>
              </a:rPr>
              <a:t>ORGANIZACIÓN COMPUTACIONAL</a:t>
            </a:r>
            <a:endParaRPr b="0" i="0" sz="1400" u="none" cap="none" strike="noStrike">
              <a:solidFill>
                <a:srgbClr val="000000"/>
              </a:solidFill>
              <a:latin typeface="Arial"/>
              <a:ea typeface="Arial"/>
              <a:cs typeface="Arial"/>
              <a:sym typeface="Arial"/>
            </a:endParaRPr>
          </a:p>
          <a:p>
            <a:pPr indent="0" lvl="0" marL="0" marR="0" rtl="0" algn="l">
              <a:lnSpc>
                <a:spcPct val="118008"/>
              </a:lnSpc>
              <a:spcBef>
                <a:spcPts val="0"/>
              </a:spcBef>
              <a:spcAft>
                <a:spcPts val="0"/>
              </a:spcAft>
              <a:buClr>
                <a:srgbClr val="000000"/>
              </a:buClr>
              <a:buSzPts val="2199"/>
              <a:buFont typeface="Arial"/>
              <a:buNone/>
            </a:pPr>
            <a:r>
              <a:rPr b="0" i="0" lang="en-US" sz="2199" u="none" cap="none" strike="noStrike">
                <a:solidFill>
                  <a:srgbClr val="FFFFFF"/>
                </a:solidFill>
                <a:latin typeface="Lato Black"/>
                <a:ea typeface="Lato Black"/>
                <a:cs typeface="Lato Black"/>
                <a:sym typeface="Lato Black"/>
              </a:rPr>
              <a:t>SECCIÓN A</a:t>
            </a:r>
            <a:endParaRPr b="0" i="0" sz="1400" u="none" cap="none" strike="noStrike">
              <a:solidFill>
                <a:srgbClr val="000000"/>
              </a:solidFill>
              <a:latin typeface="Arial"/>
              <a:ea typeface="Arial"/>
              <a:cs typeface="Arial"/>
              <a:sym typeface="Arial"/>
            </a:endParaRPr>
          </a:p>
        </p:txBody>
      </p:sp>
      <p:cxnSp>
        <p:nvCxnSpPr>
          <p:cNvPr id="99" name="Google Shape;99;p1"/>
          <p:cNvCxnSpPr/>
          <p:nvPr/>
        </p:nvCxnSpPr>
        <p:spPr>
          <a:xfrm>
            <a:off x="-428625" y="3501989"/>
            <a:ext cx="6492240" cy="0"/>
          </a:xfrm>
          <a:prstGeom prst="straightConnector1">
            <a:avLst/>
          </a:prstGeom>
          <a:noFill/>
          <a:ln cap="flat" cmpd="sng" w="38100">
            <a:solidFill>
              <a:srgbClr val="FFFFFF"/>
            </a:solidFill>
            <a:prstDash val="solid"/>
            <a:round/>
            <a:headEnd len="sm" w="sm" type="none"/>
            <a:tailEnd len="lg" w="lg" type="oval"/>
          </a:ln>
        </p:spPr>
      </p:cxnSp>
      <p:cxnSp>
        <p:nvCxnSpPr>
          <p:cNvPr id="100" name="Google Shape;100;p1"/>
          <p:cNvCxnSpPr/>
          <p:nvPr/>
        </p:nvCxnSpPr>
        <p:spPr>
          <a:xfrm>
            <a:off x="12471329" y="7739549"/>
            <a:ext cx="6492240" cy="0"/>
          </a:xfrm>
          <a:prstGeom prst="straightConnector1">
            <a:avLst/>
          </a:prstGeom>
          <a:noFill/>
          <a:ln cap="flat" cmpd="sng" w="38100">
            <a:solidFill>
              <a:srgbClr val="FFFFFF"/>
            </a:solidFill>
            <a:prstDash val="solid"/>
            <a:round/>
            <a:headEnd len="lg" w="lg" type="oval"/>
            <a:tailEnd len="sm" w="sm" type="none"/>
          </a:ln>
        </p:spPr>
      </p:cxnSp>
      <p:grpSp>
        <p:nvGrpSpPr>
          <p:cNvPr id="101" name="Google Shape;101;p1"/>
          <p:cNvGrpSpPr/>
          <p:nvPr/>
        </p:nvGrpSpPr>
        <p:grpSpPr>
          <a:xfrm rot="-5400000">
            <a:off x="9766774" y="5394544"/>
            <a:ext cx="6274827" cy="12450233"/>
            <a:chOff x="0" y="0"/>
            <a:chExt cx="3166110" cy="6282055"/>
          </a:xfrm>
        </p:grpSpPr>
        <p:sp>
          <p:nvSpPr>
            <p:cNvPr id="102" name="Google Shape;102;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9DB3C1"/>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9DB3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4" name="Google Shape;104;p1"/>
          <p:cNvGrpSpPr/>
          <p:nvPr/>
        </p:nvGrpSpPr>
        <p:grpSpPr>
          <a:xfrm rot="5400000">
            <a:off x="2154253" y="-6869939"/>
            <a:ext cx="6274827" cy="12450233"/>
            <a:chOff x="0" y="0"/>
            <a:chExt cx="3166110" cy="6282055"/>
          </a:xfrm>
        </p:grpSpPr>
        <p:sp>
          <p:nvSpPr>
            <p:cNvPr id="105" name="Google Shape;105;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5B696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5B696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grpSp>
        <p:nvGrpSpPr>
          <p:cNvPr id="115" name="Google Shape;115;p2"/>
          <p:cNvGrpSpPr/>
          <p:nvPr/>
        </p:nvGrpSpPr>
        <p:grpSpPr>
          <a:xfrm>
            <a:off x="0" y="-253157"/>
            <a:ext cx="18288000" cy="2841699"/>
            <a:chOff x="0" y="-66675"/>
            <a:chExt cx="4816593" cy="748431"/>
          </a:xfrm>
        </p:grpSpPr>
        <p:sp>
          <p:nvSpPr>
            <p:cNvPr id="116" name="Google Shape;116;p2"/>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17" name="Google Shape;117;p2"/>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8" name="Google Shape;118;p2"/>
          <p:cNvSpPr txBox="1"/>
          <p:nvPr/>
        </p:nvSpPr>
        <p:spPr>
          <a:xfrm>
            <a:off x="1028700" y="2904907"/>
            <a:ext cx="16028100" cy="7737600"/>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Clr>
                <a:srgbClr val="000000"/>
              </a:buClr>
              <a:buSzPts val="2599"/>
              <a:buFont typeface="Arial"/>
              <a:buNone/>
            </a:pPr>
            <a:r>
              <a:rPr b="0" i="0" lang="en-US" sz="2599" u="none" cap="none" strike="noStrike">
                <a:solidFill>
                  <a:srgbClr val="000000"/>
                </a:solidFill>
                <a:latin typeface="Montserrat"/>
                <a:ea typeface="Montserrat"/>
                <a:cs typeface="Montserrat"/>
                <a:sym typeface="Montserrat"/>
              </a:rPr>
              <a:t>La lógica combinacional se caracteriza por  circuitos electrónicos  digitales donde las salidas dependen exclusivamente de las entradas actuales, sin considerar el historial previo de valores. Esto significa que el circuito no tiene memoria. Decimos tambien que la variable tiempo NO esta involucrada.</a:t>
            </a:r>
            <a:endParaRPr b="0" i="0" sz="1400" u="none" cap="none" strike="noStrike">
              <a:solidFill>
                <a:srgbClr val="000000"/>
              </a:solidFill>
              <a:latin typeface="Arial"/>
              <a:ea typeface="Arial"/>
              <a:cs typeface="Arial"/>
              <a:sym typeface="Arial"/>
            </a:endParaRPr>
          </a:p>
          <a:p>
            <a:pPr indent="0" lvl="0" marL="0" marR="0" rtl="0" algn="l">
              <a:lnSpc>
                <a:spcPct val="131011"/>
              </a:lnSpc>
              <a:spcBef>
                <a:spcPts val="0"/>
              </a:spcBef>
              <a:spcAft>
                <a:spcPts val="0"/>
              </a:spcAft>
              <a:buClr>
                <a:srgbClr val="000000"/>
              </a:buClr>
              <a:buSzPts val="2599"/>
              <a:buFont typeface="Arial"/>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Clr>
                <a:srgbClr val="000000"/>
              </a:buClr>
              <a:buSzPts val="2599"/>
              <a:buFont typeface="Arial"/>
              <a:buNone/>
            </a:pPr>
            <a:r>
              <a:rPr b="0" i="0" lang="en-US" sz="2599" u="none" cap="none" strike="noStrike">
                <a:solidFill>
                  <a:srgbClr val="000000"/>
                </a:solidFill>
                <a:latin typeface="Montserrat"/>
                <a:ea typeface="Montserrat"/>
                <a:cs typeface="Montserrat"/>
                <a:sym typeface="Montserrat"/>
              </a:rPr>
              <a:t>Sus caracteristicas son:</a:t>
            </a:r>
            <a:endParaRPr b="0" i="0" sz="1400" u="none" cap="none" strike="noStrike">
              <a:solidFill>
                <a:srgbClr val="000000"/>
              </a:solidFill>
              <a:latin typeface="Arial"/>
              <a:ea typeface="Arial"/>
              <a:cs typeface="Arial"/>
              <a:sym typeface="Arial"/>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Sin Estado: Las salidas no dependen de estados previos, sino únicamente de las entradas actuales.</a:t>
            </a:r>
            <a:endParaRPr b="0" i="0" sz="1400" u="none" cap="none" strike="noStrike">
              <a:solidFill>
                <a:srgbClr val="000000"/>
              </a:solidFill>
              <a:latin typeface="Arial"/>
              <a:ea typeface="Arial"/>
              <a:cs typeface="Arial"/>
              <a:sym typeface="Arial"/>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Uso de Puertas Lógicas sin retro alimentación: Utiliza compuertas lógicas de las comunmente conocidas </a:t>
            </a:r>
            <a:r>
              <a:rPr lang="en-US" sz="2599">
                <a:latin typeface="Montserrat"/>
                <a:ea typeface="Montserrat"/>
                <a:cs typeface="Montserrat"/>
                <a:sym typeface="Montserrat"/>
              </a:rPr>
              <a:t>y debe enfatizarse que no tienen sus conexiones ningún tipo de </a:t>
            </a:r>
            <a:r>
              <a:rPr b="0" i="0" lang="en-US" sz="2599" u="none" cap="none" strike="noStrike">
                <a:solidFill>
                  <a:srgbClr val="000000"/>
                </a:solidFill>
                <a:latin typeface="Montserrat"/>
                <a:ea typeface="Montserrat"/>
                <a:cs typeface="Montserrat"/>
                <a:sym typeface="Montserrat"/>
              </a:rPr>
              <a:t> feed back </a:t>
            </a:r>
            <a:endParaRPr b="0" i="0" sz="1400" u="none" cap="none" strike="noStrike">
              <a:solidFill>
                <a:srgbClr val="000000"/>
              </a:solidFill>
              <a:latin typeface="Arial"/>
              <a:ea typeface="Arial"/>
              <a:cs typeface="Arial"/>
              <a:sym typeface="Arial"/>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Tiempo de Propagación: Como ocurre en cualquier tipo de </a:t>
            </a:r>
            <a:r>
              <a:rPr lang="en-US" sz="2599">
                <a:latin typeface="Montserrat"/>
                <a:ea typeface="Montserrat"/>
                <a:cs typeface="Montserrat"/>
                <a:sym typeface="Montserrat"/>
              </a:rPr>
              <a:t>dispositivo digital secuencial o combinacional, l</a:t>
            </a:r>
            <a:r>
              <a:rPr b="0" i="0" lang="en-US" sz="2599" u="none" cap="none" strike="noStrike">
                <a:solidFill>
                  <a:srgbClr val="000000"/>
                </a:solidFill>
                <a:latin typeface="Montserrat"/>
                <a:ea typeface="Montserrat"/>
                <a:cs typeface="Montserrat"/>
                <a:sym typeface="Montserrat"/>
              </a:rPr>
              <a:t>a respuesta del circuito ocurre casi de inmediato tras la entrada de datos, aunque con un breve retardo debido a la propagación de señales.</a:t>
            </a:r>
            <a:endParaRPr b="0" i="0" sz="1400" u="none" cap="none" strike="noStrike">
              <a:solidFill>
                <a:srgbClr val="000000"/>
              </a:solidFill>
              <a:latin typeface="Arial"/>
              <a:ea typeface="Arial"/>
              <a:cs typeface="Arial"/>
              <a:sym typeface="Arial"/>
            </a:endParaRPr>
          </a:p>
          <a:p>
            <a:pPr indent="0" lvl="0" marL="0" marR="0" rtl="0" algn="l">
              <a:lnSpc>
                <a:spcPct val="131011"/>
              </a:lnSpc>
              <a:spcBef>
                <a:spcPts val="0"/>
              </a:spcBef>
              <a:spcAft>
                <a:spcPts val="0"/>
              </a:spcAft>
              <a:buClr>
                <a:srgbClr val="000000"/>
              </a:buClr>
              <a:buSzPts val="2599"/>
              <a:buFont typeface="Arial"/>
              <a:buNone/>
            </a:pPr>
            <a:r>
              <a:t/>
            </a:r>
            <a:endParaRPr b="0" i="0" sz="2599" u="none" cap="none" strike="noStrike">
              <a:solidFill>
                <a:srgbClr val="000000"/>
              </a:solidFill>
              <a:latin typeface="Montserrat"/>
              <a:ea typeface="Montserrat"/>
              <a:cs typeface="Montserrat"/>
              <a:sym typeface="Montserrat"/>
            </a:endParaRPr>
          </a:p>
        </p:txBody>
      </p:sp>
      <p:sp>
        <p:nvSpPr>
          <p:cNvPr id="119" name="Google Shape;119;p2"/>
          <p:cNvSpPr txBox="1"/>
          <p:nvPr/>
        </p:nvSpPr>
        <p:spPr>
          <a:xfrm>
            <a:off x="1028700" y="1066763"/>
            <a:ext cx="16028025"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¿QUE ES LA LOGICA COMBINACIONAL?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grpSp>
        <p:nvGrpSpPr>
          <p:cNvPr id="128" name="Google Shape;128;p3"/>
          <p:cNvGrpSpPr/>
          <p:nvPr/>
        </p:nvGrpSpPr>
        <p:grpSpPr>
          <a:xfrm>
            <a:off x="0" y="-253157"/>
            <a:ext cx="18288000" cy="2841699"/>
            <a:chOff x="0" y="-66675"/>
            <a:chExt cx="4816593" cy="748431"/>
          </a:xfrm>
        </p:grpSpPr>
        <p:sp>
          <p:nvSpPr>
            <p:cNvPr id="129" name="Google Shape;129;p3"/>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30" name="Google Shape;130;p3"/>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1" name="Google Shape;131;p3"/>
          <p:cNvSpPr txBox="1"/>
          <p:nvPr/>
        </p:nvSpPr>
        <p:spPr>
          <a:xfrm>
            <a:off x="1028700" y="2904907"/>
            <a:ext cx="16028025" cy="5993003"/>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Clr>
                <a:srgbClr val="000000"/>
              </a:buClr>
              <a:buSzPts val="2599"/>
              <a:buFont typeface="Arial"/>
              <a:buNone/>
            </a:pPr>
            <a:r>
              <a:rPr b="0" i="0" lang="en-US" sz="2599" u="none" cap="none" strike="noStrike">
                <a:solidFill>
                  <a:srgbClr val="000000"/>
                </a:solidFill>
                <a:latin typeface="Montserrat"/>
                <a:ea typeface="Montserrat"/>
                <a:cs typeface="Montserrat"/>
                <a:sym typeface="Montserrat"/>
              </a:rPr>
              <a:t>Principios de Funcionamiento:</a:t>
            </a:r>
            <a:endParaRPr b="0" i="0" sz="1400" u="none" cap="none" strike="noStrike">
              <a:solidFill>
                <a:srgbClr val="000000"/>
              </a:solidFill>
              <a:latin typeface="Arial"/>
              <a:ea typeface="Arial"/>
              <a:cs typeface="Arial"/>
              <a:sym typeface="Arial"/>
            </a:endParaRPr>
          </a:p>
          <a:p>
            <a:pPr indent="0" lvl="0" marL="0" marR="0" rtl="0" algn="l">
              <a:lnSpc>
                <a:spcPct val="131011"/>
              </a:lnSpc>
              <a:spcBef>
                <a:spcPts val="0"/>
              </a:spcBef>
              <a:spcAft>
                <a:spcPts val="0"/>
              </a:spcAft>
              <a:buClr>
                <a:srgbClr val="000000"/>
              </a:buClr>
              <a:buSzPts val="2599"/>
              <a:buFont typeface="Arial"/>
              <a:buNone/>
            </a:pPr>
            <a:r>
              <a:t/>
            </a:r>
            <a:endParaRPr b="0" i="0" sz="2599" u="none" cap="none" strike="noStrike">
              <a:solidFill>
                <a:srgbClr val="000000"/>
              </a:solidFill>
              <a:latin typeface="Montserrat"/>
              <a:ea typeface="Montserrat"/>
              <a:cs typeface="Montserrat"/>
              <a:sym typeface="Montserrat"/>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Los circuitos combinacionales siguen un diseño matemático basado en álgebra booleana, lo que permite simplificar expresiones lógicas.</a:t>
            </a:r>
            <a:endParaRPr b="0" i="0" sz="1400" u="none" cap="none" strike="noStrike">
              <a:solidFill>
                <a:srgbClr val="000000"/>
              </a:solidFill>
              <a:latin typeface="Arial"/>
              <a:ea typeface="Arial"/>
              <a:cs typeface="Arial"/>
              <a:sym typeface="Arial"/>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La salida se calcula en función de una tabla de verdad que relaciona todas las posibles combinaciones de las entradas con sus salidas correspondientes.</a:t>
            </a:r>
            <a:endParaRPr b="0" i="0" sz="1400" u="none" cap="none" strike="noStrike">
              <a:solidFill>
                <a:srgbClr val="000000"/>
              </a:solidFill>
              <a:latin typeface="Arial"/>
              <a:ea typeface="Arial"/>
              <a:cs typeface="Arial"/>
              <a:sym typeface="Arial"/>
            </a:endParaRPr>
          </a:p>
          <a:p>
            <a:pPr indent="0" lvl="0" marL="0" marR="0" rtl="0" algn="l">
              <a:lnSpc>
                <a:spcPct val="131011"/>
              </a:lnSpc>
              <a:spcBef>
                <a:spcPts val="0"/>
              </a:spcBef>
              <a:spcAft>
                <a:spcPts val="0"/>
              </a:spcAft>
              <a:buClr>
                <a:srgbClr val="000000"/>
              </a:buClr>
              <a:buSzPts val="2599"/>
              <a:buFont typeface="Arial"/>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Clr>
                <a:srgbClr val="000000"/>
              </a:buClr>
              <a:buSzPts val="2599"/>
              <a:buFont typeface="Arial"/>
              <a:buNone/>
            </a:pPr>
            <a:r>
              <a:rPr b="0" i="0" lang="en-US" sz="2599" u="none" cap="none" strike="noStrike">
                <a:solidFill>
                  <a:srgbClr val="000000"/>
                </a:solidFill>
                <a:latin typeface="Montserrat"/>
                <a:ea typeface="Montserrat"/>
                <a:cs typeface="Montserrat"/>
                <a:sym typeface="Montserrat"/>
              </a:rPr>
              <a:t>Aplicaciones en la Vida Real:</a:t>
            </a:r>
            <a:endParaRPr b="0" i="0" sz="1400" u="none" cap="none" strike="noStrike">
              <a:solidFill>
                <a:srgbClr val="000000"/>
              </a:solidFill>
              <a:latin typeface="Arial"/>
              <a:ea typeface="Arial"/>
              <a:cs typeface="Arial"/>
              <a:sym typeface="Arial"/>
            </a:endParaRPr>
          </a:p>
          <a:p>
            <a:pPr indent="0" lvl="0" marL="0" marR="0" rtl="0" algn="l">
              <a:lnSpc>
                <a:spcPct val="131011"/>
              </a:lnSpc>
              <a:spcBef>
                <a:spcPts val="0"/>
              </a:spcBef>
              <a:spcAft>
                <a:spcPts val="0"/>
              </a:spcAft>
              <a:buClr>
                <a:srgbClr val="000000"/>
              </a:buClr>
              <a:buSzPts val="2599"/>
              <a:buFont typeface="Arial"/>
              <a:buNone/>
            </a:pPr>
            <a:r>
              <a:t/>
            </a:r>
            <a:endParaRPr b="0" i="0" sz="2599" u="none" cap="none" strike="noStrike">
              <a:solidFill>
                <a:srgbClr val="000000"/>
              </a:solidFill>
              <a:latin typeface="Montserrat"/>
              <a:ea typeface="Montserrat"/>
              <a:cs typeface="Montserrat"/>
              <a:sym typeface="Montserrat"/>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Sumadores en Computadoras: Los circuitos sumadores realizan operaciones aritméticas fundamentales en procesadores.</a:t>
            </a:r>
            <a:endParaRPr b="0" i="0" sz="1400" u="none" cap="none" strike="noStrike">
              <a:solidFill>
                <a:srgbClr val="000000"/>
              </a:solidFill>
              <a:latin typeface="Arial"/>
              <a:ea typeface="Arial"/>
              <a:cs typeface="Arial"/>
              <a:sym typeface="Arial"/>
            </a:endParaRPr>
          </a:p>
          <a:p>
            <a:pPr indent="-280669" lvl="1" marL="561337" marR="0" rtl="0" algn="l">
              <a:lnSpc>
                <a:spcPct val="131011"/>
              </a:lnSpc>
              <a:spcBef>
                <a:spcPts val="0"/>
              </a:spcBef>
              <a:spcAft>
                <a:spcPts val="0"/>
              </a:spcAft>
              <a:buClr>
                <a:srgbClr val="000000"/>
              </a:buClr>
              <a:buSzPts val="2599"/>
              <a:buFont typeface="Arial"/>
              <a:buChar char="•"/>
            </a:pPr>
            <a:r>
              <a:rPr b="0" i="0" lang="en-US" sz="2599" u="none" cap="none" strike="noStrike">
                <a:solidFill>
                  <a:srgbClr val="000000"/>
                </a:solidFill>
                <a:latin typeface="Montserrat"/>
                <a:ea typeface="Montserrat"/>
                <a:cs typeface="Montserrat"/>
                <a:sym typeface="Montserrat"/>
              </a:rPr>
              <a:t>Codificadores/Decodificadores: Transforman datos entre diferentes formatos en sistemas de comunicación y computación.</a:t>
            </a:r>
            <a:endParaRPr b="0" i="0" sz="1400" u="none" cap="none" strike="noStrike">
              <a:solidFill>
                <a:srgbClr val="000000"/>
              </a:solidFill>
              <a:latin typeface="Arial"/>
              <a:ea typeface="Arial"/>
              <a:cs typeface="Arial"/>
              <a:sym typeface="Arial"/>
            </a:endParaRPr>
          </a:p>
          <a:p>
            <a:pPr indent="0" lvl="0" marL="0" marR="0" rtl="0" algn="l">
              <a:lnSpc>
                <a:spcPct val="131011"/>
              </a:lnSpc>
              <a:spcBef>
                <a:spcPts val="0"/>
              </a:spcBef>
              <a:spcAft>
                <a:spcPts val="0"/>
              </a:spcAft>
              <a:buClr>
                <a:srgbClr val="000000"/>
              </a:buClr>
              <a:buSzPts val="2599"/>
              <a:buFont typeface="Arial"/>
              <a:buNone/>
            </a:pPr>
            <a:r>
              <a:t/>
            </a:r>
            <a:endParaRPr b="0" i="0" sz="2599" u="none" cap="none" strike="noStrike">
              <a:solidFill>
                <a:srgbClr val="000000"/>
              </a:solidFill>
              <a:latin typeface="Montserrat"/>
              <a:ea typeface="Montserrat"/>
              <a:cs typeface="Montserrat"/>
              <a:sym typeface="Montserrat"/>
            </a:endParaRPr>
          </a:p>
        </p:txBody>
      </p:sp>
      <p:sp>
        <p:nvSpPr>
          <p:cNvPr id="132" name="Google Shape;132;p3"/>
          <p:cNvSpPr txBox="1"/>
          <p:nvPr/>
        </p:nvSpPr>
        <p:spPr>
          <a:xfrm>
            <a:off x="1028700" y="1066763"/>
            <a:ext cx="16028025"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LÓGICA COMBINACIONAL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grpSp>
        <p:nvGrpSpPr>
          <p:cNvPr id="141" name="Google Shape;141;p4"/>
          <p:cNvGrpSpPr/>
          <p:nvPr/>
        </p:nvGrpSpPr>
        <p:grpSpPr>
          <a:xfrm>
            <a:off x="0" y="-253157"/>
            <a:ext cx="18288000" cy="2841699"/>
            <a:chOff x="0" y="-66675"/>
            <a:chExt cx="4816593" cy="748431"/>
          </a:xfrm>
        </p:grpSpPr>
        <p:sp>
          <p:nvSpPr>
            <p:cNvPr id="142" name="Google Shape;142;p4"/>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43" name="Google Shape;143;p4"/>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4" name="Google Shape;144;p4"/>
          <p:cNvSpPr txBox="1"/>
          <p:nvPr/>
        </p:nvSpPr>
        <p:spPr>
          <a:xfrm>
            <a:off x="1028700" y="2904907"/>
            <a:ext cx="16028100" cy="7737600"/>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Clr>
                <a:srgbClr val="000000"/>
              </a:buClr>
              <a:buSzPts val="2599"/>
              <a:buFont typeface="Arial"/>
              <a:buNone/>
            </a:pPr>
            <a:r>
              <a:rPr b="0" i="0" lang="en-US" sz="2599" u="none" cap="none" strike="noStrike">
                <a:solidFill>
                  <a:srgbClr val="000000"/>
                </a:solidFill>
                <a:latin typeface="Montserrat"/>
                <a:ea typeface="Montserrat"/>
                <a:cs typeface="Montserrat"/>
                <a:sym typeface="Montserrat"/>
              </a:rPr>
              <a:t>Convertir 1101(gray)</a:t>
            </a:r>
            <a:endParaRPr b="0" i="0" sz="1400" u="none" cap="none" strike="noStrike">
              <a:solidFill>
                <a:srgbClr val="000000"/>
              </a:solidFill>
              <a:latin typeface="Arial"/>
              <a:ea typeface="Arial"/>
              <a:cs typeface="Arial"/>
              <a:sym typeface="Arial"/>
            </a:endParaRPr>
          </a:p>
          <a:p>
            <a:pPr indent="0" lvl="0" marL="0" marR="0" rtl="0" algn="l">
              <a:lnSpc>
                <a:spcPct val="131011"/>
              </a:lnSpc>
              <a:spcBef>
                <a:spcPts val="0"/>
              </a:spcBef>
              <a:spcAft>
                <a:spcPts val="0"/>
              </a:spcAft>
              <a:buClr>
                <a:srgbClr val="000000"/>
              </a:buClr>
              <a:buSzPts val="2599"/>
              <a:buFont typeface="Arial"/>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Clr>
                <a:srgbClr val="000000"/>
              </a:buClr>
              <a:buSzPts val="2599"/>
              <a:buFont typeface="Arial"/>
              <a:buNone/>
            </a:pPr>
            <a:r>
              <a:rPr b="0" i="0" lang="en-US" sz="2599" u="none" cap="none" strike="noStrike">
                <a:solidFill>
                  <a:srgbClr val="000000"/>
                </a:solidFill>
                <a:latin typeface="Montserrat"/>
                <a:ea typeface="Montserrat"/>
                <a:cs typeface="Montserrat"/>
                <a:sym typeface="Montserrat"/>
              </a:rPr>
              <a:t>Se </a:t>
            </a:r>
            <a:r>
              <a:rPr lang="en-US" sz="2599">
                <a:latin typeface="Montserrat"/>
                <a:ea typeface="Montserrat"/>
                <a:cs typeface="Montserrat"/>
                <a:sym typeface="Montserrat"/>
              </a:rPr>
              <a:t>toma</a:t>
            </a:r>
            <a:r>
              <a:rPr b="0" i="0" lang="en-US" sz="2599" u="none" cap="none" strike="noStrike">
                <a:solidFill>
                  <a:srgbClr val="000000"/>
                </a:solidFill>
                <a:latin typeface="Montserrat"/>
                <a:ea typeface="Montserrat"/>
                <a:cs typeface="Montserrat"/>
                <a:sym typeface="Montserrat"/>
              </a:rPr>
              <a:t> el número más ponderado y se copia como el más ponderado de la conversión:</a:t>
            </a:r>
            <a:endParaRPr b="0" i="0" sz="1400" u="none" cap="none" strike="noStrike">
              <a:solidFill>
                <a:srgbClr val="000000"/>
              </a:solidFill>
              <a:latin typeface="Arial"/>
              <a:ea typeface="Arial"/>
              <a:cs typeface="Arial"/>
              <a:sym typeface="Arial"/>
            </a:endParaRPr>
          </a:p>
          <a:p>
            <a:pPr indent="0" lvl="0" marL="0" marR="0" rtl="0" algn="l">
              <a:lnSpc>
                <a:spcPct val="131011"/>
              </a:lnSpc>
              <a:spcBef>
                <a:spcPts val="0"/>
              </a:spcBef>
              <a:spcAft>
                <a:spcPts val="0"/>
              </a:spcAft>
              <a:buClr>
                <a:srgbClr val="000000"/>
              </a:buClr>
              <a:buSzPts val="2599"/>
              <a:buFont typeface="Arial"/>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Clr>
                <a:srgbClr val="000000"/>
              </a:buClr>
              <a:buSzPts val="2599"/>
              <a:buFont typeface="Arial"/>
              <a:buNone/>
            </a:pPr>
            <a:r>
              <a:rPr b="0" i="0" lang="en-US" sz="2599" u="none" cap="none" strike="noStrike">
                <a:solidFill>
                  <a:srgbClr val="000000"/>
                </a:solidFill>
                <a:latin typeface="Montserrat"/>
                <a:ea typeface="Montserrat"/>
                <a:cs typeface="Montserrat"/>
                <a:sym typeface="Montserrat"/>
              </a:rPr>
              <a:t>(1)101 -&gt; [1]____</a:t>
            </a:r>
            <a:endParaRPr b="0" i="0" sz="1400" u="none" cap="none" strike="noStrike">
              <a:solidFill>
                <a:srgbClr val="000000"/>
              </a:solidFill>
              <a:latin typeface="Arial"/>
              <a:ea typeface="Arial"/>
              <a:cs typeface="Arial"/>
              <a:sym typeface="Arial"/>
            </a:endParaRPr>
          </a:p>
          <a:p>
            <a:pPr indent="0" lvl="0" marL="0" marR="0" rtl="0" algn="l">
              <a:lnSpc>
                <a:spcPct val="131011"/>
              </a:lnSpc>
              <a:spcBef>
                <a:spcPts val="0"/>
              </a:spcBef>
              <a:spcAft>
                <a:spcPts val="0"/>
              </a:spcAft>
              <a:buClr>
                <a:srgbClr val="000000"/>
              </a:buClr>
              <a:buSzPts val="2599"/>
              <a:buFont typeface="Arial"/>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Clr>
                <a:srgbClr val="000000"/>
              </a:buClr>
              <a:buSzPts val="2599"/>
              <a:buFont typeface="Arial"/>
              <a:buNone/>
            </a:pPr>
            <a:r>
              <a:rPr b="0" i="0" lang="en-US" sz="2599" u="none" cap="none" strike="noStrike">
                <a:solidFill>
                  <a:srgbClr val="000000"/>
                </a:solidFill>
                <a:latin typeface="Montserrat"/>
                <a:ea typeface="Montserrat"/>
                <a:cs typeface="Montserrat"/>
                <a:sym typeface="Montserrat"/>
              </a:rPr>
              <a:t>Luego hacer la xor del número que le sigue con el número menos ponderado del nuevo número.</a:t>
            </a:r>
            <a:endParaRPr b="0" i="0" sz="1400" u="none" cap="none" strike="noStrike">
              <a:solidFill>
                <a:srgbClr val="000000"/>
              </a:solidFill>
              <a:latin typeface="Arial"/>
              <a:ea typeface="Arial"/>
              <a:cs typeface="Arial"/>
              <a:sym typeface="Arial"/>
            </a:endParaRPr>
          </a:p>
          <a:p>
            <a:pPr indent="0" lvl="0" marL="0" marR="0" rtl="0" algn="l">
              <a:lnSpc>
                <a:spcPct val="131011"/>
              </a:lnSpc>
              <a:spcBef>
                <a:spcPts val="0"/>
              </a:spcBef>
              <a:spcAft>
                <a:spcPts val="0"/>
              </a:spcAft>
              <a:buClr>
                <a:srgbClr val="000000"/>
              </a:buClr>
              <a:buSzPts val="2599"/>
              <a:buFont typeface="Arial"/>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Clr>
                <a:srgbClr val="000000"/>
              </a:buClr>
              <a:buSzPts val="2599"/>
              <a:buFont typeface="Arial"/>
              <a:buNone/>
            </a:pPr>
            <a:r>
              <a:rPr b="0" i="0" lang="en-US" sz="2599" u="none" cap="none" strike="noStrike">
                <a:solidFill>
                  <a:srgbClr val="000000"/>
                </a:solidFill>
                <a:latin typeface="Montserrat"/>
                <a:ea typeface="Montserrat"/>
                <a:cs typeface="Montserrat"/>
                <a:sym typeface="Montserrat"/>
              </a:rPr>
              <a:t>1(1)01 -&gt; (1)[0]</a:t>
            </a:r>
            <a:endParaRPr b="0" i="0" sz="1400" u="none" cap="none" strike="noStrike">
              <a:solidFill>
                <a:srgbClr val="000000"/>
              </a:solidFill>
              <a:latin typeface="Arial"/>
              <a:ea typeface="Arial"/>
              <a:cs typeface="Arial"/>
              <a:sym typeface="Arial"/>
            </a:endParaRPr>
          </a:p>
          <a:p>
            <a:pPr indent="0" lvl="0" marL="0" marR="0" rtl="0" algn="l">
              <a:lnSpc>
                <a:spcPct val="131011"/>
              </a:lnSpc>
              <a:spcBef>
                <a:spcPts val="0"/>
              </a:spcBef>
              <a:spcAft>
                <a:spcPts val="0"/>
              </a:spcAft>
              <a:buClr>
                <a:srgbClr val="000000"/>
              </a:buClr>
              <a:buSzPts val="2599"/>
              <a:buFont typeface="Arial"/>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Clr>
                <a:srgbClr val="000000"/>
              </a:buClr>
              <a:buSzPts val="2599"/>
              <a:buFont typeface="Arial"/>
              <a:buNone/>
            </a:pPr>
            <a:r>
              <a:rPr b="0" i="0" lang="en-US" sz="2599" u="none" cap="none" strike="noStrike">
                <a:solidFill>
                  <a:srgbClr val="000000"/>
                </a:solidFill>
                <a:latin typeface="Montserrat"/>
                <a:ea typeface="Montserrat"/>
                <a:cs typeface="Montserrat"/>
                <a:sym typeface="Montserrat"/>
              </a:rPr>
              <a:t>11(0)1-&gt; 1(0)[0]</a:t>
            </a:r>
            <a:endParaRPr b="0" i="0" sz="1400" u="none" cap="none" strike="noStrike">
              <a:solidFill>
                <a:srgbClr val="000000"/>
              </a:solidFill>
              <a:latin typeface="Arial"/>
              <a:ea typeface="Arial"/>
              <a:cs typeface="Arial"/>
              <a:sym typeface="Arial"/>
            </a:endParaRPr>
          </a:p>
          <a:p>
            <a:pPr indent="0" lvl="0" marL="0" marR="0" rtl="0" algn="l">
              <a:lnSpc>
                <a:spcPct val="131011"/>
              </a:lnSpc>
              <a:spcBef>
                <a:spcPts val="0"/>
              </a:spcBef>
              <a:spcAft>
                <a:spcPts val="0"/>
              </a:spcAft>
              <a:buClr>
                <a:srgbClr val="000000"/>
              </a:buClr>
              <a:buSzPts val="2599"/>
              <a:buFont typeface="Arial"/>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Clr>
                <a:srgbClr val="000000"/>
              </a:buClr>
              <a:buSzPts val="2599"/>
              <a:buFont typeface="Arial"/>
              <a:buNone/>
            </a:pPr>
            <a:r>
              <a:rPr b="0" i="0" lang="en-US" sz="2599" u="none" cap="none" strike="noStrike">
                <a:solidFill>
                  <a:srgbClr val="000000"/>
                </a:solidFill>
                <a:latin typeface="Montserrat"/>
                <a:ea typeface="Montserrat"/>
                <a:cs typeface="Montserrat"/>
                <a:sym typeface="Montserrat"/>
              </a:rPr>
              <a:t>110(1) -&gt; 10(0)[1]</a:t>
            </a:r>
            <a:endParaRPr b="0" i="0" sz="1400" u="none" cap="none" strike="noStrike">
              <a:solidFill>
                <a:srgbClr val="000000"/>
              </a:solidFill>
              <a:latin typeface="Arial"/>
              <a:ea typeface="Arial"/>
              <a:cs typeface="Arial"/>
              <a:sym typeface="Arial"/>
            </a:endParaRPr>
          </a:p>
          <a:p>
            <a:pPr indent="0" lvl="0" marL="0" marR="0" rtl="0" algn="l">
              <a:lnSpc>
                <a:spcPct val="131011"/>
              </a:lnSpc>
              <a:spcBef>
                <a:spcPts val="0"/>
              </a:spcBef>
              <a:spcAft>
                <a:spcPts val="0"/>
              </a:spcAft>
              <a:buClr>
                <a:srgbClr val="000000"/>
              </a:buClr>
              <a:buSzPts val="2599"/>
              <a:buFont typeface="Arial"/>
              <a:buNone/>
            </a:pPr>
            <a:r>
              <a:t/>
            </a:r>
            <a:endParaRPr b="0" i="0" sz="25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Clr>
                <a:srgbClr val="000000"/>
              </a:buClr>
              <a:buSzPts val="2599"/>
              <a:buFont typeface="Arial"/>
              <a:buNone/>
            </a:pPr>
            <a:r>
              <a:rPr b="0" i="0" lang="en-US" sz="2599" u="none" cap="none" strike="noStrike">
                <a:solidFill>
                  <a:srgbClr val="000000"/>
                </a:solidFill>
                <a:latin typeface="Montserrat"/>
                <a:ea typeface="Montserrat"/>
                <a:cs typeface="Montserrat"/>
                <a:sym typeface="Montserrat"/>
              </a:rPr>
              <a:t>Resultado: 1001</a:t>
            </a:r>
            <a:endParaRPr b="0" i="0" sz="1400" u="none" cap="none" strike="noStrike">
              <a:solidFill>
                <a:srgbClr val="000000"/>
              </a:solidFill>
              <a:latin typeface="Arial"/>
              <a:ea typeface="Arial"/>
              <a:cs typeface="Arial"/>
              <a:sym typeface="Arial"/>
            </a:endParaRPr>
          </a:p>
        </p:txBody>
      </p:sp>
      <p:sp>
        <p:nvSpPr>
          <p:cNvPr id="145" name="Google Shape;145;p4"/>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GRAY A BINARIO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grpSp>
        <p:nvGrpSpPr>
          <p:cNvPr id="154" name="Google Shape;154;p5"/>
          <p:cNvGrpSpPr/>
          <p:nvPr/>
        </p:nvGrpSpPr>
        <p:grpSpPr>
          <a:xfrm>
            <a:off x="0" y="-253157"/>
            <a:ext cx="18288000" cy="2841699"/>
            <a:chOff x="0" y="-66675"/>
            <a:chExt cx="4816593" cy="748431"/>
          </a:xfrm>
        </p:grpSpPr>
        <p:sp>
          <p:nvSpPr>
            <p:cNvPr id="155" name="Google Shape;155;p5"/>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56" name="Google Shape;156;p5"/>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7" name="Google Shape;157;p5"/>
          <p:cNvSpPr/>
          <p:nvPr/>
        </p:nvSpPr>
        <p:spPr>
          <a:xfrm>
            <a:off x="1350010" y="4097311"/>
            <a:ext cx="5952594" cy="4935056"/>
          </a:xfrm>
          <a:custGeom>
            <a:rect b="b" l="l" r="r" t="t"/>
            <a:pathLst>
              <a:path extrusionOk="0" h="4935056" w="5952594">
                <a:moveTo>
                  <a:pt x="0" y="0"/>
                </a:moveTo>
                <a:lnTo>
                  <a:pt x="5952594" y="0"/>
                </a:lnTo>
                <a:lnTo>
                  <a:pt x="5952594" y="4935056"/>
                </a:lnTo>
                <a:lnTo>
                  <a:pt x="0" y="4935056"/>
                </a:lnTo>
                <a:lnTo>
                  <a:pt x="0" y="0"/>
                </a:lnTo>
                <a:close/>
              </a:path>
            </a:pathLst>
          </a:custGeom>
          <a:blipFill rotWithShape="1">
            <a:blip r:embed="rId3">
              <a:alphaModFix/>
            </a:blip>
            <a:stretch>
              <a:fillRect b="0" l="0" r="0" t="0"/>
            </a:stretch>
          </a:blipFill>
          <a:ln>
            <a:noFill/>
          </a:ln>
        </p:spPr>
      </p:sp>
      <p:sp>
        <p:nvSpPr>
          <p:cNvPr id="158" name="Google Shape;158;p5"/>
          <p:cNvSpPr/>
          <p:nvPr/>
        </p:nvSpPr>
        <p:spPr>
          <a:xfrm>
            <a:off x="9846049" y="3754411"/>
            <a:ext cx="5015849" cy="5183666"/>
          </a:xfrm>
          <a:custGeom>
            <a:rect b="b" l="l" r="r" t="t"/>
            <a:pathLst>
              <a:path extrusionOk="0" h="5183666" w="5015849">
                <a:moveTo>
                  <a:pt x="0" y="0"/>
                </a:moveTo>
                <a:lnTo>
                  <a:pt x="5015849" y="0"/>
                </a:lnTo>
                <a:lnTo>
                  <a:pt x="5015849" y="5183665"/>
                </a:lnTo>
                <a:lnTo>
                  <a:pt x="0" y="5183665"/>
                </a:lnTo>
                <a:lnTo>
                  <a:pt x="0" y="0"/>
                </a:lnTo>
                <a:close/>
              </a:path>
            </a:pathLst>
          </a:custGeom>
          <a:blipFill rotWithShape="1">
            <a:blip r:embed="rId4">
              <a:alphaModFix/>
            </a:blip>
            <a:stretch>
              <a:fillRect b="0" l="0" r="0" t="0"/>
            </a:stretch>
          </a:blipFill>
          <a:ln>
            <a:noFill/>
          </a:ln>
        </p:spPr>
      </p:sp>
      <p:sp>
        <p:nvSpPr>
          <p:cNvPr id="159" name="Google Shape;159;p5"/>
          <p:cNvSpPr txBox="1"/>
          <p:nvPr/>
        </p:nvSpPr>
        <p:spPr>
          <a:xfrm>
            <a:off x="1028700" y="2904907"/>
            <a:ext cx="16028025" cy="849503"/>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Clr>
                <a:srgbClr val="000000"/>
              </a:buClr>
              <a:buSzPts val="2599"/>
              <a:buFont typeface="Arial"/>
              <a:buNone/>
            </a:pPr>
            <a:r>
              <a:rPr b="0" i="0" lang="en-US" sz="2599" u="none" cap="none" strike="noStrike">
                <a:solidFill>
                  <a:srgbClr val="000000"/>
                </a:solidFill>
                <a:latin typeface="Montserrat"/>
                <a:ea typeface="Montserrat"/>
                <a:cs typeface="Montserrat"/>
                <a:sym typeface="Montserrat"/>
              </a:rPr>
              <a:t>Es un dispositivo capaz de comparar dos señales de entrada y variar la salida de cual es el mayor</a:t>
            </a:r>
            <a:endParaRPr b="0" i="0" sz="1400" u="none" cap="none" strike="noStrike">
              <a:solidFill>
                <a:srgbClr val="000000"/>
              </a:solidFill>
              <a:latin typeface="Arial"/>
              <a:ea typeface="Arial"/>
              <a:cs typeface="Arial"/>
              <a:sym typeface="Arial"/>
            </a:endParaRPr>
          </a:p>
        </p:txBody>
      </p:sp>
      <p:sp>
        <p:nvSpPr>
          <p:cNvPr id="160" name="Google Shape;160;p5"/>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COMPARADORES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grpSp>
        <p:nvGrpSpPr>
          <p:cNvPr id="169" name="Google Shape;169;p6"/>
          <p:cNvGrpSpPr/>
          <p:nvPr/>
        </p:nvGrpSpPr>
        <p:grpSpPr>
          <a:xfrm>
            <a:off x="0" y="-253157"/>
            <a:ext cx="18288000" cy="2841699"/>
            <a:chOff x="0" y="-66675"/>
            <a:chExt cx="4816593" cy="748431"/>
          </a:xfrm>
        </p:grpSpPr>
        <p:sp>
          <p:nvSpPr>
            <p:cNvPr id="170" name="Google Shape;170;p6"/>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71" name="Google Shape;171;p6"/>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2" name="Google Shape;172;p6"/>
          <p:cNvSpPr/>
          <p:nvPr/>
        </p:nvSpPr>
        <p:spPr>
          <a:xfrm>
            <a:off x="1683160" y="4449736"/>
            <a:ext cx="6267235" cy="4042060"/>
          </a:xfrm>
          <a:custGeom>
            <a:rect b="b" l="l" r="r" t="t"/>
            <a:pathLst>
              <a:path extrusionOk="0" h="4042060" w="6267235">
                <a:moveTo>
                  <a:pt x="0" y="0"/>
                </a:moveTo>
                <a:lnTo>
                  <a:pt x="6267235" y="0"/>
                </a:lnTo>
                <a:lnTo>
                  <a:pt x="6267235" y="4042060"/>
                </a:lnTo>
                <a:lnTo>
                  <a:pt x="0" y="4042060"/>
                </a:lnTo>
                <a:lnTo>
                  <a:pt x="0" y="0"/>
                </a:lnTo>
                <a:close/>
              </a:path>
            </a:pathLst>
          </a:custGeom>
          <a:blipFill rotWithShape="1">
            <a:blip r:embed="rId3">
              <a:alphaModFix/>
            </a:blip>
            <a:stretch>
              <a:fillRect b="0" l="0" r="0" t="0"/>
            </a:stretch>
          </a:blipFill>
          <a:ln>
            <a:noFill/>
          </a:ln>
        </p:spPr>
      </p:sp>
      <p:sp>
        <p:nvSpPr>
          <p:cNvPr id="173" name="Google Shape;173;p6"/>
          <p:cNvSpPr/>
          <p:nvPr/>
        </p:nvSpPr>
        <p:spPr>
          <a:xfrm>
            <a:off x="9400209" y="3849473"/>
            <a:ext cx="7171297" cy="5242586"/>
          </a:xfrm>
          <a:custGeom>
            <a:rect b="b" l="l" r="r" t="t"/>
            <a:pathLst>
              <a:path extrusionOk="0" h="5242586" w="7171297">
                <a:moveTo>
                  <a:pt x="0" y="0"/>
                </a:moveTo>
                <a:lnTo>
                  <a:pt x="7171297" y="0"/>
                </a:lnTo>
                <a:lnTo>
                  <a:pt x="7171297" y="5242586"/>
                </a:lnTo>
                <a:lnTo>
                  <a:pt x="0" y="5242586"/>
                </a:lnTo>
                <a:lnTo>
                  <a:pt x="0" y="0"/>
                </a:lnTo>
                <a:close/>
              </a:path>
            </a:pathLst>
          </a:custGeom>
          <a:blipFill rotWithShape="1">
            <a:blip r:embed="rId4">
              <a:alphaModFix/>
            </a:blip>
            <a:stretch>
              <a:fillRect b="0" l="0" r="0" t="0"/>
            </a:stretch>
          </a:blipFill>
          <a:ln>
            <a:noFill/>
          </a:ln>
        </p:spPr>
      </p:sp>
      <p:sp>
        <p:nvSpPr>
          <p:cNvPr id="174" name="Google Shape;174;p6"/>
          <p:cNvSpPr txBox="1"/>
          <p:nvPr/>
        </p:nvSpPr>
        <p:spPr>
          <a:xfrm>
            <a:off x="1028700" y="2904907"/>
            <a:ext cx="16028025" cy="849503"/>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Clr>
                <a:srgbClr val="000000"/>
              </a:buClr>
              <a:buSzPts val="2599"/>
              <a:buFont typeface="Arial"/>
              <a:buNone/>
            </a:pPr>
            <a:r>
              <a:rPr b="0" i="0" lang="en-US" sz="2599" u="none" cap="none" strike="noStrike">
                <a:solidFill>
                  <a:srgbClr val="000000"/>
                </a:solidFill>
                <a:latin typeface="Montserrat"/>
                <a:ea typeface="Montserrat"/>
                <a:cs typeface="Montserrat"/>
                <a:sym typeface="Montserrat"/>
              </a:rPr>
              <a:t>Es un circuito combinacional con 2N entradas y N salidas, cuya misión es presentar en la salida el código binario correspondiente a la entrada activada.</a:t>
            </a:r>
            <a:endParaRPr b="0" i="0" sz="1400" u="none" cap="none" strike="noStrike">
              <a:solidFill>
                <a:srgbClr val="000000"/>
              </a:solidFill>
              <a:latin typeface="Arial"/>
              <a:ea typeface="Arial"/>
              <a:cs typeface="Arial"/>
              <a:sym typeface="Arial"/>
            </a:endParaRPr>
          </a:p>
        </p:txBody>
      </p:sp>
      <p:sp>
        <p:nvSpPr>
          <p:cNvPr id="175" name="Google Shape;175;p6"/>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CODIFICADOR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grpSp>
        <p:nvGrpSpPr>
          <p:cNvPr id="184" name="Google Shape;184;p7"/>
          <p:cNvGrpSpPr/>
          <p:nvPr/>
        </p:nvGrpSpPr>
        <p:grpSpPr>
          <a:xfrm>
            <a:off x="0" y="-253157"/>
            <a:ext cx="18288000" cy="2841699"/>
            <a:chOff x="0" y="-66675"/>
            <a:chExt cx="4816593" cy="748431"/>
          </a:xfrm>
        </p:grpSpPr>
        <p:sp>
          <p:nvSpPr>
            <p:cNvPr id="185" name="Google Shape;185;p7"/>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86" name="Google Shape;186;p7"/>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7" name="Google Shape;187;p7"/>
          <p:cNvSpPr/>
          <p:nvPr/>
        </p:nvSpPr>
        <p:spPr>
          <a:xfrm>
            <a:off x="1626666" y="5811811"/>
            <a:ext cx="7416047" cy="4051234"/>
          </a:xfrm>
          <a:custGeom>
            <a:rect b="b" l="l" r="r" t="t"/>
            <a:pathLst>
              <a:path extrusionOk="0" h="4051234" w="7416047">
                <a:moveTo>
                  <a:pt x="0" y="0"/>
                </a:moveTo>
                <a:lnTo>
                  <a:pt x="7416047" y="0"/>
                </a:lnTo>
                <a:lnTo>
                  <a:pt x="7416047" y="4051234"/>
                </a:lnTo>
                <a:lnTo>
                  <a:pt x="0" y="4051234"/>
                </a:lnTo>
                <a:lnTo>
                  <a:pt x="0" y="0"/>
                </a:lnTo>
                <a:close/>
              </a:path>
            </a:pathLst>
          </a:custGeom>
          <a:blipFill rotWithShape="1">
            <a:blip r:embed="rId3">
              <a:alphaModFix/>
            </a:blip>
            <a:stretch>
              <a:fillRect b="0" l="0" r="0" t="0"/>
            </a:stretch>
          </a:blipFill>
          <a:ln>
            <a:noFill/>
          </a:ln>
        </p:spPr>
      </p:sp>
      <p:sp>
        <p:nvSpPr>
          <p:cNvPr id="188" name="Google Shape;188;p7"/>
          <p:cNvSpPr/>
          <p:nvPr/>
        </p:nvSpPr>
        <p:spPr>
          <a:xfrm>
            <a:off x="11491297" y="5267796"/>
            <a:ext cx="5282540" cy="4719328"/>
          </a:xfrm>
          <a:custGeom>
            <a:rect b="b" l="l" r="r" t="t"/>
            <a:pathLst>
              <a:path extrusionOk="0" h="4719328" w="5282540">
                <a:moveTo>
                  <a:pt x="0" y="0"/>
                </a:moveTo>
                <a:lnTo>
                  <a:pt x="5282539" y="0"/>
                </a:lnTo>
                <a:lnTo>
                  <a:pt x="5282539" y="4719328"/>
                </a:lnTo>
                <a:lnTo>
                  <a:pt x="0" y="4719328"/>
                </a:lnTo>
                <a:lnTo>
                  <a:pt x="0" y="0"/>
                </a:lnTo>
                <a:close/>
              </a:path>
            </a:pathLst>
          </a:custGeom>
          <a:blipFill rotWithShape="1">
            <a:blip r:embed="rId4">
              <a:alphaModFix/>
            </a:blip>
            <a:stretch>
              <a:fillRect b="0" l="0" r="0" t="0"/>
            </a:stretch>
          </a:blipFill>
          <a:ln>
            <a:noFill/>
          </a:ln>
        </p:spPr>
      </p:sp>
      <p:sp>
        <p:nvSpPr>
          <p:cNvPr id="189" name="Google Shape;189;p7"/>
          <p:cNvSpPr txBox="1"/>
          <p:nvPr/>
        </p:nvSpPr>
        <p:spPr>
          <a:xfrm>
            <a:off x="1028700" y="2904907"/>
            <a:ext cx="16028025" cy="2564003"/>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Clr>
                <a:srgbClr val="000000"/>
              </a:buClr>
              <a:buSzPts val="2599"/>
              <a:buFont typeface="Arial"/>
              <a:buNone/>
            </a:pPr>
            <a:r>
              <a:rPr b="0" i="0" lang="en-US" sz="2599" u="none" cap="none" strike="noStrike">
                <a:solidFill>
                  <a:srgbClr val="000000"/>
                </a:solidFill>
                <a:latin typeface="Montserrat"/>
                <a:ea typeface="Montserrat"/>
                <a:cs typeface="Montserrat"/>
                <a:sym typeface="Montserrat"/>
              </a:rPr>
              <a:t>Es un circuito combinacional, cuya función es inversa a la del codificador, es decir, convierte un código binario (natural, BCD, etc.) de N bits de entrada y M líneas de salida (N puede se cualquier entero y M es un entero menor o igual a 2N), tales que cada línea de salida será activada para una sola de las combinaciones posibles de entrada. Normalmente, estos circuitos suelen encontrarse como decodificador / demultiplexor. Esto es debido a que un demultiplexor puede comportarse como un decodificador.</a:t>
            </a:r>
            <a:endParaRPr b="0" i="0" sz="1400" u="none" cap="none" strike="noStrike">
              <a:solidFill>
                <a:srgbClr val="000000"/>
              </a:solidFill>
              <a:latin typeface="Arial"/>
              <a:ea typeface="Arial"/>
              <a:cs typeface="Arial"/>
              <a:sym typeface="Arial"/>
            </a:endParaRPr>
          </a:p>
        </p:txBody>
      </p:sp>
      <p:sp>
        <p:nvSpPr>
          <p:cNvPr id="190" name="Google Shape;190;p7"/>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DECODIFICADOR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grpSp>
        <p:nvGrpSpPr>
          <p:cNvPr id="199" name="Google Shape;199;p8"/>
          <p:cNvGrpSpPr/>
          <p:nvPr/>
        </p:nvGrpSpPr>
        <p:grpSpPr>
          <a:xfrm>
            <a:off x="0" y="-253157"/>
            <a:ext cx="18288000" cy="2841699"/>
            <a:chOff x="0" y="-66675"/>
            <a:chExt cx="4816593" cy="748431"/>
          </a:xfrm>
        </p:grpSpPr>
        <p:sp>
          <p:nvSpPr>
            <p:cNvPr id="200" name="Google Shape;200;p8"/>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01" name="Google Shape;201;p8"/>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2" name="Google Shape;202;p8"/>
          <p:cNvSpPr/>
          <p:nvPr/>
        </p:nvSpPr>
        <p:spPr>
          <a:xfrm>
            <a:off x="2093597" y="4525936"/>
            <a:ext cx="5968482" cy="5161930"/>
          </a:xfrm>
          <a:custGeom>
            <a:rect b="b" l="l" r="r" t="t"/>
            <a:pathLst>
              <a:path extrusionOk="0" h="5161930" w="5968482">
                <a:moveTo>
                  <a:pt x="0" y="0"/>
                </a:moveTo>
                <a:lnTo>
                  <a:pt x="5968482" y="0"/>
                </a:lnTo>
                <a:lnTo>
                  <a:pt x="5968482" y="5161930"/>
                </a:lnTo>
                <a:lnTo>
                  <a:pt x="0" y="5161930"/>
                </a:lnTo>
                <a:lnTo>
                  <a:pt x="0" y="0"/>
                </a:lnTo>
                <a:close/>
              </a:path>
            </a:pathLst>
          </a:custGeom>
          <a:blipFill rotWithShape="1">
            <a:blip r:embed="rId3">
              <a:alphaModFix/>
            </a:blip>
            <a:stretch>
              <a:fillRect b="0" l="0" r="0" t="0"/>
            </a:stretch>
          </a:blipFill>
          <a:ln>
            <a:noFill/>
          </a:ln>
        </p:spPr>
      </p:sp>
      <p:sp>
        <p:nvSpPr>
          <p:cNvPr id="203" name="Google Shape;203;p8"/>
          <p:cNvSpPr/>
          <p:nvPr/>
        </p:nvSpPr>
        <p:spPr>
          <a:xfrm>
            <a:off x="8518517" y="4878361"/>
            <a:ext cx="8740783" cy="3903802"/>
          </a:xfrm>
          <a:custGeom>
            <a:rect b="b" l="l" r="r" t="t"/>
            <a:pathLst>
              <a:path extrusionOk="0" h="3903802" w="8740783">
                <a:moveTo>
                  <a:pt x="0" y="0"/>
                </a:moveTo>
                <a:lnTo>
                  <a:pt x="8740783" y="0"/>
                </a:lnTo>
                <a:lnTo>
                  <a:pt x="8740783" y="3903801"/>
                </a:lnTo>
                <a:lnTo>
                  <a:pt x="0" y="3903801"/>
                </a:lnTo>
                <a:lnTo>
                  <a:pt x="0" y="0"/>
                </a:lnTo>
                <a:close/>
              </a:path>
            </a:pathLst>
          </a:custGeom>
          <a:blipFill rotWithShape="1">
            <a:blip r:embed="rId4">
              <a:alphaModFix/>
            </a:blip>
            <a:stretch>
              <a:fillRect b="0" l="0" r="0" t="0"/>
            </a:stretch>
          </a:blipFill>
          <a:ln>
            <a:noFill/>
          </a:ln>
        </p:spPr>
      </p:sp>
      <p:sp>
        <p:nvSpPr>
          <p:cNvPr id="204" name="Google Shape;204;p8"/>
          <p:cNvSpPr txBox="1"/>
          <p:nvPr/>
        </p:nvSpPr>
        <p:spPr>
          <a:xfrm>
            <a:off x="1028700" y="2904907"/>
            <a:ext cx="16028025" cy="1278128"/>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Clr>
                <a:srgbClr val="000000"/>
              </a:buClr>
              <a:buSzPts val="2599"/>
              <a:buFont typeface="Arial"/>
              <a:buNone/>
            </a:pPr>
            <a:r>
              <a:rPr b="0" i="0" lang="en-US" sz="2599" u="none" cap="none" strike="noStrike">
                <a:solidFill>
                  <a:srgbClr val="000000"/>
                </a:solidFill>
                <a:latin typeface="Montserrat"/>
                <a:ea typeface="Montserrat"/>
                <a:cs typeface="Montserrat"/>
                <a:sym typeface="Montserrat"/>
              </a:rPr>
              <a:t>Son circuitos combinacionales con varias entradas y una única salida de datos. Están dotados de entradas de control capaces de seleccionar una, y solo una, de las entradas de datos para permitir su transmisión desde la entrada seleccionada hacia dicha salida.</a:t>
            </a:r>
            <a:endParaRPr b="0" i="0" sz="1400" u="none" cap="none" strike="noStrike">
              <a:solidFill>
                <a:srgbClr val="000000"/>
              </a:solidFill>
              <a:latin typeface="Arial"/>
              <a:ea typeface="Arial"/>
              <a:cs typeface="Arial"/>
              <a:sym typeface="Arial"/>
            </a:endParaRPr>
          </a:p>
        </p:txBody>
      </p:sp>
      <p:sp>
        <p:nvSpPr>
          <p:cNvPr id="205" name="Google Shape;205;p8"/>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MULTIPLEXOR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grpSp>
        <p:nvGrpSpPr>
          <p:cNvPr id="214" name="Google Shape;214;p9"/>
          <p:cNvGrpSpPr/>
          <p:nvPr/>
        </p:nvGrpSpPr>
        <p:grpSpPr>
          <a:xfrm>
            <a:off x="0" y="-253157"/>
            <a:ext cx="18288000" cy="2841699"/>
            <a:chOff x="0" y="-66675"/>
            <a:chExt cx="4816593" cy="748431"/>
          </a:xfrm>
        </p:grpSpPr>
        <p:sp>
          <p:nvSpPr>
            <p:cNvPr id="215" name="Google Shape;215;p9"/>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16" name="Google Shape;216;p9"/>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7" name="Google Shape;217;p9"/>
          <p:cNvSpPr/>
          <p:nvPr/>
        </p:nvSpPr>
        <p:spPr>
          <a:xfrm>
            <a:off x="1786940" y="4783111"/>
            <a:ext cx="6157723" cy="5408639"/>
          </a:xfrm>
          <a:custGeom>
            <a:rect b="b" l="l" r="r" t="t"/>
            <a:pathLst>
              <a:path extrusionOk="0" h="5408639" w="6157723">
                <a:moveTo>
                  <a:pt x="0" y="0"/>
                </a:moveTo>
                <a:lnTo>
                  <a:pt x="6157723" y="0"/>
                </a:lnTo>
                <a:lnTo>
                  <a:pt x="6157723" y="5408639"/>
                </a:lnTo>
                <a:lnTo>
                  <a:pt x="0" y="5408639"/>
                </a:lnTo>
                <a:lnTo>
                  <a:pt x="0" y="0"/>
                </a:lnTo>
                <a:close/>
              </a:path>
            </a:pathLst>
          </a:custGeom>
          <a:blipFill rotWithShape="1">
            <a:blip r:embed="rId3">
              <a:alphaModFix/>
            </a:blip>
            <a:stretch>
              <a:fillRect b="0" l="0" r="0" t="0"/>
            </a:stretch>
          </a:blipFill>
          <a:ln>
            <a:noFill/>
          </a:ln>
        </p:spPr>
      </p:sp>
      <p:sp>
        <p:nvSpPr>
          <p:cNvPr id="218" name="Google Shape;218;p9"/>
          <p:cNvSpPr/>
          <p:nvPr/>
        </p:nvSpPr>
        <p:spPr>
          <a:xfrm>
            <a:off x="9168215" y="4937303"/>
            <a:ext cx="8288493" cy="4540091"/>
          </a:xfrm>
          <a:custGeom>
            <a:rect b="b" l="l" r="r" t="t"/>
            <a:pathLst>
              <a:path extrusionOk="0" h="4540091" w="8288493">
                <a:moveTo>
                  <a:pt x="0" y="0"/>
                </a:moveTo>
                <a:lnTo>
                  <a:pt x="8288493" y="0"/>
                </a:lnTo>
                <a:lnTo>
                  <a:pt x="8288493" y="4540091"/>
                </a:lnTo>
                <a:lnTo>
                  <a:pt x="0" y="4540091"/>
                </a:lnTo>
                <a:lnTo>
                  <a:pt x="0" y="0"/>
                </a:lnTo>
                <a:close/>
              </a:path>
            </a:pathLst>
          </a:custGeom>
          <a:blipFill rotWithShape="1">
            <a:blip r:embed="rId4">
              <a:alphaModFix/>
            </a:blip>
            <a:stretch>
              <a:fillRect b="0" l="0" r="0" t="0"/>
            </a:stretch>
          </a:blipFill>
          <a:ln>
            <a:noFill/>
          </a:ln>
        </p:spPr>
      </p:sp>
      <p:sp>
        <p:nvSpPr>
          <p:cNvPr id="219" name="Google Shape;219;p9"/>
          <p:cNvSpPr txBox="1"/>
          <p:nvPr/>
        </p:nvSpPr>
        <p:spPr>
          <a:xfrm>
            <a:off x="1028700" y="2819182"/>
            <a:ext cx="16028025" cy="1706753"/>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Clr>
                <a:srgbClr val="000000"/>
              </a:buClr>
              <a:buSzPts val="2599"/>
              <a:buFont typeface="Arial"/>
              <a:buNone/>
            </a:pPr>
            <a:r>
              <a:rPr b="0" i="0" lang="en-US" sz="2599" u="none" cap="none" strike="noStrike">
                <a:solidFill>
                  <a:srgbClr val="000000"/>
                </a:solidFill>
                <a:latin typeface="Montserrat"/>
                <a:ea typeface="Montserrat"/>
                <a:cs typeface="Montserrat"/>
                <a:sym typeface="Montserrat"/>
              </a:rPr>
              <a:t>Es un circuito combinacional que tiene una entrada de información de datos d y n entradas de control que sirven para seleccionar una de las 2n salidas, por la que ha de salir el dato que presente en la entrada. Esto se consigue aplicando a las entradas de control la combinación binaria correspondiente a la salida que se desea seleccionar.</a:t>
            </a:r>
            <a:endParaRPr b="0" i="0" sz="1400" u="none" cap="none" strike="noStrike">
              <a:solidFill>
                <a:srgbClr val="000000"/>
              </a:solidFill>
              <a:latin typeface="Arial"/>
              <a:ea typeface="Arial"/>
              <a:cs typeface="Arial"/>
              <a:sym typeface="Arial"/>
            </a:endParaRPr>
          </a:p>
        </p:txBody>
      </p:sp>
      <p:sp>
        <p:nvSpPr>
          <p:cNvPr id="220" name="Google Shape;220;p9"/>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DEMULTIPLEXOR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24" name="Shape 224"/>
        <p:cNvGrpSpPr/>
        <p:nvPr/>
      </p:nvGrpSpPr>
      <p:grpSpPr>
        <a:xfrm>
          <a:off x="0" y="0"/>
          <a:ext cx="0" cy="0"/>
          <a:chOff x="0" y="0"/>
          <a:chExt cx="0" cy="0"/>
        </a:xfrm>
      </p:grpSpPr>
      <p:sp>
        <p:nvSpPr>
          <p:cNvPr id="225" name="Google Shape;225;p10"/>
          <p:cNvSpPr/>
          <p:nvPr/>
        </p:nvSpPr>
        <p:spPr>
          <a:xfrm>
            <a:off x="2750505" y="3383082"/>
            <a:ext cx="12285769" cy="3520836"/>
          </a:xfrm>
          <a:custGeom>
            <a:rect b="b" l="l" r="r" t="t"/>
            <a:pathLst>
              <a:path extrusionOk="0" h="3520836" w="12285769">
                <a:moveTo>
                  <a:pt x="0" y="0"/>
                </a:moveTo>
                <a:lnTo>
                  <a:pt x="12285769" y="0"/>
                </a:lnTo>
                <a:lnTo>
                  <a:pt x="12285769" y="3520836"/>
                </a:lnTo>
                <a:lnTo>
                  <a:pt x="0" y="3520836"/>
                </a:lnTo>
                <a:lnTo>
                  <a:pt x="0" y="0"/>
                </a:lnTo>
                <a:close/>
              </a:path>
            </a:pathLst>
          </a:custGeom>
          <a:blipFill rotWithShape="1">
            <a:blip r:embed="rId3">
              <a:alphaModFix/>
            </a:blip>
            <a:stretch>
              <a:fillRect b="-32100" l="-1292" r="0" t="-4771"/>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