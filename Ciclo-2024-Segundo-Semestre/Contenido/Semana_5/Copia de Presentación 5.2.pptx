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 Black"/>
      <p:bold r:id="rId19"/>
      <p:boldItalic r:id="rId20"/>
    </p:embeddedFont>
    <p:embeddedFont>
      <p:font typeface="Oswald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GFqDS9E/Uhs3gC/4Wu8tBhHl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Black-bold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Black-bold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112" name="Google Shape;112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2" name="Google Shape;122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3" name="Google Shape;123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125" name="Google Shape;125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6" name="Google Shape;126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8" name="Google Shape;138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9" name="Google Shape;139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141" name="Google Shape;141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2" name="Google Shape;142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9" name="Google Shape;159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0" name="Google Shape;160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162" name="Google Shape;162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2" name="Google Shape;17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3" name="Google Shape;173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175" name="Google Shape;17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7" name="Google Shape;187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8" name="Google Shape;188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optoelectrónica es un campo interdisciplinario que combina la óptica y la electrónica para estudiar y desarrollar dispositivos que interactúan con la luz y las señales eléctricas.</a:t>
            </a:r>
            <a:endParaRPr/>
          </a:p>
        </p:txBody>
      </p:sp>
      <p:sp>
        <p:nvSpPr>
          <p:cNvPr id="190" name="Google Shape;190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 rot="5400000">
            <a:off x="2659078" y="-6224990"/>
            <a:ext cx="6274827" cy="12450233"/>
            <a:chOff x="0" y="0"/>
            <a:chExt cx="3166110" cy="6282055"/>
          </a:xfrm>
        </p:grpSpPr>
        <p:sp>
          <p:nvSpPr>
            <p:cNvPr id="89" name="Google Shape;89;p1"/>
            <p:cNvSpPr/>
            <p:nvPr/>
          </p:nvSpPr>
          <p:spPr>
            <a:xfrm>
              <a:off x="4318" y="4318"/>
              <a:ext cx="3157347" cy="6273419"/>
            </a:xfrm>
            <a:custGeom>
              <a:rect b="b" l="l" r="r" t="t"/>
              <a:pathLst>
                <a:path extrusionOk="0"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ADC7EA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0" y="0"/>
              <a:ext cx="3166110" cy="6282055"/>
            </a:xfrm>
            <a:custGeom>
              <a:rect b="b" l="l" r="r" t="t"/>
              <a:pathLst>
                <a:path extrusionOk="0"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1"/>
          <p:cNvGrpSpPr/>
          <p:nvPr/>
        </p:nvGrpSpPr>
        <p:grpSpPr>
          <a:xfrm rot="-5400000">
            <a:off x="9151318" y="4851619"/>
            <a:ext cx="6274827" cy="12450233"/>
            <a:chOff x="0" y="0"/>
            <a:chExt cx="3166110" cy="6282055"/>
          </a:xfrm>
        </p:grpSpPr>
        <p:sp>
          <p:nvSpPr>
            <p:cNvPr id="92" name="Google Shape;92;p1"/>
            <p:cNvSpPr/>
            <p:nvPr/>
          </p:nvSpPr>
          <p:spPr>
            <a:xfrm>
              <a:off x="4318" y="4318"/>
              <a:ext cx="3157347" cy="6273419"/>
            </a:xfrm>
            <a:custGeom>
              <a:rect b="b" l="l" r="r" t="t"/>
              <a:pathLst>
                <a:path extrusionOk="0"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E0E6E9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0" y="0"/>
              <a:ext cx="3166110" cy="6282055"/>
            </a:xfrm>
            <a:custGeom>
              <a:rect b="b" l="l" r="r" t="t"/>
              <a:pathLst>
                <a:path extrusionOk="0"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E0E6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12814229" y="6175561"/>
            <a:ext cx="12630150" cy="1367582"/>
            <a:chOff x="0" y="-66675"/>
            <a:chExt cx="3326459" cy="360186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326459" cy="293511"/>
            </a:xfrm>
            <a:custGeom>
              <a:rect b="b" l="l" r="r" t="t"/>
              <a:pathLst>
                <a:path extrusionOk="0" h="293511" w="3326459">
                  <a:moveTo>
                    <a:pt x="3123259" y="0"/>
                  </a:moveTo>
                  <a:cubicBezTo>
                    <a:pt x="3235484" y="0"/>
                    <a:pt x="3326459" y="65705"/>
                    <a:pt x="3326459" y="146756"/>
                  </a:cubicBezTo>
                  <a:cubicBezTo>
                    <a:pt x="3326459" y="227806"/>
                    <a:pt x="3235484" y="293511"/>
                    <a:pt x="3123259" y="293511"/>
                  </a:cubicBezTo>
                  <a:lnTo>
                    <a:pt x="203200" y="293511"/>
                  </a:lnTo>
                  <a:cubicBezTo>
                    <a:pt x="90976" y="293511"/>
                    <a:pt x="0" y="227806"/>
                    <a:pt x="0" y="146756"/>
                  </a:cubicBezTo>
                  <a:cubicBezTo>
                    <a:pt x="0" y="6570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66675"/>
              <a:ext cx="3326459" cy="360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 txBox="1"/>
          <p:nvPr/>
        </p:nvSpPr>
        <p:spPr>
          <a:xfrm>
            <a:off x="344927" y="4293682"/>
            <a:ext cx="13235916" cy="23085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55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SUMADORES Y</a:t>
            </a:r>
            <a:endParaRPr/>
          </a:p>
          <a:p>
            <a:pPr indent="0" lvl="0" marL="0" marR="0" rtl="0" algn="ctr">
              <a:lnSpc>
                <a:spcPct val="11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55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Restadores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028700" y="8063399"/>
            <a:ext cx="13293265" cy="691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ORGANIZACIÓN COMPUTACIONAL</a:t>
            </a:r>
            <a:endParaRPr/>
          </a:p>
          <a:p>
            <a:pPr indent="0" lvl="0" marL="0" marR="0" rtl="0" algn="l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SECCIÓN A</a:t>
            </a:r>
            <a:endParaRPr/>
          </a:p>
        </p:txBody>
      </p:sp>
      <p:cxnSp>
        <p:nvCxnSpPr>
          <p:cNvPr id="99" name="Google Shape;99;p1"/>
          <p:cNvCxnSpPr/>
          <p:nvPr/>
        </p:nvCxnSpPr>
        <p:spPr>
          <a:xfrm>
            <a:off x="-428625" y="3501989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lg" w="lg" type="oval"/>
          </a:ln>
        </p:spPr>
      </p:cxnSp>
      <p:cxnSp>
        <p:nvCxnSpPr>
          <p:cNvPr id="100" name="Google Shape;100;p1"/>
          <p:cNvCxnSpPr/>
          <p:nvPr/>
        </p:nvCxnSpPr>
        <p:spPr>
          <a:xfrm>
            <a:off x="12471329" y="7739549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lg" w="lg" type="oval"/>
            <a:tailEnd len="sm" w="sm" type="none"/>
          </a:ln>
        </p:spPr>
      </p:cxnSp>
      <p:grpSp>
        <p:nvGrpSpPr>
          <p:cNvPr id="101" name="Google Shape;101;p1"/>
          <p:cNvGrpSpPr/>
          <p:nvPr/>
        </p:nvGrpSpPr>
        <p:grpSpPr>
          <a:xfrm rot="-5400000">
            <a:off x="9766774" y="5394544"/>
            <a:ext cx="6274827" cy="12450233"/>
            <a:chOff x="0" y="0"/>
            <a:chExt cx="3166110" cy="6282055"/>
          </a:xfrm>
        </p:grpSpPr>
        <p:sp>
          <p:nvSpPr>
            <p:cNvPr id="102" name="Google Shape;102;p1"/>
            <p:cNvSpPr/>
            <p:nvPr/>
          </p:nvSpPr>
          <p:spPr>
            <a:xfrm>
              <a:off x="4318" y="4318"/>
              <a:ext cx="3157347" cy="6273419"/>
            </a:xfrm>
            <a:custGeom>
              <a:rect b="b" l="l" r="r" t="t"/>
              <a:pathLst>
                <a:path extrusionOk="0"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9DB3C1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0" y="0"/>
              <a:ext cx="3166110" cy="6282055"/>
            </a:xfrm>
            <a:custGeom>
              <a:rect b="b" l="l" r="r" t="t"/>
              <a:pathLst>
                <a:path extrusionOk="0"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9DB3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" name="Google Shape;104;p1"/>
          <p:cNvGrpSpPr/>
          <p:nvPr/>
        </p:nvGrpSpPr>
        <p:grpSpPr>
          <a:xfrm rot="5400000">
            <a:off x="2154253" y="-6869939"/>
            <a:ext cx="6274827" cy="12450233"/>
            <a:chOff x="0" y="0"/>
            <a:chExt cx="3166110" cy="6282055"/>
          </a:xfrm>
        </p:grpSpPr>
        <p:sp>
          <p:nvSpPr>
            <p:cNvPr id="105" name="Google Shape;105;p1"/>
            <p:cNvSpPr/>
            <p:nvPr/>
          </p:nvSpPr>
          <p:spPr>
            <a:xfrm>
              <a:off x="4318" y="4318"/>
              <a:ext cx="3157347" cy="6273419"/>
            </a:xfrm>
            <a:custGeom>
              <a:rect b="b" l="l" r="r" t="t"/>
              <a:pathLst>
                <a:path extrusionOk="0" h="6273419" w="3157347">
                  <a:moveTo>
                    <a:pt x="3049651" y="6273419"/>
                  </a:moveTo>
                  <a:lnTo>
                    <a:pt x="107696" y="6273419"/>
                  </a:lnTo>
                  <a:cubicBezTo>
                    <a:pt x="48260" y="6273419"/>
                    <a:pt x="0" y="6225286"/>
                    <a:pt x="0" y="6165723"/>
                  </a:cubicBezTo>
                  <a:lnTo>
                    <a:pt x="0" y="1578737"/>
                  </a:lnTo>
                  <a:cubicBezTo>
                    <a:pt x="0" y="706882"/>
                    <a:pt x="706882" y="0"/>
                    <a:pt x="1578737" y="0"/>
                  </a:cubicBezTo>
                  <a:lnTo>
                    <a:pt x="1578737" y="0"/>
                  </a:lnTo>
                  <a:cubicBezTo>
                    <a:pt x="2450592" y="0"/>
                    <a:pt x="3157347" y="706755"/>
                    <a:pt x="3157347" y="1578610"/>
                  </a:cubicBezTo>
                  <a:lnTo>
                    <a:pt x="3157347" y="6165723"/>
                  </a:lnTo>
                  <a:cubicBezTo>
                    <a:pt x="3157347" y="6225286"/>
                    <a:pt x="3109087" y="6273419"/>
                    <a:pt x="3049651" y="6273419"/>
                  </a:cubicBezTo>
                  <a:close/>
                </a:path>
              </a:pathLst>
            </a:custGeom>
            <a:solidFill>
              <a:srgbClr val="5B696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0" y="0"/>
              <a:ext cx="3166110" cy="6282055"/>
            </a:xfrm>
            <a:custGeom>
              <a:rect b="b" l="l" r="r" t="t"/>
              <a:pathLst>
                <a:path extrusionOk="0" h="6282055" w="3166110">
                  <a:moveTo>
                    <a:pt x="3053969" y="6282055"/>
                  </a:moveTo>
                  <a:lnTo>
                    <a:pt x="112014" y="6282055"/>
                  </a:lnTo>
                  <a:cubicBezTo>
                    <a:pt x="50292" y="6282055"/>
                    <a:pt x="0" y="6231763"/>
                    <a:pt x="0" y="6170041"/>
                  </a:cubicBezTo>
                  <a:lnTo>
                    <a:pt x="0" y="1583055"/>
                  </a:lnTo>
                  <a:cubicBezTo>
                    <a:pt x="0" y="1369314"/>
                    <a:pt x="41910" y="1162050"/>
                    <a:pt x="124460" y="966851"/>
                  </a:cubicBezTo>
                  <a:cubicBezTo>
                    <a:pt x="204216" y="778383"/>
                    <a:pt x="318389" y="609092"/>
                    <a:pt x="463677" y="463677"/>
                  </a:cubicBezTo>
                  <a:cubicBezTo>
                    <a:pt x="608965" y="318262"/>
                    <a:pt x="778256" y="204089"/>
                    <a:pt x="966851" y="124460"/>
                  </a:cubicBezTo>
                  <a:cubicBezTo>
                    <a:pt x="1161923" y="41910"/>
                    <a:pt x="1369314" y="0"/>
                    <a:pt x="1583055" y="0"/>
                  </a:cubicBezTo>
                  <a:cubicBezTo>
                    <a:pt x="1796796" y="0"/>
                    <a:pt x="2004060" y="41910"/>
                    <a:pt x="2199259" y="124460"/>
                  </a:cubicBezTo>
                  <a:cubicBezTo>
                    <a:pt x="2387727" y="204216"/>
                    <a:pt x="2557018" y="318389"/>
                    <a:pt x="2702433" y="463677"/>
                  </a:cubicBezTo>
                  <a:cubicBezTo>
                    <a:pt x="2847848" y="609092"/>
                    <a:pt x="2961894" y="778383"/>
                    <a:pt x="3041650" y="966851"/>
                  </a:cubicBezTo>
                  <a:cubicBezTo>
                    <a:pt x="3124200" y="1162050"/>
                    <a:pt x="3166110" y="1369314"/>
                    <a:pt x="3166110" y="1583055"/>
                  </a:cubicBezTo>
                  <a:lnTo>
                    <a:pt x="3166110" y="6170168"/>
                  </a:lnTo>
                  <a:cubicBezTo>
                    <a:pt x="3165983" y="6231890"/>
                    <a:pt x="3115818" y="6282055"/>
                    <a:pt x="3053969" y="6282055"/>
                  </a:cubicBezTo>
                  <a:close/>
                  <a:moveTo>
                    <a:pt x="1583055" y="8763"/>
                  </a:moveTo>
                  <a:cubicBezTo>
                    <a:pt x="1370584" y="8763"/>
                    <a:pt x="1164336" y="50419"/>
                    <a:pt x="970280" y="132461"/>
                  </a:cubicBezTo>
                  <a:cubicBezTo>
                    <a:pt x="782828" y="211709"/>
                    <a:pt x="614426" y="325247"/>
                    <a:pt x="469900" y="469900"/>
                  </a:cubicBezTo>
                  <a:cubicBezTo>
                    <a:pt x="325374" y="614553"/>
                    <a:pt x="211709" y="782701"/>
                    <a:pt x="132461" y="970280"/>
                  </a:cubicBezTo>
                  <a:cubicBezTo>
                    <a:pt x="50419" y="1164336"/>
                    <a:pt x="8763" y="1370584"/>
                    <a:pt x="8763" y="1583055"/>
                  </a:cubicBezTo>
                  <a:lnTo>
                    <a:pt x="8763" y="6170168"/>
                  </a:lnTo>
                  <a:cubicBezTo>
                    <a:pt x="8763" y="6227064"/>
                    <a:pt x="55118" y="6273419"/>
                    <a:pt x="112014" y="6273419"/>
                  </a:cubicBezTo>
                  <a:lnTo>
                    <a:pt x="3053969" y="6273419"/>
                  </a:lnTo>
                  <a:cubicBezTo>
                    <a:pt x="3110865" y="6273419"/>
                    <a:pt x="3157220" y="6227064"/>
                    <a:pt x="3157220" y="6170168"/>
                  </a:cubicBezTo>
                  <a:lnTo>
                    <a:pt x="3157220" y="1583055"/>
                  </a:lnTo>
                  <a:cubicBezTo>
                    <a:pt x="3157220" y="1370584"/>
                    <a:pt x="3115564" y="1164336"/>
                    <a:pt x="3033522" y="970280"/>
                  </a:cubicBezTo>
                  <a:cubicBezTo>
                    <a:pt x="2954274" y="782828"/>
                    <a:pt x="2840736" y="614426"/>
                    <a:pt x="2696083" y="469900"/>
                  </a:cubicBezTo>
                  <a:cubicBezTo>
                    <a:pt x="2551557" y="325374"/>
                    <a:pt x="2383155" y="211836"/>
                    <a:pt x="2195703" y="132461"/>
                  </a:cubicBezTo>
                  <a:cubicBezTo>
                    <a:pt x="2001647" y="50292"/>
                    <a:pt x="1795526" y="8763"/>
                    <a:pt x="1583055" y="8763"/>
                  </a:cubicBezTo>
                  <a:close/>
                </a:path>
              </a:pathLst>
            </a:custGeom>
            <a:solidFill>
              <a:srgbClr val="5B69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2"/>
          <p:cNvSpPr txBox="1"/>
          <p:nvPr/>
        </p:nvSpPr>
        <p:spPr>
          <a:xfrm>
            <a:off x="1028700" y="4370879"/>
            <a:ext cx="160281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sumador es un circuito digital que realiza la adición de 2 o m</a:t>
            </a:r>
            <a:r>
              <a:rPr lang="en-US" sz="2699">
                <a:latin typeface="Montserrat"/>
                <a:ea typeface="Montserrat"/>
                <a:cs typeface="Montserrat"/>
                <a:sym typeface="Montserrat"/>
              </a:rPr>
              <a:t>á</a:t>
            </a:r>
            <a:r>
              <a:rPr b="0" i="0" lang="en-US" sz="26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  números binarios. En su representación más básica en la lógica combinacional se encarga de sumar 2 bits y algunos incluyen la suma de un número acarreado (carry). Pero pueden llegar a ver sumadores de parejas de números de N bits.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SUMADOR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130" name="Google Shape;130;p3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3"/>
          <p:cNvSpPr/>
          <p:nvPr/>
        </p:nvSpPr>
        <p:spPr>
          <a:xfrm>
            <a:off x="10827860" y="3754411"/>
            <a:ext cx="5405152" cy="3052321"/>
          </a:xfrm>
          <a:custGeom>
            <a:rect b="b" l="l" r="r" t="t"/>
            <a:pathLst>
              <a:path extrusionOk="0" h="3052321" w="5405152">
                <a:moveTo>
                  <a:pt x="0" y="0"/>
                </a:moveTo>
                <a:lnTo>
                  <a:pt x="5405152" y="0"/>
                </a:lnTo>
                <a:lnTo>
                  <a:pt x="5405152" y="3052321"/>
                </a:lnTo>
                <a:lnTo>
                  <a:pt x="0" y="3052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3"/>
          <p:cNvSpPr/>
          <p:nvPr/>
        </p:nvSpPr>
        <p:spPr>
          <a:xfrm>
            <a:off x="9767683" y="7149632"/>
            <a:ext cx="4364884" cy="2543865"/>
          </a:xfrm>
          <a:custGeom>
            <a:rect b="b" l="l" r="r" t="t"/>
            <a:pathLst>
              <a:path extrusionOk="0" h="2543865" w="4364884">
                <a:moveTo>
                  <a:pt x="0" y="0"/>
                </a:moveTo>
                <a:lnTo>
                  <a:pt x="4364884" y="0"/>
                </a:lnTo>
                <a:lnTo>
                  <a:pt x="4364884" y="2543865"/>
                </a:lnTo>
                <a:lnTo>
                  <a:pt x="0" y="2543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2517630" y="4284613"/>
            <a:ext cx="4254704" cy="5044237"/>
          </a:xfrm>
          <a:custGeom>
            <a:rect b="b" l="l" r="r" t="t"/>
            <a:pathLst>
              <a:path extrusionOk="0" h="5044237" w="4254704">
                <a:moveTo>
                  <a:pt x="0" y="0"/>
                </a:moveTo>
                <a:lnTo>
                  <a:pt x="4254705" y="0"/>
                </a:lnTo>
                <a:lnTo>
                  <a:pt x="4254705" y="5044237"/>
                </a:lnTo>
                <a:lnTo>
                  <a:pt x="0" y="5044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1028700" y="2904907"/>
            <a:ext cx="160281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Este sumador tiene la característica de que solo suma un bit A con un bit B. Este produce una salida S y un “Carry Out” (C). Estos 2 bits generan juntos el n</a:t>
            </a:r>
            <a:r>
              <a:rPr lang="en-US" sz="2599">
                <a:latin typeface="Montserrat"/>
                <a:ea typeface="Montserrat"/>
                <a:cs typeface="Montserrat"/>
                <a:sym typeface="Montserrat"/>
              </a:rPr>
              <a:t>ú</a:t>
            </a: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mero binario resultado LSB &amp; MSB respectivamente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SEMI SUMADOR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4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146" name="Google Shape;146;p4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4"/>
          <p:cNvSpPr/>
          <p:nvPr/>
        </p:nvSpPr>
        <p:spPr>
          <a:xfrm>
            <a:off x="9843262" y="4525936"/>
            <a:ext cx="7610651" cy="3270087"/>
          </a:xfrm>
          <a:custGeom>
            <a:rect b="b" l="l" r="r" t="t"/>
            <a:pathLst>
              <a:path extrusionOk="0" h="3270087" w="7610651">
                <a:moveTo>
                  <a:pt x="0" y="0"/>
                </a:moveTo>
                <a:lnTo>
                  <a:pt x="7610651" y="0"/>
                </a:lnTo>
                <a:lnTo>
                  <a:pt x="7610651" y="3270087"/>
                </a:lnTo>
                <a:lnTo>
                  <a:pt x="0" y="3270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4"/>
          <p:cNvSpPr/>
          <p:nvPr/>
        </p:nvSpPr>
        <p:spPr>
          <a:xfrm>
            <a:off x="4659688" y="6268506"/>
            <a:ext cx="5632705" cy="3161494"/>
          </a:xfrm>
          <a:custGeom>
            <a:rect b="b" l="l" r="r" t="t"/>
            <a:pathLst>
              <a:path extrusionOk="0" h="3161494" w="5632705">
                <a:moveTo>
                  <a:pt x="0" y="0"/>
                </a:moveTo>
                <a:lnTo>
                  <a:pt x="5632705" y="0"/>
                </a:lnTo>
                <a:lnTo>
                  <a:pt x="5632705" y="3161494"/>
                </a:lnTo>
                <a:lnTo>
                  <a:pt x="0" y="3161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/>
          <p:nvPr/>
        </p:nvSpPr>
        <p:spPr>
          <a:xfrm>
            <a:off x="1375579" y="4359396"/>
            <a:ext cx="2899153" cy="5359515"/>
          </a:xfrm>
          <a:custGeom>
            <a:rect b="b" l="l" r="r" t="t"/>
            <a:pathLst>
              <a:path extrusionOk="0" h="5359515" w="2899153">
                <a:moveTo>
                  <a:pt x="0" y="0"/>
                </a:moveTo>
                <a:lnTo>
                  <a:pt x="2899153" y="0"/>
                </a:lnTo>
                <a:lnTo>
                  <a:pt x="2899153" y="5359515"/>
                </a:lnTo>
                <a:lnTo>
                  <a:pt x="0" y="53595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4"/>
          <p:cNvSpPr txBox="1"/>
          <p:nvPr/>
        </p:nvSpPr>
        <p:spPr>
          <a:xfrm>
            <a:off x="1028700" y="2904907"/>
            <a:ext cx="160281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sumador completo suma 3 números binarios de 1 bit cada uno</a:t>
            </a:r>
            <a:r>
              <a:rPr lang="en-US" sz="2599">
                <a:latin typeface="Montserrat"/>
                <a:ea typeface="Montserrat"/>
                <a:cs typeface="Montserrat"/>
                <a:sym typeface="Montserrat"/>
              </a:rPr>
              <a:t>, uno de ellos es el</a:t>
            </a: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acarreo. </a:t>
            </a:r>
            <a:r>
              <a:rPr lang="en-US" sz="2599">
                <a:latin typeface="Montserrat"/>
                <a:ea typeface="Montserrat"/>
                <a:cs typeface="Montserrat"/>
                <a:sym typeface="Montserrat"/>
              </a:rPr>
              <a:t>Estos 3 numeros de  1 bit cada uno son denotados a menudo  </a:t>
            </a: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como A, B y Cin; siendo A y B los sumandos y Cin el acarreo que proviene de la anterior etapa menos significativa.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SUMADOR COMPLETO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1977634" y="2623689"/>
            <a:ext cx="13925095" cy="6090672"/>
          </a:xfrm>
          <a:custGeom>
            <a:rect b="b" l="l" r="r" t="t"/>
            <a:pathLst>
              <a:path extrusionOk="0" h="6090672" w="13925095">
                <a:moveTo>
                  <a:pt x="0" y="0"/>
                </a:moveTo>
                <a:lnTo>
                  <a:pt x="13925095" y="0"/>
                </a:lnTo>
                <a:lnTo>
                  <a:pt x="13925095" y="6090672"/>
                </a:lnTo>
                <a:lnTo>
                  <a:pt x="0" y="6090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6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166" name="Google Shape;166;p6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167" name="Google Shape;167;p6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6"/>
          <p:cNvSpPr txBox="1"/>
          <p:nvPr/>
        </p:nvSpPr>
        <p:spPr>
          <a:xfrm>
            <a:off x="1028700" y="4380404"/>
            <a:ext cx="16028100" cy="21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restador es un circuito digital el cual se encarga de restar un número A </a:t>
            </a:r>
            <a:r>
              <a:rPr lang="en-US" sz="2799">
                <a:latin typeface="Montserrat"/>
                <a:ea typeface="Montserrat"/>
                <a:cs typeface="Montserrat"/>
                <a:sym typeface="Montserrat"/>
              </a:rPr>
              <a:t>de</a:t>
            </a:r>
            <a:r>
              <a:rPr b="0" i="0" lang="en-US" sz="27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un número B, produciendo el resultado de esta resta y  un bit de rebalse conocido como </a:t>
            </a:r>
            <a:r>
              <a:rPr lang="en-US" sz="2799">
                <a:latin typeface="Montserrat"/>
                <a:ea typeface="Montserrat"/>
                <a:cs typeface="Montserrat"/>
                <a:sym typeface="Montserrat"/>
              </a:rPr>
              <a:t>préstamo</a:t>
            </a:r>
            <a:r>
              <a:rPr b="0" i="0" lang="en-US" sz="27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>
                <a:latin typeface="Montserrat"/>
                <a:ea typeface="Montserrat"/>
                <a:cs typeface="Montserrat"/>
                <a:sym typeface="Montserrat"/>
              </a:rPr>
              <a:t>“borrow” (que seria “1” si el minuendo fuera mas chico que el sustraendo), este </a:t>
            </a:r>
            <a:r>
              <a:rPr lang="en-US" sz="2799">
                <a:latin typeface="Montserrat"/>
                <a:ea typeface="Montserrat"/>
                <a:cs typeface="Montserrat"/>
                <a:sym typeface="Montserrat"/>
              </a:rPr>
              <a:t>préstamo</a:t>
            </a:r>
            <a:r>
              <a:rPr lang="en-US" sz="2799">
                <a:latin typeface="Montserrat"/>
                <a:ea typeface="Montserrat"/>
                <a:cs typeface="Montserrat"/>
                <a:sym typeface="Montserrat"/>
              </a:rPr>
              <a:t> iria a concatenarse con  la siguiente resta en la vecina columna de mayor ponderación.</a:t>
            </a:r>
            <a:r>
              <a:rPr b="0" i="0" lang="en-US" sz="27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RESTADOR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7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179" name="Google Shape;179;p7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180" name="Google Shape;180;p7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7"/>
          <p:cNvSpPr/>
          <p:nvPr/>
        </p:nvSpPr>
        <p:spPr>
          <a:xfrm>
            <a:off x="9144000" y="4449736"/>
            <a:ext cx="8191932" cy="4007564"/>
          </a:xfrm>
          <a:custGeom>
            <a:rect b="b" l="l" r="r" t="t"/>
            <a:pathLst>
              <a:path extrusionOk="0" h="4007564" w="8191932">
                <a:moveTo>
                  <a:pt x="0" y="0"/>
                </a:moveTo>
                <a:lnTo>
                  <a:pt x="8191932" y="0"/>
                </a:lnTo>
                <a:lnTo>
                  <a:pt x="8191932" y="4007564"/>
                </a:lnTo>
                <a:lnTo>
                  <a:pt x="0" y="4007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7"/>
          <p:cNvSpPr/>
          <p:nvPr/>
        </p:nvSpPr>
        <p:spPr>
          <a:xfrm>
            <a:off x="2696397" y="4253275"/>
            <a:ext cx="4752857" cy="5194983"/>
          </a:xfrm>
          <a:custGeom>
            <a:rect b="b" l="l" r="r" t="t"/>
            <a:pathLst>
              <a:path extrusionOk="0" h="5194983" w="4752857">
                <a:moveTo>
                  <a:pt x="0" y="0"/>
                </a:moveTo>
                <a:lnTo>
                  <a:pt x="4752857" y="0"/>
                </a:lnTo>
                <a:lnTo>
                  <a:pt x="4752857" y="5194983"/>
                </a:lnTo>
                <a:lnTo>
                  <a:pt x="0" y="5194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7"/>
          <p:cNvSpPr txBox="1"/>
          <p:nvPr/>
        </p:nvSpPr>
        <p:spPr>
          <a:xfrm>
            <a:off x="1028700" y="2904907"/>
            <a:ext cx="16028025" cy="849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Este resta 2 bits entre ellos (X-Y), sin recibir un bit de préstamo. Este produce un bit</a:t>
            </a:r>
            <a:endParaRPr/>
          </a:p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 respuesta y otro de préstamo.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RESTADOR MEDIO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8"/>
          <p:cNvGrpSpPr/>
          <p:nvPr/>
        </p:nvGrpSpPr>
        <p:grpSpPr>
          <a:xfrm>
            <a:off x="0" y="-253157"/>
            <a:ext cx="18288000" cy="2841699"/>
            <a:chOff x="0" y="-66675"/>
            <a:chExt cx="4816593" cy="748431"/>
          </a:xfrm>
        </p:grpSpPr>
        <p:sp>
          <p:nvSpPr>
            <p:cNvPr id="194" name="Google Shape;194;p8"/>
            <p:cNvSpPr/>
            <p:nvPr/>
          </p:nvSpPr>
          <p:spPr>
            <a:xfrm>
              <a:off x="0" y="0"/>
              <a:ext cx="4816592" cy="681756"/>
            </a:xfrm>
            <a:custGeom>
              <a:rect b="b" l="l" r="r" t="t"/>
              <a:pathLst>
                <a:path extrusionOk="0" h="68175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81756"/>
                  </a:lnTo>
                  <a:lnTo>
                    <a:pt x="0" y="681756"/>
                  </a:lnTo>
                  <a:close/>
                </a:path>
              </a:pathLst>
            </a:custGeom>
            <a:solidFill>
              <a:srgbClr val="132232"/>
            </a:solidFill>
            <a:ln>
              <a:noFill/>
            </a:ln>
          </p:spPr>
        </p:sp>
        <p:sp>
          <p:nvSpPr>
            <p:cNvPr id="195" name="Google Shape;195;p8"/>
            <p:cNvSpPr txBox="1"/>
            <p:nvPr/>
          </p:nvSpPr>
          <p:spPr>
            <a:xfrm>
              <a:off x="0" y="-66675"/>
              <a:ext cx="4816593" cy="748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1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8"/>
          <p:cNvSpPr/>
          <p:nvPr/>
        </p:nvSpPr>
        <p:spPr>
          <a:xfrm>
            <a:off x="6464613" y="5143500"/>
            <a:ext cx="10592112" cy="3970409"/>
          </a:xfrm>
          <a:custGeom>
            <a:rect b="b" l="l" r="r" t="t"/>
            <a:pathLst>
              <a:path extrusionOk="0" h="3970409" w="10592112">
                <a:moveTo>
                  <a:pt x="0" y="0"/>
                </a:moveTo>
                <a:lnTo>
                  <a:pt x="10592112" y="0"/>
                </a:lnTo>
                <a:lnTo>
                  <a:pt x="10592112" y="3970409"/>
                </a:lnTo>
                <a:lnTo>
                  <a:pt x="0" y="3970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8"/>
          <p:cNvSpPr/>
          <p:nvPr/>
        </p:nvSpPr>
        <p:spPr>
          <a:xfrm>
            <a:off x="1785709" y="4097311"/>
            <a:ext cx="3422357" cy="5527379"/>
          </a:xfrm>
          <a:custGeom>
            <a:rect b="b" l="l" r="r" t="t"/>
            <a:pathLst>
              <a:path extrusionOk="0" h="5527379" w="3422357">
                <a:moveTo>
                  <a:pt x="0" y="0"/>
                </a:moveTo>
                <a:lnTo>
                  <a:pt x="3422357" y="0"/>
                </a:lnTo>
                <a:lnTo>
                  <a:pt x="3422357" y="5527378"/>
                </a:lnTo>
                <a:lnTo>
                  <a:pt x="0" y="5527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8"/>
          <p:cNvSpPr txBox="1"/>
          <p:nvPr/>
        </p:nvSpPr>
        <p:spPr>
          <a:xfrm>
            <a:off x="1028700" y="2904907"/>
            <a:ext cx="160281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Funciona con 3 entradas (un </a:t>
            </a:r>
            <a:r>
              <a:rPr lang="en-US" sz="2599">
                <a:latin typeface="Montserrat"/>
                <a:ea typeface="Montserrat"/>
                <a:cs typeface="Montserrat"/>
                <a:sym typeface="Montserrat"/>
              </a:rPr>
              <a:t>minuendo y dos sustraendos) </a:t>
            </a:r>
            <a:r>
              <a:rPr b="0" i="0" lang="en-US" sz="25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X - Y y el bit de préstamo. Y produce lo mismo que el restador medio, el bit del resultado y el bit de préstamo.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1028700" y="1066763"/>
            <a:ext cx="13103867" cy="117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RESTADOR COMPLETO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23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1617230" y="4590698"/>
            <a:ext cx="12470753" cy="3688392"/>
          </a:xfrm>
          <a:custGeom>
            <a:rect b="b" l="l" r="r" t="t"/>
            <a:pathLst>
              <a:path extrusionOk="0" h="3688392" w="12470753">
                <a:moveTo>
                  <a:pt x="0" y="0"/>
                </a:moveTo>
                <a:lnTo>
                  <a:pt x="12470752" y="0"/>
                </a:lnTo>
                <a:lnTo>
                  <a:pt x="12470752" y="3688392"/>
                </a:lnTo>
                <a:lnTo>
                  <a:pt x="0" y="3688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9"/>
          <p:cNvSpPr txBox="1"/>
          <p:nvPr/>
        </p:nvSpPr>
        <p:spPr>
          <a:xfrm>
            <a:off x="1225692" y="1066800"/>
            <a:ext cx="14045052" cy="2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RESTADOR CON SUMADOR (COMPLEMENTO A 2)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