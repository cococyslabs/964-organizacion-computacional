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Montserrat"/>
      <p:bold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uNUXkaJE0rdIPiDReqcgHVnf2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bold.fntdata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" name="Google Shape;9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19.png"/><Relationship Id="rId8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" name="Google Shape;5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52610" y="2402443"/>
            <a:ext cx="4869180" cy="342471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"/>
          <p:cNvSpPr/>
          <p:nvPr/>
        </p:nvSpPr>
        <p:spPr>
          <a:xfrm>
            <a:off x="863798" y="2406848"/>
            <a:ext cx="7416403" cy="1935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50"/>
              <a:buFont typeface="Montserrat"/>
              <a:buNone/>
            </a:pPr>
            <a:r>
              <a:rPr b="1" i="0" lang="en-US" sz="60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Registros Digitales</a:t>
            </a:r>
            <a:endParaRPr b="0" i="0" sz="6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863798" y="4712256"/>
            <a:ext cx="7416403" cy="17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Una pieza fundamental en el diseño de sistemas electrónicos modernos. Exploraremos los conceptos básicos, los diferentes tipos de registros y cómo se utilizan para almacenar y transferir datos de manera eficiente.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1" name="Google Shape;6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3091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/>
          <p:nvPr/>
        </p:nvSpPr>
        <p:spPr>
          <a:xfrm>
            <a:off x="819864" y="644128"/>
            <a:ext cx="7504271" cy="1331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50"/>
              <a:buFont typeface="Montserrat"/>
              <a:buNone/>
            </a:pPr>
            <a:r>
              <a:rPr b="1" lang="en-US" sz="41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Conceptos Básicos de los Registros</a:t>
            </a:r>
            <a:endParaRPr sz="4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819864" y="2326600"/>
            <a:ext cx="3635097" cy="3030617"/>
          </a:xfrm>
          <a:prstGeom prst="roundRect">
            <a:avLst>
              <a:gd fmla="val 1159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1054060" y="2560796"/>
            <a:ext cx="3166705" cy="6655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050"/>
              <a:buFont typeface="Montserrat"/>
              <a:buNone/>
            </a:pPr>
            <a:r>
              <a:rPr b="1" lang="en-US" sz="2050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¿Qué son los Registros?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1054060" y="3366849"/>
            <a:ext cx="3166705" cy="1756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77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Los registros digitales son circuitos que almacenan datos temporalmente para su posterior procesamiento o transmisión.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689158" y="2326600"/>
            <a:ext cx="3635097" cy="3030617"/>
          </a:xfrm>
          <a:prstGeom prst="roundRect">
            <a:avLst>
              <a:gd fmla="val 1159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4923353" y="2560796"/>
            <a:ext cx="2661880" cy="332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050"/>
              <a:buFont typeface="Montserrat"/>
              <a:buNone/>
            </a:pPr>
            <a:r>
              <a:rPr b="1" lang="en-US" sz="2050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Funciones Clave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923353" y="3034070"/>
            <a:ext cx="3166705" cy="1404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77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Almacenamiento, transferencia y sincronización de datos son las principales funciones de los registros digitales.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819864" y="5591413"/>
            <a:ext cx="7504271" cy="1995368"/>
          </a:xfrm>
          <a:prstGeom prst="roundRect">
            <a:avLst>
              <a:gd fmla="val 1761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1054060" y="5825609"/>
            <a:ext cx="2661880" cy="332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050"/>
              <a:buFont typeface="Montserrat"/>
              <a:buNone/>
            </a:pPr>
            <a:r>
              <a:rPr b="1" lang="en-US" sz="2050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Aplicaciones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1054060" y="6298882"/>
            <a:ext cx="7035879" cy="1053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77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Encontramos registros digitales en computadoras, sistemas de control, procesadores de señales y una amplia gama de dispositivos electrónicos.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a 1.1. Registros - Sistemas digitales II - Instituto Consorcio Clavijero" id="72" name="Google Shape;7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90841" y="3177715"/>
            <a:ext cx="4792717" cy="21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/>
          <p:nvPr/>
        </p:nvSpPr>
        <p:spPr>
          <a:xfrm>
            <a:off x="863798" y="2490668"/>
            <a:ext cx="5793581" cy="701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ontserrat"/>
              <a:buNone/>
            </a:pPr>
            <a:r>
              <a:rPr b="1" lang="en-US" sz="4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Registro en Paralelo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863798" y="4310203"/>
            <a:ext cx="28050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b="1" lang="en-US" sz="2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Definición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863800" y="4929395"/>
            <a:ext cx="3898800" cy="17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En un registro en paralelo, los bits de datos se transfieren</a:t>
            </a:r>
            <a:r>
              <a:rPr lang="en-US" sz="1900">
                <a:solidFill>
                  <a:srgbClr val="E2E6E9"/>
                </a:solidFill>
              </a:rPr>
              <a:t> tanto para lectura como para escritura </a:t>
            </a:r>
            <a:r>
              <a:rPr lang="en-US" sz="1900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simultáneamente a través de sus múltiples líneas.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372639" y="4310228"/>
            <a:ext cx="28050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b="1" lang="en-US" sz="2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Ventajas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372501" y="4929409"/>
            <a:ext cx="3898800" cy="11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Mayor velocidad de transferencia, ya que todos los bits se mueven al mismo tiempo.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881504" y="4310203"/>
            <a:ext cx="28050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b="1" lang="en-US" sz="2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Desventajas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9881204" y="4929459"/>
            <a:ext cx="3898800" cy="11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Requiere más líneas de transmisión, lo que aumenta la complejidad y el costo del sistema.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/>
          <p:nvPr/>
        </p:nvSpPr>
        <p:spPr>
          <a:xfrm>
            <a:off x="863798" y="2490668"/>
            <a:ext cx="5609749" cy="701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ontserrat"/>
              <a:buNone/>
            </a:pPr>
            <a:r>
              <a:rPr b="1" lang="en-US" sz="4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Registro en Serie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863798" y="3808928"/>
            <a:ext cx="2804874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b="1" lang="en-US" sz="2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Definición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863798" y="4406384"/>
            <a:ext cx="3898940" cy="1110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En un registro en serie, los bits de datos se transfieren uno a uno a través de una sola línea.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372576" y="3808928"/>
            <a:ext cx="2804874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b="1" lang="en-US" sz="2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Ventajas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372576" y="4406384"/>
            <a:ext cx="3898940" cy="1110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Menor complejidad y costo del sistema, ya que se requieren menos líneas de transmisión.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9881354" y="3808928"/>
            <a:ext cx="2804874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b="1" lang="en-US" sz="2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Desventajas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9881354" y="4406384"/>
            <a:ext cx="3898940" cy="1110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Menor velocidad de transferencia en comparación con el registro en paralelo.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2" name="Google Shape;10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3" name="Google Shape;10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630" y="2181582"/>
            <a:ext cx="4925139" cy="386631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"/>
          <p:cNvSpPr/>
          <p:nvPr/>
        </p:nvSpPr>
        <p:spPr>
          <a:xfrm>
            <a:off x="6271974" y="721281"/>
            <a:ext cx="7572851" cy="1275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ontserrat"/>
              <a:buNone/>
            </a:pPr>
            <a:r>
              <a:rPr b="1" lang="en-US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Diferencias entre Registro en Paralelo y en Serie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593324" y="2333030"/>
            <a:ext cx="30480" cy="5175171"/>
          </a:xfrm>
          <a:prstGeom prst="roundRect">
            <a:avLst>
              <a:gd fmla="val 110459" name="adj"/>
            </a:avLst>
          </a:prstGeom>
          <a:solidFill>
            <a:srgbClr val="494A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6830556" y="2822615"/>
            <a:ext cx="785574" cy="30480"/>
          </a:xfrm>
          <a:prstGeom prst="roundRect">
            <a:avLst>
              <a:gd fmla="val 110459" name="adj"/>
            </a:avLst>
          </a:prstGeom>
          <a:solidFill>
            <a:srgbClr val="494A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6356092" y="2585442"/>
            <a:ext cx="504944" cy="504944"/>
          </a:xfrm>
          <a:prstGeom prst="roundRect">
            <a:avLst>
              <a:gd fmla="val 6668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6550045" y="2684859"/>
            <a:ext cx="116919" cy="306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400"/>
              <a:buFont typeface="Montserrat"/>
              <a:buNone/>
            </a:pPr>
            <a:r>
              <a:rPr b="1" lang="en-US" sz="2400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7843004" y="2557463"/>
            <a:ext cx="3013710" cy="318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000"/>
              <a:buFont typeface="Montserrat"/>
              <a:buNone/>
            </a:pPr>
            <a:r>
              <a:rPr b="1" lang="en-US" sz="2000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Transferencia de Datos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7843004" y="3280178"/>
            <a:ext cx="60018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Paralelo: Todos los bits se transfieren simultáneamente. Serie: Un bit a la vez.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6830556" y="4622483"/>
            <a:ext cx="785574" cy="30480"/>
          </a:xfrm>
          <a:prstGeom prst="roundRect">
            <a:avLst>
              <a:gd fmla="val 110459" name="adj"/>
            </a:avLst>
          </a:prstGeom>
          <a:solidFill>
            <a:srgbClr val="494A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6356092" y="4385310"/>
            <a:ext cx="504944" cy="504944"/>
          </a:xfrm>
          <a:prstGeom prst="roundRect">
            <a:avLst>
              <a:gd fmla="val 6668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6519803" y="4484727"/>
            <a:ext cx="177522" cy="306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400"/>
              <a:buFont typeface="Montserrat"/>
              <a:buNone/>
            </a:pPr>
            <a:r>
              <a:rPr b="1" lang="en-US" sz="2400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7843004" y="4357330"/>
            <a:ext cx="2550557" cy="318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000"/>
              <a:buFont typeface="Montserrat"/>
              <a:buNone/>
            </a:pPr>
            <a:r>
              <a:rPr b="1" lang="en-US" sz="2000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Velocidad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7843004" y="4810720"/>
            <a:ext cx="6001822" cy="673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Paralelo: Mayor velocidad de transferencia. </a:t>
            </a:r>
            <a:endParaRPr sz="1750">
              <a:solidFill>
                <a:srgbClr val="E2E6E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Serie: Menor velocidad de transferencia.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6830556" y="6422350"/>
            <a:ext cx="785574" cy="30480"/>
          </a:xfrm>
          <a:prstGeom prst="roundRect">
            <a:avLst>
              <a:gd fmla="val 110459" name="adj"/>
            </a:avLst>
          </a:prstGeom>
          <a:solidFill>
            <a:srgbClr val="494A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6356092" y="6185178"/>
            <a:ext cx="504944" cy="504944"/>
          </a:xfrm>
          <a:prstGeom prst="roundRect">
            <a:avLst>
              <a:gd fmla="val 6668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6519446" y="6284595"/>
            <a:ext cx="178118" cy="306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400"/>
              <a:buFont typeface="Montserrat"/>
              <a:buNone/>
            </a:pPr>
            <a:r>
              <a:rPr b="1" lang="en-US" sz="2400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7843004" y="6157198"/>
            <a:ext cx="2550557" cy="318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000"/>
              <a:buFont typeface="Montserrat"/>
              <a:buNone/>
            </a:pPr>
            <a:r>
              <a:rPr b="1" lang="en-US" sz="2000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Complejidad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7843004" y="6610588"/>
            <a:ext cx="6001822" cy="673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Paralelo: Mayor complejidad y costo. </a:t>
            </a:r>
            <a:endParaRPr sz="1750">
              <a:solidFill>
                <a:srgbClr val="E2E6E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Serie: Menor complejidad y costo.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6" name="Google Shape;1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7" name="Google Shape;12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610" y="2530197"/>
            <a:ext cx="4869180" cy="3169087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6"/>
          <p:cNvSpPr/>
          <p:nvPr/>
        </p:nvSpPr>
        <p:spPr>
          <a:xfrm>
            <a:off x="6350198" y="817126"/>
            <a:ext cx="7416403" cy="14025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ontserrat"/>
              <a:buNone/>
            </a:pPr>
            <a:r>
              <a:rPr b="1" lang="en-US" sz="4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Registros de Almacenamiento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350198" y="2589848"/>
            <a:ext cx="3584853" cy="2843093"/>
          </a:xfrm>
          <a:prstGeom prst="roundRect">
            <a:avLst>
              <a:gd fmla="val 1302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6597015" y="2836664"/>
            <a:ext cx="2804874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lang="en-US" sz="2200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Tipos de Registros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597015" y="3335298"/>
            <a:ext cx="3091220" cy="1480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Registros de propósito general, registros de control, registros de desplazamiento y registros de contador.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10181868" y="2589848"/>
            <a:ext cx="3584853" cy="2843093"/>
          </a:xfrm>
          <a:prstGeom prst="roundRect">
            <a:avLst>
              <a:gd fmla="val 1302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10428684" y="2836664"/>
            <a:ext cx="2804874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lang="en-US" sz="2200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Aplicaciones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10428684" y="3335298"/>
            <a:ext cx="3091220" cy="185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Almacenamiento temporal de datos, control de flujo de instrucciones y desplazamiento de datos en sistemas digitales.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6350198" y="5679758"/>
            <a:ext cx="7416403" cy="1732598"/>
          </a:xfrm>
          <a:prstGeom prst="roundRect">
            <a:avLst>
              <a:gd fmla="val 2137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6597015" y="5926574"/>
            <a:ext cx="2804874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lang="en-US" sz="2200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Arquitectura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597015" y="6425208"/>
            <a:ext cx="6922770" cy="740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Diseño de registros basado en flip-flops, latch y otros circuitos de almacenamiento.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3" name="Google Shape;14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4" name="Google Shape;14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52491" y="1680091"/>
            <a:ext cx="4869418" cy="486941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7"/>
          <p:cNvSpPr/>
          <p:nvPr/>
        </p:nvSpPr>
        <p:spPr>
          <a:xfrm>
            <a:off x="863798" y="1125617"/>
            <a:ext cx="7416403" cy="14025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ontserrat"/>
              <a:buNone/>
            </a:pPr>
            <a:r>
              <a:rPr b="1" lang="en-US" sz="4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Transferencia de Datos en Registros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6" name="Google Shape;14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3798" y="2898338"/>
            <a:ext cx="616982" cy="61698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/>
          <p:nvPr/>
        </p:nvSpPr>
        <p:spPr>
          <a:xfrm>
            <a:off x="863798" y="3762137"/>
            <a:ext cx="2804874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lang="en-US" sz="2200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Carga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863798" y="4260771"/>
            <a:ext cx="3523059" cy="37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Escribir datos en un registro.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9" name="Google Shape;14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57023" y="2898338"/>
            <a:ext cx="616982" cy="61698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7"/>
          <p:cNvSpPr/>
          <p:nvPr/>
        </p:nvSpPr>
        <p:spPr>
          <a:xfrm>
            <a:off x="4757023" y="3762137"/>
            <a:ext cx="2804874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lang="en-US" sz="2200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Desplazamiento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757023" y="4260771"/>
            <a:ext cx="3523178" cy="37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Mover datos dentro del registro.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2" name="Google Shape;152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3798" y="5371386"/>
            <a:ext cx="616982" cy="61698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7"/>
          <p:cNvSpPr/>
          <p:nvPr/>
        </p:nvSpPr>
        <p:spPr>
          <a:xfrm>
            <a:off x="863798" y="6235184"/>
            <a:ext cx="2804874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lang="en-US" sz="2200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Lectura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863798" y="6733818"/>
            <a:ext cx="3523059" cy="37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Transferir datos desde un registro.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5" name="Google Shape;155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57023" y="5371386"/>
            <a:ext cx="616982" cy="61698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/>
          <p:nvPr/>
        </p:nvSpPr>
        <p:spPr>
          <a:xfrm>
            <a:off x="4757023" y="6235184"/>
            <a:ext cx="2804874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lang="en-US" sz="2200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Habilitación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757023" y="6733818"/>
            <a:ext cx="3523178" cy="37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Controlar el acceso </a:t>
            </a:r>
            <a:r>
              <a:rPr lang="en-US" sz="1900">
                <a:solidFill>
                  <a:srgbClr val="E2E6E9"/>
                </a:solidFill>
              </a:rPr>
              <a:t>que se hace sobre el </a:t>
            </a:r>
            <a:r>
              <a:rPr lang="en-US" sz="1900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 registro.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3" name="Google Shape;16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4" name="Google Shape;16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491" y="2288738"/>
            <a:ext cx="4869299" cy="365200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/>
          <p:nvPr/>
        </p:nvSpPr>
        <p:spPr>
          <a:xfrm>
            <a:off x="6350198" y="1383744"/>
            <a:ext cx="5609749" cy="701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ontserrat"/>
              <a:buNone/>
            </a:pPr>
            <a:r>
              <a:rPr b="1" lang="en-US" sz="4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Memoria RAM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6350198" y="2732842"/>
            <a:ext cx="555308" cy="555308"/>
          </a:xfrm>
          <a:prstGeom prst="roundRect">
            <a:avLst>
              <a:gd fmla="val 6667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6563558" y="2842141"/>
            <a:ext cx="128588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650"/>
              <a:buFont typeface="Montserrat"/>
              <a:buNone/>
            </a:pPr>
            <a:r>
              <a:rPr b="1" lang="en-US" sz="2650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7152323" y="2732842"/>
            <a:ext cx="2782729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lang="en-US" sz="2200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Definición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7152323" y="3231475"/>
            <a:ext cx="2782729" cy="1480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La memoria RAM </a:t>
            </a:r>
            <a:r>
              <a:rPr lang="en-US" sz="1900">
                <a:solidFill>
                  <a:srgbClr val="E2E6E9"/>
                </a:solidFill>
              </a:rPr>
              <a:t>son</a:t>
            </a:r>
            <a:r>
              <a:rPr lang="en-US" sz="1900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 dispositivo de alamcenamiento de informaciónde tipo volatil  </a:t>
            </a:r>
            <a:r>
              <a:rPr lang="en-US" sz="1900">
                <a:solidFill>
                  <a:srgbClr val="E2E6E9"/>
                </a:solidFill>
              </a:rPr>
              <a:t>donde el acceso a sus datos es de tipo </a:t>
            </a:r>
            <a:r>
              <a:rPr lang="en-US" sz="1900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 aleatorio.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0181868" y="2732842"/>
            <a:ext cx="555308" cy="555308"/>
          </a:xfrm>
          <a:prstGeom prst="roundRect">
            <a:avLst>
              <a:gd fmla="val 6667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10361890" y="2842141"/>
            <a:ext cx="195263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650"/>
              <a:buFont typeface="Montserrat"/>
              <a:buNone/>
            </a:pPr>
            <a:r>
              <a:rPr b="1" lang="en-US" sz="2650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10983992" y="2732842"/>
            <a:ext cx="2782729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lang="en-US" sz="2200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Características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0983992" y="3231475"/>
            <a:ext cx="2782729" cy="185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Lectura y escritura rápidas, volatilidad (datos se pierden al apagar) y uso en computadoras y dispositivos</a:t>
            </a:r>
            <a:r>
              <a:rPr lang="en-US" sz="1900">
                <a:solidFill>
                  <a:srgbClr val="E2E6E9"/>
                </a:solidFill>
              </a:rPr>
              <a:t> programables.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6350148" y="6991647"/>
            <a:ext cx="555300" cy="555300"/>
          </a:xfrm>
          <a:prstGeom prst="roundRect">
            <a:avLst>
              <a:gd fmla="val 6667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3</a:t>
            </a:r>
            <a:endParaRPr sz="3000"/>
          </a:p>
        </p:txBody>
      </p:sp>
      <p:sp>
        <p:nvSpPr>
          <p:cNvPr id="175" name="Google Shape;175;p8"/>
          <p:cNvSpPr/>
          <p:nvPr/>
        </p:nvSpPr>
        <p:spPr>
          <a:xfrm>
            <a:off x="6529864" y="5716072"/>
            <a:ext cx="195858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650"/>
              <a:buFont typeface="Montserrat"/>
              <a:buNone/>
            </a:pPr>
            <a:r>
              <a:t/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7141186" y="6411197"/>
            <a:ext cx="28050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lang="en-US" sz="2200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Tipos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7152336" y="6991656"/>
            <a:ext cx="66144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SRAM, DRAM, SDRAM, DDR SDRAM y otras variantes de memoria RAM.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3" name="Google Shape;1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91024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9"/>
          <p:cNvSpPr/>
          <p:nvPr/>
        </p:nvSpPr>
        <p:spPr>
          <a:xfrm>
            <a:off x="814864" y="3550444"/>
            <a:ext cx="10479643" cy="661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50"/>
              <a:buFont typeface="Montserrat"/>
              <a:buNone/>
            </a:pPr>
            <a:r>
              <a:rPr b="1" lang="en-US" sz="41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Aplicaciones de  Registros Digitales</a:t>
            </a:r>
            <a:endParaRPr sz="4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5" name="Google Shape;18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4864" y="4561046"/>
            <a:ext cx="4333518" cy="93118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9"/>
          <p:cNvSpPr/>
          <p:nvPr/>
        </p:nvSpPr>
        <p:spPr>
          <a:xfrm>
            <a:off x="1047631" y="5841444"/>
            <a:ext cx="3339584" cy="330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050"/>
              <a:buFont typeface="Montserrat"/>
              <a:buNone/>
            </a:pPr>
            <a:r>
              <a:rPr b="1" lang="en-US" sz="2050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Procesamiento de Datos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1047606" y="6625066"/>
            <a:ext cx="3867900" cy="10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Los registros almacenan y transfieren datos en CPUs, DSPs y microcontroladores.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8" name="Google Shape;18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48382" y="4561046"/>
            <a:ext cx="4333518" cy="931188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9"/>
          <p:cNvSpPr/>
          <p:nvPr/>
        </p:nvSpPr>
        <p:spPr>
          <a:xfrm>
            <a:off x="5381149" y="5841444"/>
            <a:ext cx="2721769" cy="330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050"/>
              <a:buFont typeface="Montserrat"/>
              <a:buNone/>
            </a:pPr>
            <a:r>
              <a:rPr b="1" lang="en-US" sz="2050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Sistemas de Control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5381099" y="6625079"/>
            <a:ext cx="3867900" cy="10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Los registros controlan y sincronizan el flujo de instrucciones y señales en sistemas de automatización.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1" name="Google Shape;19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81899" y="4561046"/>
            <a:ext cx="4333518" cy="931188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9"/>
          <p:cNvSpPr/>
          <p:nvPr/>
        </p:nvSpPr>
        <p:spPr>
          <a:xfrm>
            <a:off x="9714667" y="5841444"/>
            <a:ext cx="3543776" cy="330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050"/>
              <a:buFont typeface="Montserrat"/>
              <a:buNone/>
            </a:pPr>
            <a:r>
              <a:rPr b="1" lang="en-US" sz="2050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Comunicaciones Digitales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9714592" y="6625079"/>
            <a:ext cx="3867900" cy="10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Los registros manejan la transmisión y recepción de datos en redes y dispositivos de comunicación.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IVERSIDAD NACIONAL DE INGENIERIA.FACULTAD DE ELECTROTECNIA Y  COMPUTACION.Electrónica Digital II.U" id="194" name="Google Shape;194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69712" y="341959"/>
            <a:ext cx="7051099" cy="2215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0" name="Google Shape;20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0"/>
          <p:cNvSpPr/>
          <p:nvPr/>
        </p:nvSpPr>
        <p:spPr>
          <a:xfrm>
            <a:off x="6350198" y="2488049"/>
            <a:ext cx="7416403" cy="14025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ontserrat"/>
              <a:buNone/>
            </a:pPr>
            <a:r>
              <a:rPr b="1" lang="en-US" sz="4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Conclusiones y Preguntas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6350198" y="4260771"/>
            <a:ext cx="7416403" cy="1480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En resumen, los registros digitales son componentes esenciales en el diseño de sistemas electrónicos modernos. Se han explorado sus conceptos básicos, los diferentes tipos de registros y sus aplicaciones en diversas áreas. ¿Dudas?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2024-11-04T15:00:26Z</dcterms:created>
  <dc:creator>PptxGenJS</dc:creator>
</cp:coreProperties>
</file>