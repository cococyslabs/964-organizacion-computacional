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4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entury Gothic" panose="020B0502020202020204" pitchFamily="34" charset="0"/>
      <p:regular r:id="rId13"/>
      <p:bold r:id="rId14"/>
      <p:italic r:id="rId15"/>
      <p:boldItalic r:id="rId16"/>
    </p:embeddedFont>
    <p:embeddedFont>
      <p:font typeface="Fira Sans" panose="020B0503050000020004" pitchFamily="34" charset="0"/>
      <p:regular r:id="rId17"/>
      <p:bold r:id="rId18"/>
    </p:embeddedFont>
    <p:embeddedFont>
      <p:font typeface="Inconsolata Bold" pitchFamily="1" charset="0"/>
      <p:bold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904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ctrTitle"/>
          </p:nvPr>
        </p:nvSpPr>
        <p:spPr>
          <a:xfrm>
            <a:off x="1645920" y="2164086"/>
            <a:ext cx="11338560" cy="2190115"/>
          </a:xfrm>
        </p:spPr>
        <p:txBody>
          <a:bodyPr anchor="b">
            <a:normAutofit/>
          </a:bodyPr>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1645920" y="4358641"/>
            <a:ext cx="11338560" cy="822960"/>
          </a:xfrm>
        </p:spPr>
        <p:txBody>
          <a:bodyPr>
            <a:normAutofit/>
          </a:bodyPr>
          <a:lstStyle>
            <a:lvl1pPr marL="0" indent="0" algn="l">
              <a:buNone/>
              <a:defRPr sz="240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9491473" y="5177194"/>
            <a:ext cx="3493008" cy="449570"/>
          </a:xfrm>
        </p:spPr>
        <p:txBody>
          <a:bodyPr/>
          <a:lstStyle/>
          <a:p>
            <a:fld id="{5923F103-BC34-4FE4-A40E-EDDEECFDA5D0}" type="datetimeFigureOut">
              <a:rPr lang="en-US" smtClean="0"/>
              <a:pPr/>
              <a:t>11/5/2024</a:t>
            </a:fld>
            <a:endParaRPr lang="en-US" dirty="0"/>
          </a:p>
        </p:txBody>
      </p:sp>
      <p:sp>
        <p:nvSpPr>
          <p:cNvPr id="5" name="Footer Placeholder 4"/>
          <p:cNvSpPr>
            <a:spLocks noGrp="1"/>
          </p:cNvSpPr>
          <p:nvPr>
            <p:ph type="ftr" sz="quarter" idx="11"/>
          </p:nvPr>
        </p:nvSpPr>
        <p:spPr>
          <a:xfrm>
            <a:off x="1645920" y="5188615"/>
            <a:ext cx="7680960" cy="438150"/>
          </a:xfrm>
        </p:spPr>
        <p:txBody>
          <a:bodyPr/>
          <a:lstStyle/>
          <a:p>
            <a:r>
              <a:rPr lang="en-US"/>
              <a:t>
              </a:t>
            </a:r>
            <a:endParaRPr lang="en-US" dirty="0"/>
          </a:p>
        </p:txBody>
      </p:sp>
      <p:sp>
        <p:nvSpPr>
          <p:cNvPr id="6" name="Slide Number Placeholder 5"/>
          <p:cNvSpPr>
            <a:spLocks noGrp="1"/>
          </p:cNvSpPr>
          <p:nvPr>
            <p:ph type="sldNum" sz="quarter" idx="12"/>
          </p:nvPr>
        </p:nvSpPr>
        <p:spPr>
          <a:xfrm>
            <a:off x="9692640" y="1717040"/>
            <a:ext cx="3291840" cy="43815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141669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11/5/2024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26611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822961" y="904240"/>
            <a:ext cx="12984479" cy="3362322"/>
          </a:xfrm>
        </p:spPr>
        <p:txBody>
          <a:bodyPr anchor="b">
            <a:normAutofit/>
          </a:bodyPr>
          <a:lstStyle>
            <a:lvl1pPr algn="r">
              <a:defRPr sz="4800"/>
            </a:lvl1pPr>
          </a:lstStyle>
          <a:p>
            <a:r>
              <a:rPr lang="en-US"/>
              <a:t>Click to edit Master title style</a:t>
            </a:r>
            <a:endParaRPr lang="en-US" dirty="0"/>
          </a:p>
        </p:txBody>
      </p:sp>
      <p:sp>
        <p:nvSpPr>
          <p:cNvPr id="3" name="Text Placeholder 2"/>
          <p:cNvSpPr>
            <a:spLocks noGrp="1"/>
          </p:cNvSpPr>
          <p:nvPr>
            <p:ph type="body" idx="1"/>
          </p:nvPr>
        </p:nvSpPr>
        <p:spPr>
          <a:xfrm>
            <a:off x="1229360" y="4370071"/>
            <a:ext cx="12588240" cy="1146810"/>
          </a:xfrm>
        </p:spPr>
        <p:txBody>
          <a:bodyPr>
            <a:normAutofit/>
          </a:bodyPr>
          <a:lstStyle>
            <a:lvl1pPr marL="0" indent="0" algn="r">
              <a:buNone/>
              <a:defRPr sz="264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377342" y="457201"/>
            <a:ext cx="3493008" cy="438150"/>
          </a:xfrm>
        </p:spPr>
        <p:txBody>
          <a:bodyPr/>
          <a:lstStyle>
            <a:lvl1pPr algn="r">
              <a:defRPr/>
            </a:lvl1pPr>
          </a:lstStyle>
          <a:p>
            <a:fld id="{F34E6425-0181-43F2-84FC-787E803FD2F8}" type="datetimeFigureOut">
              <a:rPr lang="en-US" smtClean="0"/>
              <a:t>11/5/2024</a:t>
            </a:fld>
            <a:endParaRPr lang="en-US" dirty="0"/>
          </a:p>
        </p:txBody>
      </p:sp>
      <p:sp>
        <p:nvSpPr>
          <p:cNvPr id="5" name="Footer Placeholder 4"/>
          <p:cNvSpPr>
            <a:spLocks noGrp="1"/>
          </p:cNvSpPr>
          <p:nvPr>
            <p:ph type="ftr" sz="quarter" idx="11"/>
          </p:nvPr>
        </p:nvSpPr>
        <p:spPr>
          <a:xfrm>
            <a:off x="822960" y="457202"/>
            <a:ext cx="8389790" cy="436878"/>
          </a:xfrm>
        </p:spPr>
        <p:txBody>
          <a:bodyPr/>
          <a:lstStyle/>
          <a:p>
            <a:r>
              <a:rPr lang="en-US"/>
              <a:t>
              </a:t>
            </a:r>
            <a:endParaRPr lang="en-US" dirty="0"/>
          </a:p>
        </p:txBody>
      </p:sp>
      <p:sp>
        <p:nvSpPr>
          <p:cNvPr id="6" name="Slide Number Placeholder 5"/>
          <p:cNvSpPr>
            <a:spLocks noGrp="1"/>
          </p:cNvSpPr>
          <p:nvPr>
            <p:ph type="sldNum" sz="quarter" idx="12"/>
          </p:nvPr>
        </p:nvSpPr>
        <p:spPr>
          <a:xfrm>
            <a:off x="13034942" y="457201"/>
            <a:ext cx="772498" cy="43815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4087399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2633471"/>
            <a:ext cx="6400800" cy="4828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633471"/>
            <a:ext cx="6400800" cy="4828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11/5/2024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31246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74720" y="914400"/>
            <a:ext cx="10332720" cy="155448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91" y="2620563"/>
            <a:ext cx="6095989" cy="988694"/>
          </a:xfrm>
        </p:spPr>
        <p:txBody>
          <a:bodyPr anchor="b">
            <a:norm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22961" y="3759200"/>
            <a:ext cx="6374130" cy="3703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80960" y="2620563"/>
            <a:ext cx="6126480" cy="988694"/>
          </a:xfrm>
        </p:spPr>
        <p:txBody>
          <a:bodyPr anchor="b">
            <a:norm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759200"/>
            <a:ext cx="6400800" cy="3703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11/5/2024</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6801971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11/5/2024</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80254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11/5/2024</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00610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1828800"/>
            <a:ext cx="4937760" cy="1920240"/>
          </a:xfrm>
        </p:spPr>
        <p:txBody>
          <a:bodyPr anchor="b"/>
          <a:lstStyle>
            <a:lvl1pPr algn="l">
              <a:defRPr sz="3840"/>
            </a:lvl1pPr>
          </a:lstStyle>
          <a:p>
            <a:r>
              <a:rPr lang="en-US"/>
              <a:t>Click to edit Master title style</a:t>
            </a:r>
            <a:endParaRPr lang="en-US" dirty="0"/>
          </a:p>
        </p:txBody>
      </p:sp>
      <p:sp>
        <p:nvSpPr>
          <p:cNvPr id="3" name="Content Placeholder 2"/>
          <p:cNvSpPr>
            <a:spLocks noGrp="1"/>
          </p:cNvSpPr>
          <p:nvPr>
            <p:ph idx="1"/>
          </p:nvPr>
        </p:nvSpPr>
        <p:spPr>
          <a:xfrm>
            <a:off x="5994698" y="896111"/>
            <a:ext cx="7812742" cy="656631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2960" y="3749039"/>
            <a:ext cx="4937760" cy="3713382"/>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11/5/2024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433688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1828800"/>
            <a:ext cx="8247888" cy="1920240"/>
          </a:xfrm>
        </p:spPr>
        <p:txBody>
          <a:bodyPr anchor="b"/>
          <a:lstStyle>
            <a:lvl1pPr algn="l">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9433486" y="901490"/>
            <a:ext cx="4373954" cy="6560932"/>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822960" y="3749039"/>
            <a:ext cx="8247888" cy="3713382"/>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11/5/2024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48785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32" y="5636833"/>
            <a:ext cx="12986441" cy="983226"/>
          </a:xfrm>
        </p:spPr>
        <p:txBody>
          <a:bodyPr anchor="b"/>
          <a:lstStyle>
            <a:lvl1pPr algn="l">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8072" y="1129728"/>
            <a:ext cx="12986208" cy="4173793"/>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822960" y="6620059"/>
            <a:ext cx="12984480" cy="842363"/>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smtClean="0"/>
              <a:t>11/5/2024</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227135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822960" y="904239"/>
            <a:ext cx="12984480" cy="3362960"/>
          </a:xfrm>
        </p:spPr>
        <p:txBody>
          <a:bodyPr anchor="ctr"/>
          <a:lstStyle>
            <a:lvl1pPr algn="l">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229361" y="4378960"/>
            <a:ext cx="12156619" cy="1198880"/>
          </a:xfrm>
        </p:spPr>
        <p:txBody>
          <a:bodyPr anchor="ct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9377342" y="457201"/>
            <a:ext cx="3493008" cy="438150"/>
          </a:xfrm>
        </p:spPr>
        <p:txBody>
          <a:bodyPr/>
          <a:lstStyle>
            <a:lvl1pPr algn="r">
              <a:defRPr/>
            </a:lvl1pPr>
          </a:lstStyle>
          <a:p>
            <a:fld id="{AFF16868-8199-4C2C-A5B1-63AEE139F88E}" type="datetimeFigureOut">
              <a:rPr lang="en-US" smtClean="0"/>
              <a:t>11/5/2024</a:t>
            </a:fld>
            <a:endParaRPr lang="en-US" dirty="0"/>
          </a:p>
        </p:txBody>
      </p:sp>
      <p:sp>
        <p:nvSpPr>
          <p:cNvPr id="6" name="Footer Placeholder 5"/>
          <p:cNvSpPr>
            <a:spLocks noGrp="1"/>
          </p:cNvSpPr>
          <p:nvPr>
            <p:ph type="ftr" sz="quarter" idx="11"/>
          </p:nvPr>
        </p:nvSpPr>
        <p:spPr>
          <a:xfrm>
            <a:off x="822960" y="455930"/>
            <a:ext cx="8389790" cy="438150"/>
          </a:xfrm>
        </p:spPr>
        <p:txBody>
          <a:bodyPr/>
          <a:lstStyle/>
          <a:p>
            <a:r>
              <a:rPr lang="en-US"/>
              <a:t>
              </a:t>
            </a:r>
            <a:endParaRPr lang="en-US" dirty="0"/>
          </a:p>
        </p:txBody>
      </p:sp>
      <p:sp>
        <p:nvSpPr>
          <p:cNvPr id="7" name="Slide Number Placeholder 6"/>
          <p:cNvSpPr>
            <a:spLocks noGrp="1"/>
          </p:cNvSpPr>
          <p:nvPr>
            <p:ph type="sldNum" sz="quarter" idx="12"/>
          </p:nvPr>
        </p:nvSpPr>
        <p:spPr>
          <a:xfrm>
            <a:off x="13034942" y="457201"/>
            <a:ext cx="772498" cy="43815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136518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1229361" y="904240"/>
            <a:ext cx="12181840" cy="3125394"/>
          </a:xfrm>
        </p:spPr>
        <p:txBody>
          <a:bodyPr anchor="ctr"/>
          <a:lstStyle>
            <a:lvl1pPr algn="l">
              <a:defRPr sz="3840"/>
            </a:lvl1pPr>
          </a:lstStyle>
          <a:p>
            <a:r>
              <a:rPr lang="en-US"/>
              <a:t>Click to edit Master title style</a:t>
            </a:r>
            <a:endParaRPr lang="en-US" dirty="0"/>
          </a:p>
        </p:txBody>
      </p:sp>
      <p:sp>
        <p:nvSpPr>
          <p:cNvPr id="12" name="Text Placeholder 3"/>
          <p:cNvSpPr>
            <a:spLocks noGrp="1"/>
          </p:cNvSpPr>
          <p:nvPr>
            <p:ph type="body" sz="half" idx="13"/>
          </p:nvPr>
        </p:nvSpPr>
        <p:spPr>
          <a:xfrm>
            <a:off x="1564638" y="4038668"/>
            <a:ext cx="11511283" cy="533332"/>
          </a:xfrm>
        </p:spPr>
        <p:txBody>
          <a:bodyPr anchor="t">
            <a:normAutofit/>
          </a:bodyPr>
          <a:lstStyle>
            <a:lvl1pPr marL="0" indent="0">
              <a:buNone/>
              <a:defRPr sz="16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4" name="Text Placeholder 3"/>
          <p:cNvSpPr>
            <a:spLocks noGrp="1"/>
          </p:cNvSpPr>
          <p:nvPr>
            <p:ph type="body" sz="half" idx="2"/>
          </p:nvPr>
        </p:nvSpPr>
        <p:spPr>
          <a:xfrm>
            <a:off x="1229361" y="4751835"/>
            <a:ext cx="12181840" cy="815845"/>
          </a:xfrm>
        </p:spPr>
        <p:txBody>
          <a:bodyPr anchor="ctr">
            <a:normAutofit/>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9377342" y="457201"/>
            <a:ext cx="3493008" cy="438150"/>
          </a:xfrm>
        </p:spPr>
        <p:txBody>
          <a:bodyPr/>
          <a:lstStyle>
            <a:lvl1pPr algn="r">
              <a:defRPr/>
            </a:lvl1pPr>
          </a:lstStyle>
          <a:p>
            <a:fld id="{AAD9FF7F-6988-44CC-821B-644E70CD2F73}" type="datetimeFigureOut">
              <a:rPr lang="en-US" smtClean="0"/>
              <a:t>11/5/2024</a:t>
            </a:fld>
            <a:endParaRPr lang="en-US" dirty="0"/>
          </a:p>
        </p:txBody>
      </p:sp>
      <p:sp>
        <p:nvSpPr>
          <p:cNvPr id="6" name="Footer Placeholder 5"/>
          <p:cNvSpPr>
            <a:spLocks noGrp="1"/>
          </p:cNvSpPr>
          <p:nvPr>
            <p:ph type="ftr" sz="quarter" idx="11"/>
          </p:nvPr>
        </p:nvSpPr>
        <p:spPr>
          <a:xfrm>
            <a:off x="822960" y="455930"/>
            <a:ext cx="8389790" cy="438150"/>
          </a:xfrm>
        </p:spPr>
        <p:txBody>
          <a:bodyPr/>
          <a:lstStyle/>
          <a:p>
            <a:r>
              <a:rPr lang="en-US"/>
              <a:t>
              </a:t>
            </a:r>
            <a:endParaRPr lang="en-US" dirty="0"/>
          </a:p>
        </p:txBody>
      </p:sp>
      <p:sp>
        <p:nvSpPr>
          <p:cNvPr id="7" name="Slide Number Placeholder 6"/>
          <p:cNvSpPr>
            <a:spLocks noGrp="1"/>
          </p:cNvSpPr>
          <p:nvPr>
            <p:ph type="sldNum" sz="quarter" idx="12"/>
          </p:nvPr>
        </p:nvSpPr>
        <p:spPr>
          <a:xfrm>
            <a:off x="13034942" y="457201"/>
            <a:ext cx="772498" cy="438150"/>
          </a:xfrm>
        </p:spPr>
        <p:txBody>
          <a:bodyPr/>
          <a:lstStyle/>
          <a:p>
            <a:fld id="{D57F1E4F-1CFF-5643-939E-217C01CDF565}" type="slidenum">
              <a:rPr lang="en-US" smtClean="0"/>
              <a:pPr/>
              <a:t>‹#›</a:t>
            </a:fld>
            <a:endParaRPr lang="en-US" dirty="0"/>
          </a:p>
        </p:txBody>
      </p:sp>
      <p:sp>
        <p:nvSpPr>
          <p:cNvPr id="9" name="TextBox 8"/>
          <p:cNvSpPr txBox="1"/>
          <p:nvPr/>
        </p:nvSpPr>
        <p:spPr>
          <a:xfrm>
            <a:off x="571500" y="11201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tx1"/>
                </a:solidFill>
                <a:effectLst/>
              </a:rPr>
              <a:t>“</a:t>
            </a:r>
          </a:p>
        </p:txBody>
      </p:sp>
      <p:sp>
        <p:nvSpPr>
          <p:cNvPr id="10" name="TextBox 9"/>
          <p:cNvSpPr txBox="1"/>
          <p:nvPr/>
        </p:nvSpPr>
        <p:spPr>
          <a:xfrm>
            <a:off x="13181076" y="3241548"/>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Tree>
    <p:extLst>
      <p:ext uri="{BB962C8B-B14F-4D97-AF65-F5344CB8AC3E}">
        <p14:creationId xmlns:p14="http://schemas.microsoft.com/office/powerpoint/2010/main" val="214793234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1229394" y="1349642"/>
            <a:ext cx="12175423" cy="3014202"/>
          </a:xfrm>
        </p:spPr>
        <p:txBody>
          <a:bodyPr anchor="b"/>
          <a:lstStyle>
            <a:lvl1pPr algn="l">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229360" y="4377979"/>
            <a:ext cx="12173585" cy="1199862"/>
          </a:xfrm>
        </p:spPr>
        <p:txBody>
          <a:bodyPr anchor="t"/>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9377342" y="454660"/>
            <a:ext cx="3493008" cy="438150"/>
          </a:xfrm>
        </p:spPr>
        <p:txBody>
          <a:bodyPr/>
          <a:lstStyle>
            <a:lvl1pPr algn="r">
              <a:defRPr/>
            </a:lvl1pPr>
          </a:lstStyle>
          <a:p>
            <a:fld id="{2BE451C3-0FF4-47C4-B829-773ADF60F88C}" type="datetimeFigureOut">
              <a:rPr lang="en-US" smtClean="0"/>
              <a:t>11/5/2024</a:t>
            </a:fld>
            <a:endParaRPr lang="en-US" dirty="0"/>
          </a:p>
        </p:txBody>
      </p:sp>
      <p:sp>
        <p:nvSpPr>
          <p:cNvPr id="6" name="Footer Placeholder 5"/>
          <p:cNvSpPr>
            <a:spLocks noGrp="1"/>
          </p:cNvSpPr>
          <p:nvPr>
            <p:ph type="ftr" sz="quarter" idx="11"/>
          </p:nvPr>
        </p:nvSpPr>
        <p:spPr>
          <a:xfrm>
            <a:off x="822960" y="454660"/>
            <a:ext cx="8389790" cy="438150"/>
          </a:xfrm>
        </p:spPr>
        <p:txBody>
          <a:bodyPr/>
          <a:lstStyle/>
          <a:p>
            <a:r>
              <a:rPr lang="en-US"/>
              <a:t>
              </a:t>
            </a:r>
            <a:endParaRPr lang="en-US" dirty="0"/>
          </a:p>
        </p:txBody>
      </p:sp>
      <p:sp>
        <p:nvSpPr>
          <p:cNvPr id="7" name="Slide Number Placeholder 6"/>
          <p:cNvSpPr>
            <a:spLocks noGrp="1"/>
          </p:cNvSpPr>
          <p:nvPr>
            <p:ph type="sldNum" sz="quarter" idx="12"/>
          </p:nvPr>
        </p:nvSpPr>
        <p:spPr>
          <a:xfrm>
            <a:off x="13034942" y="457201"/>
            <a:ext cx="772498" cy="43815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145448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474721" y="914400"/>
            <a:ext cx="10332719" cy="156464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22960" y="2642496"/>
            <a:ext cx="4147718" cy="740784"/>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8" name="Text Placeholder 3"/>
          <p:cNvSpPr>
            <a:spLocks noGrp="1"/>
          </p:cNvSpPr>
          <p:nvPr>
            <p:ph type="body" sz="half" idx="15"/>
          </p:nvPr>
        </p:nvSpPr>
        <p:spPr>
          <a:xfrm>
            <a:off x="822959" y="3485478"/>
            <a:ext cx="4147718" cy="3976958"/>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9" name="Text Placeholder 4"/>
          <p:cNvSpPr>
            <a:spLocks noGrp="1"/>
          </p:cNvSpPr>
          <p:nvPr>
            <p:ph type="body" sz="quarter" idx="3"/>
          </p:nvPr>
        </p:nvSpPr>
        <p:spPr>
          <a:xfrm>
            <a:off x="5242560" y="2641600"/>
            <a:ext cx="4147718" cy="751841"/>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0" name="Text Placeholder 3"/>
          <p:cNvSpPr>
            <a:spLocks noGrp="1"/>
          </p:cNvSpPr>
          <p:nvPr>
            <p:ph type="body" sz="half" idx="16"/>
          </p:nvPr>
        </p:nvSpPr>
        <p:spPr>
          <a:xfrm>
            <a:off x="5240230" y="3484880"/>
            <a:ext cx="4147718" cy="3977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1" name="Text Placeholder 4"/>
          <p:cNvSpPr>
            <a:spLocks noGrp="1"/>
          </p:cNvSpPr>
          <p:nvPr>
            <p:ph type="body" sz="quarter" idx="13"/>
          </p:nvPr>
        </p:nvSpPr>
        <p:spPr>
          <a:xfrm>
            <a:off x="9662160" y="2631439"/>
            <a:ext cx="4147718" cy="751841"/>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Text Placeholder 3"/>
          <p:cNvSpPr>
            <a:spLocks noGrp="1"/>
          </p:cNvSpPr>
          <p:nvPr>
            <p:ph type="body" sz="half" idx="17"/>
          </p:nvPr>
        </p:nvSpPr>
        <p:spPr>
          <a:xfrm>
            <a:off x="9662161" y="3485478"/>
            <a:ext cx="4147718" cy="3976958"/>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9FE86839-B9D8-4651-8783-F325ECE74E65}" type="datetimeFigureOut">
              <a:rPr lang="en-US" smtClean="0"/>
              <a:t>11/5/2024</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932426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3474721" y="914400"/>
            <a:ext cx="10332719" cy="155448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26342" y="5029201"/>
            <a:ext cx="4141898" cy="819318"/>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Picture Placeholder 2"/>
          <p:cNvSpPr>
            <a:spLocks noGrp="1" noChangeAspect="1"/>
          </p:cNvSpPr>
          <p:nvPr>
            <p:ph type="pic" idx="15"/>
          </p:nvPr>
        </p:nvSpPr>
        <p:spPr>
          <a:xfrm>
            <a:off x="826342" y="2834640"/>
            <a:ext cx="4141898" cy="18288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1" name="Text Placeholder 3"/>
          <p:cNvSpPr>
            <a:spLocks noGrp="1"/>
          </p:cNvSpPr>
          <p:nvPr>
            <p:ph type="body" sz="half" idx="18"/>
          </p:nvPr>
        </p:nvSpPr>
        <p:spPr>
          <a:xfrm>
            <a:off x="826342" y="5848518"/>
            <a:ext cx="4141898" cy="1613905"/>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2" name="Text Placeholder 4"/>
          <p:cNvSpPr>
            <a:spLocks noGrp="1"/>
          </p:cNvSpPr>
          <p:nvPr>
            <p:ph type="body" sz="quarter" idx="3"/>
          </p:nvPr>
        </p:nvSpPr>
        <p:spPr>
          <a:xfrm>
            <a:off x="5249116" y="5029201"/>
            <a:ext cx="4138722" cy="819318"/>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3" name="Picture Placeholder 2"/>
          <p:cNvSpPr>
            <a:spLocks noGrp="1" noChangeAspect="1"/>
          </p:cNvSpPr>
          <p:nvPr>
            <p:ph type="pic" idx="21"/>
          </p:nvPr>
        </p:nvSpPr>
        <p:spPr>
          <a:xfrm>
            <a:off x="5249116" y="2834640"/>
            <a:ext cx="4138723" cy="18288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19"/>
          </p:nvPr>
        </p:nvSpPr>
        <p:spPr>
          <a:xfrm>
            <a:off x="5249117" y="5848516"/>
            <a:ext cx="4138722" cy="1613905"/>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5" name="Text Placeholder 4"/>
          <p:cNvSpPr>
            <a:spLocks noGrp="1"/>
          </p:cNvSpPr>
          <p:nvPr>
            <p:ph type="body" sz="quarter" idx="13"/>
          </p:nvPr>
        </p:nvSpPr>
        <p:spPr>
          <a:xfrm>
            <a:off x="9659678" y="5029201"/>
            <a:ext cx="4147763" cy="819318"/>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6" name="Picture Placeholder 2"/>
          <p:cNvSpPr>
            <a:spLocks noGrp="1" noChangeAspect="1"/>
          </p:cNvSpPr>
          <p:nvPr>
            <p:ph type="pic" idx="22"/>
          </p:nvPr>
        </p:nvSpPr>
        <p:spPr>
          <a:xfrm>
            <a:off x="9659826" y="2834640"/>
            <a:ext cx="4137454" cy="18288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7" name="Text Placeholder 3"/>
          <p:cNvSpPr>
            <a:spLocks noGrp="1"/>
          </p:cNvSpPr>
          <p:nvPr>
            <p:ph type="body" sz="half" idx="20"/>
          </p:nvPr>
        </p:nvSpPr>
        <p:spPr>
          <a:xfrm>
            <a:off x="9659678" y="5848514"/>
            <a:ext cx="4142934" cy="1613905"/>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FD484F64-32F6-45C5-931F-ADC1662401D0}" type="datetimeFigureOut">
              <a:rPr lang="en-US" smtClean="0"/>
              <a:t>11/5/2024</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6316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22960" y="2633471"/>
            <a:ext cx="12984480" cy="48289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11/5/2024</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830945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Vertical Title 1"/>
          <p:cNvSpPr>
            <a:spLocks noGrp="1"/>
          </p:cNvSpPr>
          <p:nvPr>
            <p:ph type="title" orient="vert"/>
          </p:nvPr>
        </p:nvSpPr>
        <p:spPr>
          <a:xfrm>
            <a:off x="11338560" y="894080"/>
            <a:ext cx="2468880" cy="4683760"/>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229360" y="894081"/>
            <a:ext cx="9845041" cy="4683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377342" y="455930"/>
            <a:ext cx="3493008" cy="438150"/>
          </a:xfrm>
        </p:spPr>
        <p:txBody>
          <a:bodyPr/>
          <a:lstStyle>
            <a:lvl1pPr algn="r">
              <a:defRPr/>
            </a:lvl1pPr>
          </a:lstStyle>
          <a:p>
            <a:fld id="{CDA879A6-0FD0-4734-A311-86BFCA472E6E}" type="datetimeFigureOut">
              <a:rPr lang="en-US" smtClean="0"/>
              <a:t>11/5/2024</a:t>
            </a:fld>
            <a:endParaRPr lang="en-US" dirty="0"/>
          </a:p>
        </p:txBody>
      </p:sp>
      <p:sp>
        <p:nvSpPr>
          <p:cNvPr id="5" name="Footer Placeholder 4"/>
          <p:cNvSpPr>
            <a:spLocks noGrp="1"/>
          </p:cNvSpPr>
          <p:nvPr>
            <p:ph type="ftr" sz="quarter" idx="11"/>
          </p:nvPr>
        </p:nvSpPr>
        <p:spPr>
          <a:xfrm>
            <a:off x="822960" y="457201"/>
            <a:ext cx="8389790" cy="438150"/>
          </a:xfrm>
        </p:spPr>
        <p:txBody>
          <a:bodyPr/>
          <a:lstStyle/>
          <a:p>
            <a:r>
              <a:rPr lang="en-US"/>
              <a:t>
              </a:t>
            </a:r>
            <a:endParaRPr lang="en-US" dirty="0"/>
          </a:p>
        </p:txBody>
      </p:sp>
      <p:sp>
        <p:nvSpPr>
          <p:cNvPr id="6" name="Slide Number Placeholder 5"/>
          <p:cNvSpPr>
            <a:spLocks noGrp="1"/>
          </p:cNvSpPr>
          <p:nvPr>
            <p:ph type="sldNum" sz="quarter" idx="12"/>
          </p:nvPr>
        </p:nvSpPr>
        <p:spPr>
          <a:xfrm>
            <a:off x="13034942" y="457201"/>
            <a:ext cx="772498" cy="43815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720466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7865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75493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85461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0012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8607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7630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9289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12078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1815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9886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0" y="0"/>
            <a:ext cx="14630400" cy="1729740"/>
          </a:xfrm>
          <a:prstGeom prst="rect">
            <a:avLst/>
          </a:prstGeom>
        </p:spPr>
      </p:pic>
      <p:sp>
        <p:nvSpPr>
          <p:cNvPr id="2" name="Title Placeholder 1"/>
          <p:cNvSpPr>
            <a:spLocks noGrp="1"/>
          </p:cNvSpPr>
          <p:nvPr>
            <p:ph type="title"/>
          </p:nvPr>
        </p:nvSpPr>
        <p:spPr>
          <a:xfrm>
            <a:off x="3474720" y="917247"/>
            <a:ext cx="10332720" cy="155163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22960" y="2633473"/>
            <a:ext cx="12984480" cy="48289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14432" y="7627621"/>
            <a:ext cx="3493008" cy="438150"/>
          </a:xfrm>
          <a:prstGeom prst="rect">
            <a:avLst/>
          </a:prstGeom>
        </p:spPr>
        <p:txBody>
          <a:bodyPr vert="horz" lIns="91440" tIns="45720" rIns="91440" bIns="45720" rtlCol="0" anchor="ctr"/>
          <a:lstStyle>
            <a:lvl1pPr algn="r">
              <a:defRPr sz="1260">
                <a:solidFill>
                  <a:schemeClr val="tx1">
                    <a:tint val="75000"/>
                  </a:schemeClr>
                </a:solidFill>
              </a:defRPr>
            </a:lvl1pPr>
          </a:lstStyle>
          <a:p>
            <a:fld id="{2BE451C3-0FF4-47C4-B829-773ADF60F88C}" type="datetimeFigureOut">
              <a:rPr lang="en-US" smtClean="0"/>
              <a:t>11/5/2024</a:t>
            </a:fld>
            <a:endParaRPr lang="en-US" dirty="0"/>
          </a:p>
        </p:txBody>
      </p:sp>
      <p:sp>
        <p:nvSpPr>
          <p:cNvPr id="5" name="Footer Placeholder 4"/>
          <p:cNvSpPr>
            <a:spLocks noGrp="1"/>
          </p:cNvSpPr>
          <p:nvPr>
            <p:ph type="ftr" sz="quarter" idx="3"/>
          </p:nvPr>
        </p:nvSpPr>
        <p:spPr>
          <a:xfrm>
            <a:off x="822960" y="7627015"/>
            <a:ext cx="9326880" cy="438150"/>
          </a:xfrm>
          <a:prstGeom prst="rect">
            <a:avLst/>
          </a:prstGeom>
        </p:spPr>
        <p:txBody>
          <a:bodyPr vert="horz" lIns="91440" tIns="45720" rIns="91440" bIns="45720" rtlCol="0" anchor="ctr"/>
          <a:lstStyle>
            <a:lvl1pPr algn="l">
              <a:defRPr sz="126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0515600" y="457201"/>
            <a:ext cx="3291840" cy="438150"/>
          </a:xfrm>
          <a:prstGeom prst="rect">
            <a:avLst/>
          </a:prstGeom>
        </p:spPr>
        <p:txBody>
          <a:bodyPr vert="horz" lIns="91440" tIns="45720" rIns="91440" bIns="45720" rtlCol="0" anchor="ctr"/>
          <a:lstStyle>
            <a:lvl1pPr algn="r">
              <a:defRPr sz="126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979730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Lst>
  <p:hf sldNum="0" hdr="0" ftr="0" dt="0"/>
  <p:txStyles>
    <p:titleStyle>
      <a:lvl1pPr algn="r" defTabSz="1097280" rtl="0" eaLnBrk="1" latinLnBrk="0" hangingPunct="1">
        <a:lnSpc>
          <a:spcPct val="90000"/>
        </a:lnSpc>
        <a:spcBef>
          <a:spcPct val="0"/>
        </a:spcBef>
        <a:buNone/>
        <a:defRPr sz="4800" kern="1200" cap="all" baseline="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264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5.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4530"/>
            <a:ext cx="13042821" cy="1956435"/>
          </a:xfrm>
          <a:prstGeom prst="rect">
            <a:avLst/>
          </a:prstGeom>
          <a:noFill/>
          <a:ln/>
        </p:spPr>
        <p:txBody>
          <a:bodyPr wrap="square" lIns="0" tIns="0" rIns="0" bIns="0" rtlCol="0" anchor="t"/>
          <a:lstStyle/>
          <a:p>
            <a:pPr marL="0" indent="0">
              <a:lnSpc>
                <a:spcPts val="7700"/>
              </a:lnSpc>
              <a:buNone/>
            </a:pPr>
            <a:r>
              <a:rPr lang="en-US" sz="6150" b="1">
                <a:solidFill>
                  <a:srgbClr val="F94CAF"/>
                </a:solidFill>
                <a:latin typeface="Inconsolata Bold" pitchFamily="34" charset="0"/>
                <a:ea typeface="Inconsolata Bold" pitchFamily="34" charset="-122"/>
                <a:cs typeface="Inconsolata Bold" pitchFamily="34" charset="-120"/>
              </a:rPr>
              <a:t>Representación de Datos en una Computadora Digital</a:t>
            </a:r>
            <a:endParaRPr lang="en-US" sz="6150" dirty="0"/>
          </a:p>
        </p:txBody>
      </p:sp>
      <p:sp>
        <p:nvSpPr>
          <p:cNvPr id="3" name="Text 1"/>
          <p:cNvSpPr/>
          <p:nvPr/>
        </p:nvSpPr>
        <p:spPr>
          <a:xfrm>
            <a:off x="793790" y="3414593"/>
            <a:ext cx="13042821" cy="1814513"/>
          </a:xfrm>
          <a:prstGeom prst="rect">
            <a:avLst/>
          </a:prstGeom>
          <a:noFill/>
          <a:ln/>
        </p:spPr>
        <p:txBody>
          <a:bodyPr wrap="square" lIns="0" tIns="0" rIns="0" bIns="0" rtlCol="0" anchor="t"/>
          <a:lstStyle/>
          <a:p>
            <a:pPr marL="0" indent="0">
              <a:lnSpc>
                <a:spcPts val="2850"/>
              </a:lnSpc>
              <a:buNone/>
            </a:pPr>
            <a:r>
              <a:rPr lang="en-US" sz="1750">
                <a:solidFill>
                  <a:srgbClr val="DAD1E6"/>
                </a:solidFill>
                <a:latin typeface="Fira Sans" pitchFamily="34" charset="0"/>
                <a:ea typeface="Fira Sans" pitchFamily="34" charset="-122"/>
                <a:cs typeface="Fira Sans" pitchFamily="34" charset="-120"/>
              </a:rPr>
              <a:t>En el corazón de toda computadora digital yace un sistema complejo y fascinante de representación de datos. Este sistema permite que las máquinas procesen y almacenen información de manera eficiente, formando la base de toda la computación moderna. En este recorrido, exploraremos los fundamentos de cómo las computadoras digitales representan y manipulan datos, desde los sistemas numéricos básicos hasta los componentes electrónicos que hacen posible todo el procesamiento de información.</a:t>
            </a:r>
            <a:endParaRPr lang="en-US" sz="1750" dirty="0"/>
          </a:p>
        </p:txBody>
      </p:sp>
      <p:sp>
        <p:nvSpPr>
          <p:cNvPr id="4" name="Text 2"/>
          <p:cNvSpPr/>
          <p:nvPr/>
        </p:nvSpPr>
        <p:spPr>
          <a:xfrm>
            <a:off x="793790" y="5484257"/>
            <a:ext cx="13042821" cy="1088708"/>
          </a:xfrm>
          <a:prstGeom prst="rect">
            <a:avLst/>
          </a:prstGeom>
          <a:noFill/>
          <a:ln/>
        </p:spPr>
        <p:txBody>
          <a:bodyPr wrap="square" lIns="0" tIns="0" rIns="0" bIns="0" rtlCol="0" anchor="t"/>
          <a:lstStyle/>
          <a:p>
            <a:pPr marL="0" indent="0">
              <a:lnSpc>
                <a:spcPts val="2850"/>
              </a:lnSpc>
              <a:buNone/>
            </a:pPr>
            <a:r>
              <a:rPr lang="en-US" sz="1750">
                <a:solidFill>
                  <a:srgbClr val="DAD1E6"/>
                </a:solidFill>
                <a:latin typeface="Fira Sans" pitchFamily="34" charset="0"/>
                <a:ea typeface="Fira Sans" pitchFamily="34" charset="-122"/>
                <a:cs typeface="Fira Sans" pitchFamily="34" charset="-120"/>
              </a:rPr>
              <a:t>Comenzaremos examinando los sistemas numéricos posicionales y su importancia en la informática, para luego adentrarnos en los sistemas específicos utilizados en las computadoras. Analizaremos cómo se representan los números con signo y finalizaremos con una mirada a los componentes electrónicos que permiten estas operaciones a nivel hardware.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76407"/>
            <a:ext cx="8788122" cy="708779"/>
          </a:xfrm>
          <a:prstGeom prst="rect">
            <a:avLst/>
          </a:prstGeom>
          <a:noFill/>
          <a:ln/>
        </p:spPr>
        <p:txBody>
          <a:bodyPr wrap="none" lIns="0" tIns="0" rIns="0" bIns="0" rtlCol="0" anchor="t"/>
          <a:lstStyle/>
          <a:p>
            <a:pPr marL="0" indent="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Sistemas Numéricos Posicionales</a:t>
            </a:r>
            <a:endParaRPr lang="en-US" sz="4450" dirty="0"/>
          </a:p>
        </p:txBody>
      </p:sp>
      <p:sp>
        <p:nvSpPr>
          <p:cNvPr id="3" name="Text 1"/>
          <p:cNvSpPr/>
          <p:nvPr/>
        </p:nvSpPr>
        <p:spPr>
          <a:xfrm>
            <a:off x="793790" y="1938814"/>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Los sistemas numéricos posicionales son la base de la representación de datos en computadoras digitales. En estos sistemas, el valor de un dígito depende no solo de su símbolo, sino también de su posición en el número. El sistema decimal, que usamos en nuestra vida cotidiana, es un ejemplo perfecto de un sistema posicional con base 10.</a:t>
            </a:r>
            <a:endParaRPr lang="en-US" sz="1750" dirty="0"/>
          </a:p>
        </p:txBody>
      </p:sp>
      <p:sp>
        <p:nvSpPr>
          <p:cNvPr id="4" name="Text 2"/>
          <p:cNvSpPr/>
          <p:nvPr/>
        </p:nvSpPr>
        <p:spPr>
          <a:xfrm>
            <a:off x="793790" y="3282672"/>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En un sistema posicional, cada dígito se multiplica por una potencia de la base, determinada por su posición. Por ejemplo, en el número decimal 123, el 3 representa 3 unidades, el 2 representa 2 decenas (2 * 10^1), y el 1 representa 1 centena (1 * 10^2).</a:t>
            </a:r>
            <a:endParaRPr lang="en-US" sz="1750" dirty="0"/>
          </a:p>
        </p:txBody>
      </p:sp>
      <p:sp>
        <p:nvSpPr>
          <p:cNvPr id="5" name="Text 3"/>
          <p:cNvSpPr/>
          <p:nvPr/>
        </p:nvSpPr>
        <p:spPr>
          <a:xfrm>
            <a:off x="793790" y="4490442"/>
            <a:ext cx="3542228" cy="354330"/>
          </a:xfrm>
          <a:prstGeom prst="rect">
            <a:avLst/>
          </a:prstGeom>
          <a:noFill/>
          <a:ln/>
        </p:spPr>
        <p:txBody>
          <a:bodyPr wrap="none" lIns="0" tIns="0" rIns="0" bIns="0" rtlCol="0" anchor="t"/>
          <a:lstStyle/>
          <a:p>
            <a:pPr marL="0" indent="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Sistema Decimal (Base 10)</a:t>
            </a:r>
            <a:endParaRPr lang="en-US" sz="2200" dirty="0"/>
          </a:p>
        </p:txBody>
      </p:sp>
      <p:sp>
        <p:nvSpPr>
          <p:cNvPr id="6" name="Text 4"/>
          <p:cNvSpPr/>
          <p:nvPr/>
        </p:nvSpPr>
        <p:spPr>
          <a:xfrm>
            <a:off x="793790" y="5071586"/>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Utiliza dígitos del 0 al 9. Cada posición representa una potencia de 10. Es intuitivo para los humanos debido a nuestro uso diario.</a:t>
            </a:r>
            <a:endParaRPr lang="en-US" sz="1750" dirty="0"/>
          </a:p>
        </p:txBody>
      </p:sp>
      <p:sp>
        <p:nvSpPr>
          <p:cNvPr id="7" name="Text 5"/>
          <p:cNvSpPr/>
          <p:nvPr/>
        </p:nvSpPr>
        <p:spPr>
          <a:xfrm>
            <a:off x="5332928" y="4490442"/>
            <a:ext cx="3400544" cy="354330"/>
          </a:xfrm>
          <a:prstGeom prst="rect">
            <a:avLst/>
          </a:prstGeom>
          <a:noFill/>
          <a:ln/>
        </p:spPr>
        <p:txBody>
          <a:bodyPr wrap="none" lIns="0" tIns="0" rIns="0" bIns="0" rtlCol="0" anchor="t"/>
          <a:lstStyle/>
          <a:p>
            <a:pPr marL="0" indent="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Sistemas Computacionales</a:t>
            </a:r>
            <a:endParaRPr lang="en-US" sz="2200" dirty="0"/>
          </a:p>
        </p:txBody>
      </p:sp>
      <p:sp>
        <p:nvSpPr>
          <p:cNvPr id="8" name="Text 6"/>
          <p:cNvSpPr/>
          <p:nvPr/>
        </p:nvSpPr>
        <p:spPr>
          <a:xfrm>
            <a:off x="5332928" y="5071586"/>
            <a:ext cx="3978116" cy="217741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Las computadoras utilizan principalmente sistemas en base 2 (binario), 8 (octal) y 16 (hexadecimal). Estos sistemas facilitan la representación eficiente de datos en circuitos electrónicos.</a:t>
            </a:r>
            <a:endParaRPr lang="en-US" sz="1750" dirty="0"/>
          </a:p>
        </p:txBody>
      </p:sp>
      <p:sp>
        <p:nvSpPr>
          <p:cNvPr id="9" name="Text 7"/>
          <p:cNvSpPr/>
          <p:nvPr/>
        </p:nvSpPr>
        <p:spPr>
          <a:xfrm>
            <a:off x="9872067" y="4490442"/>
            <a:ext cx="3258860" cy="354330"/>
          </a:xfrm>
          <a:prstGeom prst="rect">
            <a:avLst/>
          </a:prstGeom>
          <a:noFill/>
          <a:ln/>
        </p:spPr>
        <p:txBody>
          <a:bodyPr wrap="none" lIns="0" tIns="0" rIns="0" bIns="0" rtlCol="0" anchor="t"/>
          <a:lstStyle/>
          <a:p>
            <a:pPr marL="0" indent="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Ventajas en Computación</a:t>
            </a:r>
            <a:endParaRPr lang="en-US" sz="2200" dirty="0"/>
          </a:p>
        </p:txBody>
      </p:sp>
      <p:sp>
        <p:nvSpPr>
          <p:cNvPr id="10" name="Text 8"/>
          <p:cNvSpPr/>
          <p:nvPr/>
        </p:nvSpPr>
        <p:spPr>
          <a:xfrm>
            <a:off x="9872067" y="5071586"/>
            <a:ext cx="3978116" cy="217741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Los sistemas posicionales permiten representar números grandes con pocos símbolos, facilitan operaciones aritméticas y permiten una conversión eficiente entre bases, crucial para el procesamiento de datos.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1148"/>
          </a:xfrm>
          <a:prstGeom prst="rect">
            <a:avLst/>
          </a:prstGeom>
        </p:spPr>
      </p:pic>
      <p:sp>
        <p:nvSpPr>
          <p:cNvPr id="3" name="Text 0"/>
          <p:cNvSpPr/>
          <p:nvPr/>
        </p:nvSpPr>
        <p:spPr>
          <a:xfrm>
            <a:off x="6054209" y="446127"/>
            <a:ext cx="4866442" cy="506968"/>
          </a:xfrm>
          <a:prstGeom prst="rect">
            <a:avLst/>
          </a:prstGeom>
          <a:noFill/>
          <a:ln/>
        </p:spPr>
        <p:txBody>
          <a:bodyPr wrap="none" lIns="0" tIns="0" rIns="0" bIns="0" rtlCol="0" anchor="t"/>
          <a:lstStyle/>
          <a:p>
            <a:pPr marL="0" indent="0">
              <a:lnSpc>
                <a:spcPts val="3950"/>
              </a:lnSpc>
              <a:buNone/>
            </a:pPr>
            <a:r>
              <a:rPr lang="en-US" sz="3150" b="1" dirty="0">
                <a:solidFill>
                  <a:srgbClr val="F94CAF"/>
                </a:solidFill>
                <a:latin typeface="Inconsolata Bold" pitchFamily="34" charset="0"/>
                <a:ea typeface="Inconsolata Bold" pitchFamily="34" charset="-122"/>
                <a:cs typeface="Inconsolata Bold" pitchFamily="34" charset="-120"/>
              </a:rPr>
              <a:t>Sistema Binario (Base 2)</a:t>
            </a:r>
            <a:endParaRPr lang="en-US" sz="3150" dirty="0"/>
          </a:p>
        </p:txBody>
      </p:sp>
      <p:sp>
        <p:nvSpPr>
          <p:cNvPr id="4" name="Text 1"/>
          <p:cNvSpPr/>
          <p:nvPr/>
        </p:nvSpPr>
        <p:spPr>
          <a:xfrm>
            <a:off x="6054209" y="1196340"/>
            <a:ext cx="8008382" cy="778669"/>
          </a:xfrm>
          <a:prstGeom prst="rect">
            <a:avLst/>
          </a:prstGeom>
          <a:noFill/>
          <a:ln/>
        </p:spPr>
        <p:txBody>
          <a:bodyPr wrap="square" lIns="0" tIns="0" rIns="0" bIns="0" rtlCol="0" anchor="t"/>
          <a:lstStyle/>
          <a:p>
            <a:pPr marL="0" indent="0">
              <a:lnSpc>
                <a:spcPts val="2000"/>
              </a:lnSpc>
              <a:buNone/>
            </a:pPr>
            <a:r>
              <a:rPr lang="en-US" sz="1250" dirty="0">
                <a:solidFill>
                  <a:srgbClr val="DAD1E6"/>
                </a:solidFill>
                <a:latin typeface="Fira Sans" pitchFamily="34" charset="0"/>
                <a:ea typeface="Fira Sans" pitchFamily="34" charset="-122"/>
                <a:cs typeface="Fira Sans" pitchFamily="34" charset="-120"/>
              </a:rPr>
              <a:t>El sistema binario es fundamental en la computación digital. Utiliza solo dos dígitos, 0 y 1, para representar todos los números y datos. Esta simplicidad lo hace ideal para implementar en circuitos electrónicos, donde los estados "encendido" y "apagado" pueden representar estos dos dígitos.</a:t>
            </a:r>
            <a:endParaRPr lang="en-US" sz="1250" dirty="0"/>
          </a:p>
        </p:txBody>
      </p:sp>
      <p:sp>
        <p:nvSpPr>
          <p:cNvPr id="5" name="Text 2"/>
          <p:cNvSpPr/>
          <p:nvPr/>
        </p:nvSpPr>
        <p:spPr>
          <a:xfrm>
            <a:off x="6054209" y="2157413"/>
            <a:ext cx="8008382" cy="519113"/>
          </a:xfrm>
          <a:prstGeom prst="rect">
            <a:avLst/>
          </a:prstGeom>
          <a:noFill/>
          <a:ln/>
        </p:spPr>
        <p:txBody>
          <a:bodyPr wrap="square" lIns="0" tIns="0" rIns="0" bIns="0" rtlCol="0" anchor="t"/>
          <a:lstStyle/>
          <a:p>
            <a:pPr marL="0" indent="0">
              <a:lnSpc>
                <a:spcPts val="2000"/>
              </a:lnSpc>
              <a:buNone/>
            </a:pPr>
            <a:r>
              <a:rPr lang="en-US" sz="1250" dirty="0">
                <a:solidFill>
                  <a:srgbClr val="DAD1E6"/>
                </a:solidFill>
                <a:latin typeface="Fira Sans" pitchFamily="34" charset="0"/>
                <a:ea typeface="Fira Sans" pitchFamily="34" charset="-122"/>
                <a:cs typeface="Fira Sans" pitchFamily="34" charset="-120"/>
              </a:rPr>
              <a:t>En binario, cada posición representa una potencia de 2. Por ejemplo, el número binario 1011 se interpreta como:</a:t>
            </a:r>
            <a:endParaRPr lang="en-US" sz="1250" dirty="0"/>
          </a:p>
        </p:txBody>
      </p:sp>
      <p:sp>
        <p:nvSpPr>
          <p:cNvPr id="6" name="Shape 3"/>
          <p:cNvSpPr/>
          <p:nvPr/>
        </p:nvSpPr>
        <p:spPr>
          <a:xfrm>
            <a:off x="6286024" y="2858929"/>
            <a:ext cx="22860" cy="4224576"/>
          </a:xfrm>
          <a:prstGeom prst="roundRect">
            <a:avLst>
              <a:gd name="adj" fmla="val 106457"/>
            </a:avLst>
          </a:prstGeom>
          <a:solidFill>
            <a:srgbClr val="5C4E69"/>
          </a:solidFill>
          <a:ln/>
        </p:spPr>
        <p:txBody>
          <a:bodyPr/>
          <a:lstStyle/>
          <a:p>
            <a:endParaRPr lang="en-US"/>
          </a:p>
        </p:txBody>
      </p:sp>
      <p:sp>
        <p:nvSpPr>
          <p:cNvPr id="7" name="Shape 4"/>
          <p:cNvSpPr/>
          <p:nvPr/>
        </p:nvSpPr>
        <p:spPr>
          <a:xfrm>
            <a:off x="6457057" y="3212306"/>
            <a:ext cx="567809" cy="22860"/>
          </a:xfrm>
          <a:prstGeom prst="roundRect">
            <a:avLst>
              <a:gd name="adj" fmla="val 106457"/>
            </a:avLst>
          </a:prstGeom>
          <a:solidFill>
            <a:srgbClr val="5C4E69"/>
          </a:solidFill>
          <a:ln/>
        </p:spPr>
        <p:txBody>
          <a:bodyPr/>
          <a:lstStyle/>
          <a:p>
            <a:endParaRPr lang="en-US"/>
          </a:p>
        </p:txBody>
      </p:sp>
      <p:sp>
        <p:nvSpPr>
          <p:cNvPr id="8" name="Shape 5"/>
          <p:cNvSpPr/>
          <p:nvPr/>
        </p:nvSpPr>
        <p:spPr>
          <a:xfrm>
            <a:off x="6114990" y="3041333"/>
            <a:ext cx="364927" cy="364927"/>
          </a:xfrm>
          <a:prstGeom prst="roundRect">
            <a:avLst>
              <a:gd name="adj" fmla="val 6669"/>
            </a:avLst>
          </a:prstGeom>
          <a:solidFill>
            <a:srgbClr val="433550"/>
          </a:solidFill>
          <a:ln/>
        </p:spPr>
        <p:txBody>
          <a:bodyPr/>
          <a:lstStyle/>
          <a:p>
            <a:endParaRPr lang="en-US"/>
          </a:p>
        </p:txBody>
      </p:sp>
      <p:sp>
        <p:nvSpPr>
          <p:cNvPr id="9" name="Text 6"/>
          <p:cNvSpPr/>
          <p:nvPr/>
        </p:nvSpPr>
        <p:spPr>
          <a:xfrm>
            <a:off x="6236553" y="3102054"/>
            <a:ext cx="121682" cy="243364"/>
          </a:xfrm>
          <a:prstGeom prst="rect">
            <a:avLst/>
          </a:prstGeom>
          <a:noFill/>
          <a:ln/>
        </p:spPr>
        <p:txBody>
          <a:bodyPr wrap="none" lIns="0" tIns="0" rIns="0" bIns="0" rtlCol="0" anchor="t"/>
          <a:lstStyle/>
          <a:p>
            <a:pPr marL="0" indent="0" algn="ctr">
              <a:lnSpc>
                <a:spcPts val="1900"/>
              </a:lnSpc>
              <a:buNone/>
            </a:pPr>
            <a:r>
              <a:rPr lang="en-US" sz="1900" b="1" dirty="0">
                <a:solidFill>
                  <a:srgbClr val="DAD1E6"/>
                </a:solidFill>
                <a:latin typeface="Inconsolata Bold" pitchFamily="34" charset="0"/>
                <a:ea typeface="Inconsolata Bold" pitchFamily="34" charset="-122"/>
                <a:cs typeface="Inconsolata Bold" pitchFamily="34" charset="-120"/>
              </a:rPr>
              <a:t>1</a:t>
            </a:r>
            <a:endParaRPr lang="en-US" sz="1900" dirty="0"/>
          </a:p>
        </p:txBody>
      </p:sp>
      <p:sp>
        <p:nvSpPr>
          <p:cNvPr id="10" name="Text 7"/>
          <p:cNvSpPr/>
          <p:nvPr/>
        </p:nvSpPr>
        <p:spPr>
          <a:xfrm>
            <a:off x="7189708" y="3021092"/>
            <a:ext cx="2331839" cy="253365"/>
          </a:xfrm>
          <a:prstGeom prst="rect">
            <a:avLst/>
          </a:prstGeom>
          <a:noFill/>
          <a:ln/>
        </p:spPr>
        <p:txBody>
          <a:bodyPr wrap="none" lIns="0" tIns="0" rIns="0" bIns="0" rtlCol="0" anchor="t"/>
          <a:lstStyle/>
          <a:p>
            <a:pPr marL="0" indent="0" algn="l">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Bit menos significativo</a:t>
            </a:r>
            <a:endParaRPr lang="en-US" sz="1550" dirty="0"/>
          </a:p>
        </p:txBody>
      </p:sp>
      <p:sp>
        <p:nvSpPr>
          <p:cNvPr id="11" name="Text 8"/>
          <p:cNvSpPr/>
          <p:nvPr/>
        </p:nvSpPr>
        <p:spPr>
          <a:xfrm>
            <a:off x="7189708" y="3371731"/>
            <a:ext cx="6872883" cy="259556"/>
          </a:xfrm>
          <a:prstGeom prst="rect">
            <a:avLst/>
          </a:prstGeom>
          <a:noFill/>
          <a:ln/>
        </p:spPr>
        <p:txBody>
          <a:bodyPr wrap="none" lIns="0" tIns="0" rIns="0" bIns="0" rtlCol="0" anchor="t"/>
          <a:lstStyle/>
          <a:p>
            <a:pPr marL="0" indent="0" algn="l">
              <a:lnSpc>
                <a:spcPts val="2000"/>
              </a:lnSpc>
              <a:buNone/>
            </a:pPr>
            <a:r>
              <a:rPr lang="en-US" sz="1250" dirty="0">
                <a:solidFill>
                  <a:srgbClr val="DAD1E6"/>
                </a:solidFill>
                <a:latin typeface="Fira Sans" pitchFamily="34" charset="0"/>
                <a:ea typeface="Fira Sans" pitchFamily="34" charset="-122"/>
                <a:cs typeface="Fira Sans" pitchFamily="34" charset="-120"/>
              </a:rPr>
              <a:t>1 * 2^0 = 1</a:t>
            </a:r>
            <a:endParaRPr lang="en-US" sz="1250" dirty="0"/>
          </a:p>
        </p:txBody>
      </p:sp>
      <p:sp>
        <p:nvSpPr>
          <p:cNvPr id="12" name="Shape 9"/>
          <p:cNvSpPr/>
          <p:nvPr/>
        </p:nvSpPr>
        <p:spPr>
          <a:xfrm>
            <a:off x="6457057" y="4308991"/>
            <a:ext cx="567809" cy="22860"/>
          </a:xfrm>
          <a:prstGeom prst="roundRect">
            <a:avLst>
              <a:gd name="adj" fmla="val 106457"/>
            </a:avLst>
          </a:prstGeom>
          <a:solidFill>
            <a:srgbClr val="5C4E69"/>
          </a:solidFill>
          <a:ln/>
        </p:spPr>
        <p:txBody>
          <a:bodyPr/>
          <a:lstStyle/>
          <a:p>
            <a:endParaRPr lang="en-US"/>
          </a:p>
        </p:txBody>
      </p:sp>
      <p:sp>
        <p:nvSpPr>
          <p:cNvPr id="13" name="Shape 10"/>
          <p:cNvSpPr/>
          <p:nvPr/>
        </p:nvSpPr>
        <p:spPr>
          <a:xfrm>
            <a:off x="6114990" y="4138017"/>
            <a:ext cx="364927" cy="364927"/>
          </a:xfrm>
          <a:prstGeom prst="roundRect">
            <a:avLst>
              <a:gd name="adj" fmla="val 6669"/>
            </a:avLst>
          </a:prstGeom>
          <a:solidFill>
            <a:srgbClr val="433550"/>
          </a:solidFill>
          <a:ln/>
        </p:spPr>
        <p:txBody>
          <a:bodyPr/>
          <a:lstStyle/>
          <a:p>
            <a:endParaRPr lang="en-US"/>
          </a:p>
        </p:txBody>
      </p:sp>
      <p:sp>
        <p:nvSpPr>
          <p:cNvPr id="14" name="Text 11"/>
          <p:cNvSpPr/>
          <p:nvPr/>
        </p:nvSpPr>
        <p:spPr>
          <a:xfrm>
            <a:off x="6236553" y="4198739"/>
            <a:ext cx="121682" cy="243364"/>
          </a:xfrm>
          <a:prstGeom prst="rect">
            <a:avLst/>
          </a:prstGeom>
          <a:noFill/>
          <a:ln/>
        </p:spPr>
        <p:txBody>
          <a:bodyPr wrap="none" lIns="0" tIns="0" rIns="0" bIns="0" rtlCol="0" anchor="t"/>
          <a:lstStyle/>
          <a:p>
            <a:pPr marL="0" indent="0" algn="ctr">
              <a:lnSpc>
                <a:spcPts val="1900"/>
              </a:lnSpc>
              <a:buNone/>
            </a:pPr>
            <a:r>
              <a:rPr lang="en-US" sz="1900" b="1" dirty="0">
                <a:solidFill>
                  <a:srgbClr val="DAD1E6"/>
                </a:solidFill>
                <a:latin typeface="Inconsolata Bold" pitchFamily="34" charset="0"/>
                <a:ea typeface="Inconsolata Bold" pitchFamily="34" charset="-122"/>
                <a:cs typeface="Inconsolata Bold" pitchFamily="34" charset="-120"/>
              </a:rPr>
              <a:t>2</a:t>
            </a:r>
            <a:endParaRPr lang="en-US" sz="1900" dirty="0"/>
          </a:p>
        </p:txBody>
      </p:sp>
      <p:sp>
        <p:nvSpPr>
          <p:cNvPr id="15" name="Text 12"/>
          <p:cNvSpPr/>
          <p:nvPr/>
        </p:nvSpPr>
        <p:spPr>
          <a:xfrm>
            <a:off x="7189708" y="4117777"/>
            <a:ext cx="2027992" cy="253365"/>
          </a:xfrm>
          <a:prstGeom prst="rect">
            <a:avLst/>
          </a:prstGeom>
          <a:noFill/>
          <a:ln/>
        </p:spPr>
        <p:txBody>
          <a:bodyPr wrap="none" lIns="0" tIns="0" rIns="0" bIns="0" rtlCol="0" anchor="t"/>
          <a:lstStyle/>
          <a:p>
            <a:pPr marL="0" indent="0" algn="l">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Segundo bit</a:t>
            </a:r>
            <a:endParaRPr lang="en-US" sz="1550" dirty="0"/>
          </a:p>
        </p:txBody>
      </p:sp>
      <p:sp>
        <p:nvSpPr>
          <p:cNvPr id="16" name="Text 13"/>
          <p:cNvSpPr/>
          <p:nvPr/>
        </p:nvSpPr>
        <p:spPr>
          <a:xfrm>
            <a:off x="7189708" y="4468416"/>
            <a:ext cx="6872883" cy="259556"/>
          </a:xfrm>
          <a:prstGeom prst="rect">
            <a:avLst/>
          </a:prstGeom>
          <a:noFill/>
          <a:ln/>
        </p:spPr>
        <p:txBody>
          <a:bodyPr wrap="none" lIns="0" tIns="0" rIns="0" bIns="0" rtlCol="0" anchor="t"/>
          <a:lstStyle/>
          <a:p>
            <a:pPr marL="0" indent="0" algn="l">
              <a:lnSpc>
                <a:spcPts val="2000"/>
              </a:lnSpc>
              <a:buNone/>
            </a:pPr>
            <a:r>
              <a:rPr lang="en-US" sz="1250" dirty="0">
                <a:solidFill>
                  <a:srgbClr val="DAD1E6"/>
                </a:solidFill>
                <a:latin typeface="Fira Sans" pitchFamily="34" charset="0"/>
                <a:ea typeface="Fira Sans" pitchFamily="34" charset="-122"/>
                <a:cs typeface="Fira Sans" pitchFamily="34" charset="-120"/>
              </a:rPr>
              <a:t>1 * 2^1 = 2</a:t>
            </a:r>
            <a:endParaRPr lang="en-US" sz="1250" dirty="0"/>
          </a:p>
        </p:txBody>
      </p:sp>
      <p:sp>
        <p:nvSpPr>
          <p:cNvPr id="17" name="Shape 14"/>
          <p:cNvSpPr/>
          <p:nvPr/>
        </p:nvSpPr>
        <p:spPr>
          <a:xfrm>
            <a:off x="6457057" y="5405676"/>
            <a:ext cx="567809" cy="22860"/>
          </a:xfrm>
          <a:prstGeom prst="roundRect">
            <a:avLst>
              <a:gd name="adj" fmla="val 106457"/>
            </a:avLst>
          </a:prstGeom>
          <a:solidFill>
            <a:srgbClr val="5C4E69"/>
          </a:solidFill>
          <a:ln/>
        </p:spPr>
        <p:txBody>
          <a:bodyPr/>
          <a:lstStyle/>
          <a:p>
            <a:endParaRPr lang="en-US"/>
          </a:p>
        </p:txBody>
      </p:sp>
      <p:sp>
        <p:nvSpPr>
          <p:cNvPr id="18" name="Shape 15"/>
          <p:cNvSpPr/>
          <p:nvPr/>
        </p:nvSpPr>
        <p:spPr>
          <a:xfrm>
            <a:off x="6114990" y="5234702"/>
            <a:ext cx="364927" cy="364927"/>
          </a:xfrm>
          <a:prstGeom prst="roundRect">
            <a:avLst>
              <a:gd name="adj" fmla="val 6669"/>
            </a:avLst>
          </a:prstGeom>
          <a:solidFill>
            <a:srgbClr val="433550"/>
          </a:solidFill>
          <a:ln/>
        </p:spPr>
        <p:txBody>
          <a:bodyPr/>
          <a:lstStyle/>
          <a:p>
            <a:endParaRPr lang="en-US"/>
          </a:p>
        </p:txBody>
      </p:sp>
      <p:sp>
        <p:nvSpPr>
          <p:cNvPr id="19" name="Text 16"/>
          <p:cNvSpPr/>
          <p:nvPr/>
        </p:nvSpPr>
        <p:spPr>
          <a:xfrm>
            <a:off x="6236553" y="5295424"/>
            <a:ext cx="121682" cy="243364"/>
          </a:xfrm>
          <a:prstGeom prst="rect">
            <a:avLst/>
          </a:prstGeom>
          <a:noFill/>
          <a:ln/>
        </p:spPr>
        <p:txBody>
          <a:bodyPr wrap="none" lIns="0" tIns="0" rIns="0" bIns="0" rtlCol="0" anchor="t"/>
          <a:lstStyle/>
          <a:p>
            <a:pPr marL="0" indent="0" algn="ctr">
              <a:lnSpc>
                <a:spcPts val="1900"/>
              </a:lnSpc>
              <a:buNone/>
            </a:pPr>
            <a:r>
              <a:rPr lang="en-US" sz="1900" b="1" dirty="0">
                <a:solidFill>
                  <a:srgbClr val="DAD1E6"/>
                </a:solidFill>
                <a:latin typeface="Inconsolata Bold" pitchFamily="34" charset="0"/>
                <a:ea typeface="Inconsolata Bold" pitchFamily="34" charset="-122"/>
                <a:cs typeface="Inconsolata Bold" pitchFamily="34" charset="-120"/>
              </a:rPr>
              <a:t>3</a:t>
            </a:r>
            <a:endParaRPr lang="en-US" sz="1900" dirty="0"/>
          </a:p>
        </p:txBody>
      </p:sp>
      <p:sp>
        <p:nvSpPr>
          <p:cNvPr id="20" name="Text 17"/>
          <p:cNvSpPr/>
          <p:nvPr/>
        </p:nvSpPr>
        <p:spPr>
          <a:xfrm>
            <a:off x="7189708" y="5214461"/>
            <a:ext cx="2027992" cy="253365"/>
          </a:xfrm>
          <a:prstGeom prst="rect">
            <a:avLst/>
          </a:prstGeom>
          <a:noFill/>
          <a:ln/>
        </p:spPr>
        <p:txBody>
          <a:bodyPr wrap="none" lIns="0" tIns="0" rIns="0" bIns="0" rtlCol="0" anchor="t"/>
          <a:lstStyle/>
          <a:p>
            <a:pPr marL="0" indent="0" algn="l">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Tercer bit</a:t>
            </a:r>
            <a:endParaRPr lang="en-US" sz="1550" dirty="0"/>
          </a:p>
        </p:txBody>
      </p:sp>
      <p:sp>
        <p:nvSpPr>
          <p:cNvPr id="21" name="Text 18"/>
          <p:cNvSpPr/>
          <p:nvPr/>
        </p:nvSpPr>
        <p:spPr>
          <a:xfrm>
            <a:off x="7189708" y="5565100"/>
            <a:ext cx="6872883" cy="259556"/>
          </a:xfrm>
          <a:prstGeom prst="rect">
            <a:avLst/>
          </a:prstGeom>
          <a:noFill/>
          <a:ln/>
        </p:spPr>
        <p:txBody>
          <a:bodyPr wrap="none" lIns="0" tIns="0" rIns="0" bIns="0" rtlCol="0" anchor="t"/>
          <a:lstStyle/>
          <a:p>
            <a:pPr marL="0" indent="0" algn="l">
              <a:lnSpc>
                <a:spcPts val="2000"/>
              </a:lnSpc>
              <a:buNone/>
            </a:pPr>
            <a:r>
              <a:rPr lang="en-US" sz="1250" dirty="0">
                <a:solidFill>
                  <a:srgbClr val="DAD1E6"/>
                </a:solidFill>
                <a:latin typeface="Fira Sans" pitchFamily="34" charset="0"/>
                <a:ea typeface="Fira Sans" pitchFamily="34" charset="-122"/>
                <a:cs typeface="Fira Sans" pitchFamily="34" charset="-120"/>
              </a:rPr>
              <a:t>0 * 2^2 = 0</a:t>
            </a:r>
            <a:endParaRPr lang="en-US" sz="1250" dirty="0"/>
          </a:p>
        </p:txBody>
      </p:sp>
      <p:sp>
        <p:nvSpPr>
          <p:cNvPr id="22" name="Shape 19"/>
          <p:cNvSpPr/>
          <p:nvPr/>
        </p:nvSpPr>
        <p:spPr>
          <a:xfrm>
            <a:off x="6457057" y="6502360"/>
            <a:ext cx="567809" cy="22860"/>
          </a:xfrm>
          <a:prstGeom prst="roundRect">
            <a:avLst>
              <a:gd name="adj" fmla="val 106457"/>
            </a:avLst>
          </a:prstGeom>
          <a:solidFill>
            <a:srgbClr val="5C4E69"/>
          </a:solidFill>
          <a:ln/>
        </p:spPr>
        <p:txBody>
          <a:bodyPr/>
          <a:lstStyle/>
          <a:p>
            <a:endParaRPr lang="en-US"/>
          </a:p>
        </p:txBody>
      </p:sp>
      <p:sp>
        <p:nvSpPr>
          <p:cNvPr id="23" name="Shape 20"/>
          <p:cNvSpPr/>
          <p:nvPr/>
        </p:nvSpPr>
        <p:spPr>
          <a:xfrm>
            <a:off x="6114990" y="6331387"/>
            <a:ext cx="364927" cy="364927"/>
          </a:xfrm>
          <a:prstGeom prst="roundRect">
            <a:avLst>
              <a:gd name="adj" fmla="val 6669"/>
            </a:avLst>
          </a:prstGeom>
          <a:solidFill>
            <a:srgbClr val="433550"/>
          </a:solidFill>
          <a:ln/>
        </p:spPr>
        <p:txBody>
          <a:bodyPr/>
          <a:lstStyle/>
          <a:p>
            <a:endParaRPr lang="en-US"/>
          </a:p>
        </p:txBody>
      </p:sp>
      <p:sp>
        <p:nvSpPr>
          <p:cNvPr id="24" name="Text 21"/>
          <p:cNvSpPr/>
          <p:nvPr/>
        </p:nvSpPr>
        <p:spPr>
          <a:xfrm>
            <a:off x="6236553" y="6392108"/>
            <a:ext cx="121682" cy="243364"/>
          </a:xfrm>
          <a:prstGeom prst="rect">
            <a:avLst/>
          </a:prstGeom>
          <a:noFill/>
          <a:ln/>
        </p:spPr>
        <p:txBody>
          <a:bodyPr wrap="none" lIns="0" tIns="0" rIns="0" bIns="0" rtlCol="0" anchor="t"/>
          <a:lstStyle/>
          <a:p>
            <a:pPr marL="0" indent="0" algn="ctr">
              <a:lnSpc>
                <a:spcPts val="1900"/>
              </a:lnSpc>
              <a:buNone/>
            </a:pPr>
            <a:r>
              <a:rPr lang="en-US" sz="1900" b="1" dirty="0">
                <a:solidFill>
                  <a:srgbClr val="DAD1E6"/>
                </a:solidFill>
                <a:latin typeface="Inconsolata Bold" pitchFamily="34" charset="0"/>
                <a:ea typeface="Inconsolata Bold" pitchFamily="34" charset="-122"/>
                <a:cs typeface="Inconsolata Bold" pitchFamily="34" charset="-120"/>
              </a:rPr>
              <a:t>4</a:t>
            </a:r>
            <a:endParaRPr lang="en-US" sz="1900" dirty="0"/>
          </a:p>
        </p:txBody>
      </p:sp>
      <p:sp>
        <p:nvSpPr>
          <p:cNvPr id="25" name="Text 22"/>
          <p:cNvSpPr/>
          <p:nvPr/>
        </p:nvSpPr>
        <p:spPr>
          <a:xfrm>
            <a:off x="7189708" y="6311146"/>
            <a:ext cx="2129076" cy="253365"/>
          </a:xfrm>
          <a:prstGeom prst="rect">
            <a:avLst/>
          </a:prstGeom>
          <a:noFill/>
          <a:ln/>
        </p:spPr>
        <p:txBody>
          <a:bodyPr wrap="none" lIns="0" tIns="0" rIns="0" bIns="0" rtlCol="0" anchor="t"/>
          <a:lstStyle/>
          <a:p>
            <a:pPr marL="0" indent="0" algn="l">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Bit más significativo</a:t>
            </a:r>
            <a:endParaRPr lang="en-US" sz="1550" dirty="0"/>
          </a:p>
        </p:txBody>
      </p:sp>
      <p:sp>
        <p:nvSpPr>
          <p:cNvPr id="26" name="Text 23"/>
          <p:cNvSpPr/>
          <p:nvPr/>
        </p:nvSpPr>
        <p:spPr>
          <a:xfrm>
            <a:off x="7189708" y="6661785"/>
            <a:ext cx="6872883" cy="259556"/>
          </a:xfrm>
          <a:prstGeom prst="rect">
            <a:avLst/>
          </a:prstGeom>
          <a:noFill/>
          <a:ln/>
        </p:spPr>
        <p:txBody>
          <a:bodyPr wrap="none" lIns="0" tIns="0" rIns="0" bIns="0" rtlCol="0" anchor="t"/>
          <a:lstStyle/>
          <a:p>
            <a:pPr marL="0" indent="0" algn="l">
              <a:lnSpc>
                <a:spcPts val="2000"/>
              </a:lnSpc>
              <a:buNone/>
            </a:pPr>
            <a:r>
              <a:rPr lang="en-US" sz="1250" dirty="0">
                <a:solidFill>
                  <a:srgbClr val="DAD1E6"/>
                </a:solidFill>
                <a:latin typeface="Fira Sans" pitchFamily="34" charset="0"/>
                <a:ea typeface="Fira Sans" pitchFamily="34" charset="-122"/>
                <a:cs typeface="Fira Sans" pitchFamily="34" charset="-120"/>
              </a:rPr>
              <a:t>1 * 2^3 = 8</a:t>
            </a:r>
            <a:endParaRPr lang="en-US" sz="1250" dirty="0"/>
          </a:p>
        </p:txBody>
      </p:sp>
      <p:sp>
        <p:nvSpPr>
          <p:cNvPr id="27" name="Text 24"/>
          <p:cNvSpPr/>
          <p:nvPr/>
        </p:nvSpPr>
        <p:spPr>
          <a:xfrm>
            <a:off x="6054209" y="7265908"/>
            <a:ext cx="8008382" cy="519113"/>
          </a:xfrm>
          <a:prstGeom prst="rect">
            <a:avLst/>
          </a:prstGeom>
          <a:noFill/>
          <a:ln/>
        </p:spPr>
        <p:txBody>
          <a:bodyPr wrap="square" lIns="0" tIns="0" rIns="0" bIns="0" rtlCol="0" anchor="t"/>
          <a:lstStyle/>
          <a:p>
            <a:pPr marL="0" indent="0">
              <a:lnSpc>
                <a:spcPts val="2000"/>
              </a:lnSpc>
              <a:buNone/>
            </a:pPr>
            <a:r>
              <a:rPr lang="en-US" sz="1250" dirty="0">
                <a:solidFill>
                  <a:srgbClr val="DAD1E6"/>
                </a:solidFill>
                <a:latin typeface="Fira Sans" pitchFamily="34" charset="0"/>
                <a:ea typeface="Fira Sans" pitchFamily="34" charset="-122"/>
                <a:cs typeface="Fira Sans" pitchFamily="34" charset="-120"/>
              </a:rPr>
              <a:t>Sumando estos valores, obtenemos 11 en decimal. La conversión entre binario y decimal es crucial en la interpretación y procesamiento de datos en computadoras.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8632" y="633293"/>
            <a:ext cx="7719536" cy="1271826"/>
          </a:xfrm>
          <a:prstGeom prst="rect">
            <a:avLst/>
          </a:prstGeom>
          <a:noFill/>
          <a:ln/>
        </p:spPr>
        <p:txBody>
          <a:bodyPr wrap="square" lIns="0" tIns="0" rIns="0" bIns="0" rtlCol="0" anchor="t"/>
          <a:lstStyle/>
          <a:p>
            <a:pPr marL="0" indent="0">
              <a:lnSpc>
                <a:spcPts val="5000"/>
              </a:lnSpc>
              <a:buNone/>
            </a:pPr>
            <a:r>
              <a:rPr lang="en-US" sz="4000" b="1" dirty="0">
                <a:solidFill>
                  <a:srgbClr val="F94CAF"/>
                </a:solidFill>
                <a:latin typeface="Inconsolata Bold" pitchFamily="34" charset="0"/>
                <a:ea typeface="Inconsolata Bold" pitchFamily="34" charset="-122"/>
                <a:cs typeface="Inconsolata Bold" pitchFamily="34" charset="-120"/>
              </a:rPr>
              <a:t>Sistema Octal (Base 8) y Hexadecimal (Base 16)</a:t>
            </a:r>
            <a:endParaRPr lang="en-US" sz="4000" dirty="0"/>
          </a:p>
        </p:txBody>
      </p:sp>
      <p:sp>
        <p:nvSpPr>
          <p:cNvPr id="4" name="Text 1"/>
          <p:cNvSpPr/>
          <p:nvPr/>
        </p:nvSpPr>
        <p:spPr>
          <a:xfrm>
            <a:off x="6198632" y="2210276"/>
            <a:ext cx="7719536" cy="1302068"/>
          </a:xfrm>
          <a:prstGeom prst="rect">
            <a:avLst/>
          </a:prstGeom>
          <a:noFill/>
          <a:ln/>
        </p:spPr>
        <p:txBody>
          <a:bodyPr wrap="squar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Los sistemas octal (base 8) y hexadecimal (base 16) son ampliamente utilizados en informática debido a su relación conveniente con el sistema binario. El octal utiliza dígitos del 0 al 7, mientras que el hexadecimal usa dígitos del 0 al 9 y letras de A a F.</a:t>
            </a:r>
            <a:endParaRPr lang="en-US" sz="1600" dirty="0"/>
          </a:p>
        </p:txBody>
      </p:sp>
      <p:sp>
        <p:nvSpPr>
          <p:cNvPr id="5" name="Text 2"/>
          <p:cNvSpPr/>
          <p:nvPr/>
        </p:nvSpPr>
        <p:spPr>
          <a:xfrm>
            <a:off x="6198632" y="3741182"/>
            <a:ext cx="7719536"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Estos sistemas ofrecen una representación más compacta de los datos binarios:</a:t>
            </a:r>
            <a:endParaRPr lang="en-US" sz="1600" dirty="0"/>
          </a:p>
        </p:txBody>
      </p:sp>
      <p:sp>
        <p:nvSpPr>
          <p:cNvPr id="6" name="Shape 3"/>
          <p:cNvSpPr/>
          <p:nvPr/>
        </p:nvSpPr>
        <p:spPr>
          <a:xfrm>
            <a:off x="6198632" y="4295537"/>
            <a:ext cx="7719536" cy="1769745"/>
          </a:xfrm>
          <a:prstGeom prst="roundRect">
            <a:avLst>
              <a:gd name="adj" fmla="val 1725"/>
            </a:avLst>
          </a:prstGeom>
          <a:noFill/>
          <a:ln w="7620">
            <a:solidFill>
              <a:srgbClr val="FFFFFF">
                <a:alpha val="24000"/>
              </a:srgbClr>
            </a:solidFill>
            <a:prstDash val="solid"/>
          </a:ln>
        </p:spPr>
        <p:txBody>
          <a:bodyPr/>
          <a:lstStyle/>
          <a:p>
            <a:endParaRPr lang="en-US"/>
          </a:p>
        </p:txBody>
      </p:sp>
      <p:sp>
        <p:nvSpPr>
          <p:cNvPr id="7" name="Shape 4"/>
          <p:cNvSpPr/>
          <p:nvPr/>
        </p:nvSpPr>
        <p:spPr>
          <a:xfrm>
            <a:off x="6206252" y="4303157"/>
            <a:ext cx="7703463" cy="584835"/>
          </a:xfrm>
          <a:prstGeom prst="rect">
            <a:avLst/>
          </a:prstGeom>
          <a:solidFill>
            <a:srgbClr val="FFFFFF">
              <a:alpha val="4000"/>
            </a:srgbClr>
          </a:solidFill>
          <a:ln/>
        </p:spPr>
        <p:txBody>
          <a:bodyPr/>
          <a:lstStyle/>
          <a:p>
            <a:endParaRPr lang="en-US"/>
          </a:p>
        </p:txBody>
      </p:sp>
      <p:sp>
        <p:nvSpPr>
          <p:cNvPr id="8" name="Text 5"/>
          <p:cNvSpPr/>
          <p:nvPr/>
        </p:nvSpPr>
        <p:spPr>
          <a:xfrm>
            <a:off x="6410801" y="4432816"/>
            <a:ext cx="215669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Sistema</a:t>
            </a:r>
            <a:endParaRPr lang="en-US" sz="1600" dirty="0"/>
          </a:p>
        </p:txBody>
      </p:sp>
      <p:sp>
        <p:nvSpPr>
          <p:cNvPr id="9" name="Text 6"/>
          <p:cNvSpPr/>
          <p:nvPr/>
        </p:nvSpPr>
        <p:spPr>
          <a:xfrm>
            <a:off x="8982075" y="4432816"/>
            <a:ext cx="215288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Dígitos</a:t>
            </a:r>
            <a:endParaRPr lang="en-US" sz="1600" dirty="0"/>
          </a:p>
        </p:txBody>
      </p:sp>
      <p:sp>
        <p:nvSpPr>
          <p:cNvPr id="10" name="Text 7"/>
          <p:cNvSpPr/>
          <p:nvPr/>
        </p:nvSpPr>
        <p:spPr>
          <a:xfrm>
            <a:off x="11549539" y="4432816"/>
            <a:ext cx="215669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Equivalencia Binaria</a:t>
            </a:r>
            <a:endParaRPr lang="en-US" sz="1600" dirty="0"/>
          </a:p>
        </p:txBody>
      </p:sp>
      <p:sp>
        <p:nvSpPr>
          <p:cNvPr id="11" name="Shape 8"/>
          <p:cNvSpPr/>
          <p:nvPr/>
        </p:nvSpPr>
        <p:spPr>
          <a:xfrm>
            <a:off x="6206252" y="4887992"/>
            <a:ext cx="7703463" cy="584835"/>
          </a:xfrm>
          <a:prstGeom prst="rect">
            <a:avLst/>
          </a:prstGeom>
          <a:solidFill>
            <a:srgbClr val="000000">
              <a:alpha val="4000"/>
            </a:srgbClr>
          </a:solidFill>
          <a:ln/>
        </p:spPr>
        <p:txBody>
          <a:bodyPr/>
          <a:lstStyle/>
          <a:p>
            <a:endParaRPr lang="en-US"/>
          </a:p>
        </p:txBody>
      </p:sp>
      <p:sp>
        <p:nvSpPr>
          <p:cNvPr id="12" name="Text 9"/>
          <p:cNvSpPr/>
          <p:nvPr/>
        </p:nvSpPr>
        <p:spPr>
          <a:xfrm>
            <a:off x="6410801" y="5017651"/>
            <a:ext cx="215669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Octal</a:t>
            </a:r>
            <a:endParaRPr lang="en-US" sz="1600" dirty="0"/>
          </a:p>
        </p:txBody>
      </p:sp>
      <p:sp>
        <p:nvSpPr>
          <p:cNvPr id="13" name="Text 10"/>
          <p:cNvSpPr/>
          <p:nvPr/>
        </p:nvSpPr>
        <p:spPr>
          <a:xfrm>
            <a:off x="8982075" y="5017651"/>
            <a:ext cx="215288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0-7</a:t>
            </a:r>
            <a:endParaRPr lang="en-US" sz="1600" dirty="0"/>
          </a:p>
        </p:txBody>
      </p:sp>
      <p:sp>
        <p:nvSpPr>
          <p:cNvPr id="14" name="Text 11"/>
          <p:cNvSpPr/>
          <p:nvPr/>
        </p:nvSpPr>
        <p:spPr>
          <a:xfrm>
            <a:off x="11549539" y="5017651"/>
            <a:ext cx="215669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3 bits</a:t>
            </a:r>
            <a:endParaRPr lang="en-US" sz="1600" dirty="0"/>
          </a:p>
        </p:txBody>
      </p:sp>
      <p:sp>
        <p:nvSpPr>
          <p:cNvPr id="15" name="Shape 12"/>
          <p:cNvSpPr/>
          <p:nvPr/>
        </p:nvSpPr>
        <p:spPr>
          <a:xfrm>
            <a:off x="6206252" y="5472827"/>
            <a:ext cx="7703463" cy="584835"/>
          </a:xfrm>
          <a:prstGeom prst="rect">
            <a:avLst/>
          </a:prstGeom>
          <a:solidFill>
            <a:srgbClr val="FFFFFF">
              <a:alpha val="4000"/>
            </a:srgbClr>
          </a:solidFill>
          <a:ln/>
        </p:spPr>
        <p:txBody>
          <a:bodyPr/>
          <a:lstStyle/>
          <a:p>
            <a:endParaRPr lang="en-US"/>
          </a:p>
        </p:txBody>
      </p:sp>
      <p:sp>
        <p:nvSpPr>
          <p:cNvPr id="16" name="Text 13"/>
          <p:cNvSpPr/>
          <p:nvPr/>
        </p:nvSpPr>
        <p:spPr>
          <a:xfrm>
            <a:off x="6410801" y="5602486"/>
            <a:ext cx="215669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Hexadecimal</a:t>
            </a:r>
            <a:endParaRPr lang="en-US" sz="1600" dirty="0"/>
          </a:p>
        </p:txBody>
      </p:sp>
      <p:sp>
        <p:nvSpPr>
          <p:cNvPr id="17" name="Text 14"/>
          <p:cNvSpPr/>
          <p:nvPr/>
        </p:nvSpPr>
        <p:spPr>
          <a:xfrm>
            <a:off x="8982075" y="5602486"/>
            <a:ext cx="215288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0-9, A-F</a:t>
            </a:r>
            <a:endParaRPr lang="en-US" sz="1600" dirty="0"/>
          </a:p>
        </p:txBody>
      </p:sp>
      <p:sp>
        <p:nvSpPr>
          <p:cNvPr id="18" name="Text 15"/>
          <p:cNvSpPr/>
          <p:nvPr/>
        </p:nvSpPr>
        <p:spPr>
          <a:xfrm>
            <a:off x="11549539" y="5602486"/>
            <a:ext cx="2156698" cy="325517"/>
          </a:xfrm>
          <a:prstGeom prst="rect">
            <a:avLst/>
          </a:prstGeom>
          <a:noFill/>
          <a:ln/>
        </p:spPr>
        <p:txBody>
          <a:bodyPr wrap="non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4 bits</a:t>
            </a:r>
            <a:endParaRPr lang="en-US" sz="1600" dirty="0"/>
          </a:p>
        </p:txBody>
      </p:sp>
      <p:sp>
        <p:nvSpPr>
          <p:cNvPr id="19" name="Text 16"/>
          <p:cNvSpPr/>
          <p:nvPr/>
        </p:nvSpPr>
        <p:spPr>
          <a:xfrm>
            <a:off x="6198632" y="6294120"/>
            <a:ext cx="7719536" cy="1302068"/>
          </a:xfrm>
          <a:prstGeom prst="rect">
            <a:avLst/>
          </a:prstGeom>
          <a:noFill/>
          <a:ln/>
        </p:spPr>
        <p:txBody>
          <a:bodyPr wrap="squar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Por ejemplo, el número hexadecimal 2A es equivalente al binario 00101010. Esta representación compacta facilita la lectura y escritura de grandes cantidades de datos binarios, siendo especialmente útil en programación de bajo nivel y depuración de sistemas.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44510"/>
            <a:ext cx="10489049" cy="708779"/>
          </a:xfrm>
          <a:prstGeom prst="rect">
            <a:avLst/>
          </a:prstGeom>
          <a:noFill/>
          <a:ln/>
        </p:spPr>
        <p:txBody>
          <a:bodyPr wrap="none" lIns="0" tIns="0" rIns="0" bIns="0" rtlCol="0" anchor="t"/>
          <a:lstStyle/>
          <a:p>
            <a:pPr marL="0" indent="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Conversiones entre Sistemas Numéricos</a:t>
            </a:r>
            <a:endParaRPr lang="en-US" sz="4450" dirty="0"/>
          </a:p>
        </p:txBody>
      </p:sp>
      <p:sp>
        <p:nvSpPr>
          <p:cNvPr id="3" name="Text 1"/>
          <p:cNvSpPr/>
          <p:nvPr/>
        </p:nvSpPr>
        <p:spPr>
          <a:xfrm>
            <a:off x="793790" y="2006917"/>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La conversión entre sistemas numéricos es una habilidad esencial en informática. Para convertir de decimal a otra base, se divide repetidamente por la base deseada, tomando los residuos en orden inverso. Para convertir a decimal, se multiplica cada dígito por la potencia correspondiente de la base y se suman los resultados.</a:t>
            </a:r>
            <a:endParaRPr lang="en-US" sz="1750" dirty="0"/>
          </a:p>
        </p:txBody>
      </p:sp>
      <p:pic>
        <p:nvPicPr>
          <p:cNvPr id="4" name="Image 0" descr="preencoded.png"/>
          <p:cNvPicPr>
            <a:picLocks noChangeAspect="1"/>
          </p:cNvPicPr>
          <p:nvPr/>
        </p:nvPicPr>
        <p:blipFill>
          <a:blip r:embed="rId3"/>
          <a:stretch>
            <a:fillRect/>
          </a:stretch>
        </p:blipFill>
        <p:spPr>
          <a:xfrm>
            <a:off x="793790" y="3350776"/>
            <a:ext cx="4347567" cy="907256"/>
          </a:xfrm>
          <a:prstGeom prst="rect">
            <a:avLst/>
          </a:prstGeom>
        </p:spPr>
      </p:pic>
      <p:sp>
        <p:nvSpPr>
          <p:cNvPr id="5" name="Text 2"/>
          <p:cNvSpPr/>
          <p:nvPr/>
        </p:nvSpPr>
        <p:spPr>
          <a:xfrm>
            <a:off x="1020604" y="459819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Decimal a Binario</a:t>
            </a:r>
            <a:endParaRPr lang="en-US" sz="2200" dirty="0"/>
          </a:p>
        </p:txBody>
      </p:sp>
      <p:sp>
        <p:nvSpPr>
          <p:cNvPr id="6" name="Text 3"/>
          <p:cNvSpPr/>
          <p:nvPr/>
        </p:nvSpPr>
        <p:spPr>
          <a:xfrm>
            <a:off x="1020604" y="5088612"/>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Divide por 2 repetidamente, los residuos forman el número binario de derecha a izquierda.</a:t>
            </a:r>
            <a:endParaRPr lang="en-US" sz="1750" dirty="0"/>
          </a:p>
        </p:txBody>
      </p:sp>
      <p:pic>
        <p:nvPicPr>
          <p:cNvPr id="7" name="Image 1" descr="preencoded.png"/>
          <p:cNvPicPr>
            <a:picLocks noChangeAspect="1"/>
          </p:cNvPicPr>
          <p:nvPr/>
        </p:nvPicPr>
        <p:blipFill>
          <a:blip r:embed="rId4"/>
          <a:stretch>
            <a:fillRect/>
          </a:stretch>
        </p:blipFill>
        <p:spPr>
          <a:xfrm>
            <a:off x="5141357" y="3350776"/>
            <a:ext cx="4347567" cy="907256"/>
          </a:xfrm>
          <a:prstGeom prst="rect">
            <a:avLst/>
          </a:prstGeom>
        </p:spPr>
      </p:pic>
      <p:sp>
        <p:nvSpPr>
          <p:cNvPr id="8" name="Text 4"/>
          <p:cNvSpPr/>
          <p:nvPr/>
        </p:nvSpPr>
        <p:spPr>
          <a:xfrm>
            <a:off x="5368171" y="459819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Binario a Octal</a:t>
            </a:r>
            <a:endParaRPr lang="en-US" sz="2200" dirty="0"/>
          </a:p>
        </p:txBody>
      </p:sp>
      <p:sp>
        <p:nvSpPr>
          <p:cNvPr id="9" name="Text 5"/>
          <p:cNvSpPr/>
          <p:nvPr/>
        </p:nvSpPr>
        <p:spPr>
          <a:xfrm>
            <a:off x="5368171" y="5088612"/>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Agrupa los bits de tres en tres de derecha a izquierda y convierte cada grupo a su equivalente octal.</a:t>
            </a:r>
            <a:endParaRPr lang="en-US" sz="1750" dirty="0"/>
          </a:p>
        </p:txBody>
      </p:sp>
      <p:pic>
        <p:nvPicPr>
          <p:cNvPr id="10" name="Image 2" descr="preencoded.png"/>
          <p:cNvPicPr>
            <a:picLocks noChangeAspect="1"/>
          </p:cNvPicPr>
          <p:nvPr/>
        </p:nvPicPr>
        <p:blipFill>
          <a:blip r:embed="rId5"/>
          <a:stretch>
            <a:fillRect/>
          </a:stretch>
        </p:blipFill>
        <p:spPr>
          <a:xfrm>
            <a:off x="9488924" y="3350776"/>
            <a:ext cx="4347567" cy="907256"/>
          </a:xfrm>
          <a:prstGeom prst="rect">
            <a:avLst/>
          </a:prstGeom>
        </p:spPr>
      </p:pic>
      <p:sp>
        <p:nvSpPr>
          <p:cNvPr id="11" name="Text 6"/>
          <p:cNvSpPr/>
          <p:nvPr/>
        </p:nvSpPr>
        <p:spPr>
          <a:xfrm>
            <a:off x="9715738" y="4598194"/>
            <a:ext cx="2975491"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Binario a Hexadecimal</a:t>
            </a:r>
            <a:endParaRPr lang="en-US" sz="2200" dirty="0"/>
          </a:p>
        </p:txBody>
      </p:sp>
      <p:sp>
        <p:nvSpPr>
          <p:cNvPr id="12" name="Text 7"/>
          <p:cNvSpPr/>
          <p:nvPr/>
        </p:nvSpPr>
        <p:spPr>
          <a:xfrm>
            <a:off x="9715738" y="5088612"/>
            <a:ext cx="3893939" cy="1451610"/>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Agrupa los bits de cuatro en cuatro de derecha a izquierda y convierte cada grupo a su equivalente hexadecimal.</a:t>
            </a:r>
            <a:endParaRPr lang="en-US" sz="1750" dirty="0"/>
          </a:p>
        </p:txBody>
      </p:sp>
      <p:sp>
        <p:nvSpPr>
          <p:cNvPr id="13" name="Text 8"/>
          <p:cNvSpPr/>
          <p:nvPr/>
        </p:nvSpPr>
        <p:spPr>
          <a:xfrm>
            <a:off x="793790" y="7022187"/>
            <a:ext cx="13042821" cy="362903"/>
          </a:xfrm>
          <a:prstGeom prst="rect">
            <a:avLst/>
          </a:prstGeom>
          <a:noFill/>
          <a:ln/>
        </p:spPr>
        <p:txBody>
          <a:bodyPr wrap="non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Estas conversiones son fundamentales para la interpretación y manipulación eficiente de datos en sistemas computacionales.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6640" y="579596"/>
            <a:ext cx="13157121" cy="1315164"/>
          </a:xfrm>
          <a:prstGeom prst="rect">
            <a:avLst/>
          </a:prstGeom>
          <a:noFill/>
          <a:ln/>
        </p:spPr>
        <p:txBody>
          <a:bodyPr wrap="square" lIns="0" tIns="0" rIns="0" bIns="0" rtlCol="0" anchor="t"/>
          <a:lstStyle/>
          <a:p>
            <a:pPr marL="0" indent="0">
              <a:lnSpc>
                <a:spcPts val="5150"/>
              </a:lnSpc>
              <a:buNone/>
            </a:pPr>
            <a:r>
              <a:rPr lang="en-US" sz="4100" b="1" dirty="0">
                <a:solidFill>
                  <a:srgbClr val="F94CAF"/>
                </a:solidFill>
                <a:latin typeface="Inconsolata Bold" pitchFamily="34" charset="0"/>
                <a:ea typeface="Inconsolata Bold" pitchFamily="34" charset="-122"/>
                <a:cs typeface="Inconsolata Bold" pitchFamily="34" charset="-120"/>
              </a:rPr>
              <a:t>Representación de Enteros con Signo: Complemento a Dos</a:t>
            </a:r>
            <a:endParaRPr lang="en-US" sz="4100" dirty="0"/>
          </a:p>
        </p:txBody>
      </p:sp>
      <p:sp>
        <p:nvSpPr>
          <p:cNvPr id="3" name="Text 1"/>
          <p:cNvSpPr/>
          <p:nvPr/>
        </p:nvSpPr>
        <p:spPr>
          <a:xfrm>
            <a:off x="736640" y="2315647"/>
            <a:ext cx="13157121" cy="673418"/>
          </a:xfrm>
          <a:prstGeom prst="rect">
            <a:avLst/>
          </a:prstGeom>
          <a:noFill/>
          <a:ln/>
        </p:spPr>
        <p:txBody>
          <a:bodyPr wrap="square" lIns="0" tIns="0" rIns="0" bIns="0" rtlCol="0" anchor="t"/>
          <a:lstStyle/>
          <a:p>
            <a:pPr marL="0" indent="0">
              <a:lnSpc>
                <a:spcPts val="2650"/>
              </a:lnSpc>
              <a:buNone/>
            </a:pPr>
            <a:r>
              <a:rPr lang="en-US" sz="1650" dirty="0">
                <a:solidFill>
                  <a:srgbClr val="DAD1E6"/>
                </a:solidFill>
                <a:latin typeface="Fira Sans" pitchFamily="34" charset="0"/>
                <a:ea typeface="Fira Sans" pitchFamily="34" charset="-122"/>
                <a:cs typeface="Fira Sans" pitchFamily="34" charset="-120"/>
              </a:rPr>
              <a:t>El método de complemento a dos es el más utilizado para representar números enteros con signo en computadoras digitales. Este método permite realizar operaciones aritméticas de manera eficiente y sin necesidad de circuitos adicionales para manejar el signo.</a:t>
            </a:r>
            <a:endParaRPr lang="en-US" sz="1650" dirty="0"/>
          </a:p>
        </p:txBody>
      </p:sp>
      <p:sp>
        <p:nvSpPr>
          <p:cNvPr id="4" name="Text 2"/>
          <p:cNvSpPr/>
          <p:nvPr/>
        </p:nvSpPr>
        <p:spPr>
          <a:xfrm>
            <a:off x="736640" y="3225760"/>
            <a:ext cx="13157121" cy="336709"/>
          </a:xfrm>
          <a:prstGeom prst="rect">
            <a:avLst/>
          </a:prstGeom>
          <a:noFill/>
          <a:ln/>
        </p:spPr>
        <p:txBody>
          <a:bodyPr wrap="none" lIns="0" tIns="0" rIns="0" bIns="0" rtlCol="0" anchor="t"/>
          <a:lstStyle/>
          <a:p>
            <a:pPr marL="0" indent="0">
              <a:lnSpc>
                <a:spcPts val="2650"/>
              </a:lnSpc>
              <a:buNone/>
            </a:pPr>
            <a:r>
              <a:rPr lang="en-US" sz="1650" dirty="0">
                <a:solidFill>
                  <a:srgbClr val="DAD1E6"/>
                </a:solidFill>
                <a:latin typeface="Fira Sans" pitchFamily="34" charset="0"/>
                <a:ea typeface="Fira Sans" pitchFamily="34" charset="-122"/>
                <a:cs typeface="Fira Sans" pitchFamily="34" charset="-120"/>
              </a:rPr>
              <a:t>En el complemento a dos:</a:t>
            </a:r>
            <a:endParaRPr lang="en-US" sz="1650" dirty="0"/>
          </a:p>
        </p:txBody>
      </p:sp>
      <p:sp>
        <p:nvSpPr>
          <p:cNvPr id="5" name="Shape 3"/>
          <p:cNvSpPr/>
          <p:nvPr/>
        </p:nvSpPr>
        <p:spPr>
          <a:xfrm>
            <a:off x="736640" y="4035862"/>
            <a:ext cx="473512" cy="473512"/>
          </a:xfrm>
          <a:prstGeom prst="roundRect">
            <a:avLst>
              <a:gd name="adj" fmla="val 6667"/>
            </a:avLst>
          </a:prstGeom>
          <a:solidFill>
            <a:srgbClr val="433550"/>
          </a:solidFill>
          <a:ln/>
        </p:spPr>
        <p:txBody>
          <a:bodyPr/>
          <a:lstStyle/>
          <a:p>
            <a:endParaRPr lang="en-US"/>
          </a:p>
        </p:txBody>
      </p:sp>
      <p:sp>
        <p:nvSpPr>
          <p:cNvPr id="6" name="Text 4"/>
          <p:cNvSpPr/>
          <p:nvPr/>
        </p:nvSpPr>
        <p:spPr>
          <a:xfrm>
            <a:off x="894398" y="4114681"/>
            <a:ext cx="157877" cy="315754"/>
          </a:xfrm>
          <a:prstGeom prst="rect">
            <a:avLst/>
          </a:prstGeom>
          <a:noFill/>
          <a:ln/>
        </p:spPr>
        <p:txBody>
          <a:bodyPr wrap="none" lIns="0" tIns="0" rIns="0" bIns="0" rtlCol="0" anchor="t"/>
          <a:lstStyle/>
          <a:p>
            <a:pPr marL="0" indent="0" algn="ctr">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1</a:t>
            </a:r>
            <a:endParaRPr lang="en-US" sz="2450" dirty="0"/>
          </a:p>
        </p:txBody>
      </p:sp>
      <p:sp>
        <p:nvSpPr>
          <p:cNvPr id="7" name="Text 5"/>
          <p:cNvSpPr/>
          <p:nvPr/>
        </p:nvSpPr>
        <p:spPr>
          <a:xfrm>
            <a:off x="1420535" y="4035862"/>
            <a:ext cx="2630805" cy="328851"/>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Números Positivos</a:t>
            </a:r>
            <a:endParaRPr lang="en-US" sz="2050" dirty="0"/>
          </a:p>
        </p:txBody>
      </p:sp>
      <p:sp>
        <p:nvSpPr>
          <p:cNvPr id="8" name="Text 6"/>
          <p:cNvSpPr/>
          <p:nvPr/>
        </p:nvSpPr>
        <p:spPr>
          <a:xfrm>
            <a:off x="1420535" y="4490918"/>
            <a:ext cx="5789533" cy="673418"/>
          </a:xfrm>
          <a:prstGeom prst="rect">
            <a:avLst/>
          </a:prstGeom>
          <a:noFill/>
          <a:ln/>
        </p:spPr>
        <p:txBody>
          <a:bodyPr wrap="square" lIns="0" tIns="0" rIns="0" bIns="0" rtlCol="0" anchor="t"/>
          <a:lstStyle/>
          <a:p>
            <a:pPr marL="0" indent="0">
              <a:lnSpc>
                <a:spcPts val="2650"/>
              </a:lnSpc>
              <a:buNone/>
            </a:pPr>
            <a:r>
              <a:rPr lang="en-US" sz="1650" dirty="0">
                <a:solidFill>
                  <a:srgbClr val="DAD1E6"/>
                </a:solidFill>
                <a:latin typeface="Fira Sans" pitchFamily="34" charset="0"/>
                <a:ea typeface="Fira Sans" pitchFamily="34" charset="-122"/>
                <a:cs typeface="Fira Sans" pitchFamily="34" charset="-120"/>
              </a:rPr>
              <a:t>Se representan en su forma binaria normal, con el bit más significativo (MSB) en 0.</a:t>
            </a:r>
            <a:endParaRPr lang="en-US" sz="1650" dirty="0"/>
          </a:p>
        </p:txBody>
      </p:sp>
      <p:sp>
        <p:nvSpPr>
          <p:cNvPr id="9" name="Shape 7"/>
          <p:cNvSpPr/>
          <p:nvPr/>
        </p:nvSpPr>
        <p:spPr>
          <a:xfrm>
            <a:off x="7420451" y="4035862"/>
            <a:ext cx="473512" cy="473512"/>
          </a:xfrm>
          <a:prstGeom prst="roundRect">
            <a:avLst>
              <a:gd name="adj" fmla="val 6667"/>
            </a:avLst>
          </a:prstGeom>
          <a:solidFill>
            <a:srgbClr val="433550"/>
          </a:solidFill>
          <a:ln/>
        </p:spPr>
        <p:txBody>
          <a:bodyPr/>
          <a:lstStyle/>
          <a:p>
            <a:endParaRPr lang="en-US"/>
          </a:p>
        </p:txBody>
      </p:sp>
      <p:sp>
        <p:nvSpPr>
          <p:cNvPr id="10" name="Text 8"/>
          <p:cNvSpPr/>
          <p:nvPr/>
        </p:nvSpPr>
        <p:spPr>
          <a:xfrm>
            <a:off x="7578209" y="4114681"/>
            <a:ext cx="157877" cy="315754"/>
          </a:xfrm>
          <a:prstGeom prst="rect">
            <a:avLst/>
          </a:prstGeom>
          <a:noFill/>
          <a:ln/>
        </p:spPr>
        <p:txBody>
          <a:bodyPr wrap="none" lIns="0" tIns="0" rIns="0" bIns="0" rtlCol="0" anchor="t"/>
          <a:lstStyle/>
          <a:p>
            <a:pPr marL="0" indent="0" algn="ctr">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2</a:t>
            </a:r>
            <a:endParaRPr lang="en-US" sz="2450" dirty="0"/>
          </a:p>
        </p:txBody>
      </p:sp>
      <p:sp>
        <p:nvSpPr>
          <p:cNvPr id="11" name="Text 9"/>
          <p:cNvSpPr/>
          <p:nvPr/>
        </p:nvSpPr>
        <p:spPr>
          <a:xfrm>
            <a:off x="8104346" y="4035862"/>
            <a:ext cx="2630805" cy="328851"/>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Números Negativos</a:t>
            </a:r>
            <a:endParaRPr lang="en-US" sz="2050" dirty="0"/>
          </a:p>
        </p:txBody>
      </p:sp>
      <p:sp>
        <p:nvSpPr>
          <p:cNvPr id="12" name="Text 10"/>
          <p:cNvSpPr/>
          <p:nvPr/>
        </p:nvSpPr>
        <p:spPr>
          <a:xfrm>
            <a:off x="8104346" y="4490918"/>
            <a:ext cx="5789533" cy="673418"/>
          </a:xfrm>
          <a:prstGeom prst="rect">
            <a:avLst/>
          </a:prstGeom>
          <a:noFill/>
          <a:ln/>
        </p:spPr>
        <p:txBody>
          <a:bodyPr wrap="square" lIns="0" tIns="0" rIns="0" bIns="0" rtlCol="0" anchor="t"/>
          <a:lstStyle/>
          <a:p>
            <a:pPr marL="0" indent="0">
              <a:lnSpc>
                <a:spcPts val="2650"/>
              </a:lnSpc>
              <a:buNone/>
            </a:pPr>
            <a:r>
              <a:rPr lang="en-US" sz="1650" dirty="0">
                <a:solidFill>
                  <a:srgbClr val="DAD1E6"/>
                </a:solidFill>
                <a:latin typeface="Fira Sans" pitchFamily="34" charset="0"/>
                <a:ea typeface="Fira Sans" pitchFamily="34" charset="-122"/>
                <a:cs typeface="Fira Sans" pitchFamily="34" charset="-120"/>
              </a:rPr>
              <a:t>Se obtienen invirtiendo todos los bits del número positivo correspondiente y sumando 1.</a:t>
            </a:r>
            <a:endParaRPr lang="en-US" sz="1650" dirty="0"/>
          </a:p>
        </p:txBody>
      </p:sp>
      <p:sp>
        <p:nvSpPr>
          <p:cNvPr id="13" name="Shape 11"/>
          <p:cNvSpPr/>
          <p:nvPr/>
        </p:nvSpPr>
        <p:spPr>
          <a:xfrm>
            <a:off x="736640" y="5611416"/>
            <a:ext cx="473512" cy="473512"/>
          </a:xfrm>
          <a:prstGeom prst="roundRect">
            <a:avLst>
              <a:gd name="adj" fmla="val 6667"/>
            </a:avLst>
          </a:prstGeom>
          <a:solidFill>
            <a:srgbClr val="433550"/>
          </a:solidFill>
          <a:ln/>
        </p:spPr>
        <p:txBody>
          <a:bodyPr/>
          <a:lstStyle/>
          <a:p>
            <a:endParaRPr lang="en-US"/>
          </a:p>
        </p:txBody>
      </p:sp>
      <p:sp>
        <p:nvSpPr>
          <p:cNvPr id="14" name="Text 12"/>
          <p:cNvSpPr/>
          <p:nvPr/>
        </p:nvSpPr>
        <p:spPr>
          <a:xfrm>
            <a:off x="894398" y="5690235"/>
            <a:ext cx="157877" cy="315754"/>
          </a:xfrm>
          <a:prstGeom prst="rect">
            <a:avLst/>
          </a:prstGeom>
          <a:noFill/>
          <a:ln/>
        </p:spPr>
        <p:txBody>
          <a:bodyPr wrap="none" lIns="0" tIns="0" rIns="0" bIns="0" rtlCol="0" anchor="t"/>
          <a:lstStyle/>
          <a:p>
            <a:pPr marL="0" indent="0" algn="ctr">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3</a:t>
            </a:r>
            <a:endParaRPr lang="en-US" sz="2450" dirty="0"/>
          </a:p>
        </p:txBody>
      </p:sp>
      <p:sp>
        <p:nvSpPr>
          <p:cNvPr id="15" name="Text 13"/>
          <p:cNvSpPr/>
          <p:nvPr/>
        </p:nvSpPr>
        <p:spPr>
          <a:xfrm>
            <a:off x="1420535" y="5611416"/>
            <a:ext cx="3024664" cy="328851"/>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Rango de Representación</a:t>
            </a:r>
            <a:endParaRPr lang="en-US" sz="2050" dirty="0"/>
          </a:p>
        </p:txBody>
      </p:sp>
      <p:sp>
        <p:nvSpPr>
          <p:cNvPr id="16" name="Text 14"/>
          <p:cNvSpPr/>
          <p:nvPr/>
        </p:nvSpPr>
        <p:spPr>
          <a:xfrm>
            <a:off x="1420535" y="6066473"/>
            <a:ext cx="5789533" cy="336709"/>
          </a:xfrm>
          <a:prstGeom prst="rect">
            <a:avLst/>
          </a:prstGeom>
          <a:noFill/>
          <a:ln/>
        </p:spPr>
        <p:txBody>
          <a:bodyPr wrap="none" lIns="0" tIns="0" rIns="0" bIns="0" rtlCol="0" anchor="t"/>
          <a:lstStyle/>
          <a:p>
            <a:pPr marL="0" indent="0">
              <a:lnSpc>
                <a:spcPts val="2650"/>
              </a:lnSpc>
              <a:buNone/>
            </a:pPr>
            <a:r>
              <a:rPr lang="en-US" sz="1650" dirty="0">
                <a:solidFill>
                  <a:srgbClr val="DAD1E6"/>
                </a:solidFill>
                <a:latin typeface="Fira Sans" pitchFamily="34" charset="0"/>
                <a:ea typeface="Fira Sans" pitchFamily="34" charset="-122"/>
                <a:cs typeface="Fira Sans" pitchFamily="34" charset="-120"/>
              </a:rPr>
              <a:t>Para n bits, el rango es de -2^(n-1) a 2^(n-1) - 1.</a:t>
            </a:r>
            <a:endParaRPr lang="en-US" sz="1650" dirty="0"/>
          </a:p>
        </p:txBody>
      </p:sp>
      <p:sp>
        <p:nvSpPr>
          <p:cNvPr id="17" name="Shape 15"/>
          <p:cNvSpPr/>
          <p:nvPr/>
        </p:nvSpPr>
        <p:spPr>
          <a:xfrm>
            <a:off x="7420451" y="5611416"/>
            <a:ext cx="473512" cy="473512"/>
          </a:xfrm>
          <a:prstGeom prst="roundRect">
            <a:avLst>
              <a:gd name="adj" fmla="val 6667"/>
            </a:avLst>
          </a:prstGeom>
          <a:solidFill>
            <a:srgbClr val="433550"/>
          </a:solidFill>
          <a:ln/>
        </p:spPr>
        <p:txBody>
          <a:bodyPr/>
          <a:lstStyle/>
          <a:p>
            <a:endParaRPr lang="en-US"/>
          </a:p>
        </p:txBody>
      </p:sp>
      <p:sp>
        <p:nvSpPr>
          <p:cNvPr id="18" name="Text 16"/>
          <p:cNvSpPr/>
          <p:nvPr/>
        </p:nvSpPr>
        <p:spPr>
          <a:xfrm>
            <a:off x="7578209" y="5690235"/>
            <a:ext cx="157877" cy="315754"/>
          </a:xfrm>
          <a:prstGeom prst="rect">
            <a:avLst/>
          </a:prstGeom>
          <a:noFill/>
          <a:ln/>
        </p:spPr>
        <p:txBody>
          <a:bodyPr wrap="none" lIns="0" tIns="0" rIns="0" bIns="0" rtlCol="0" anchor="t"/>
          <a:lstStyle/>
          <a:p>
            <a:pPr marL="0" indent="0" algn="ctr">
              <a:lnSpc>
                <a:spcPts val="2450"/>
              </a:lnSpc>
              <a:buNone/>
            </a:pPr>
            <a:r>
              <a:rPr lang="en-US" sz="2450" b="1" dirty="0">
                <a:solidFill>
                  <a:srgbClr val="DAD1E6"/>
                </a:solidFill>
                <a:latin typeface="Inconsolata Bold" pitchFamily="34" charset="0"/>
                <a:ea typeface="Inconsolata Bold" pitchFamily="34" charset="-122"/>
                <a:cs typeface="Inconsolata Bold" pitchFamily="34" charset="-120"/>
              </a:rPr>
              <a:t>4</a:t>
            </a:r>
            <a:endParaRPr lang="en-US" sz="2450" dirty="0"/>
          </a:p>
        </p:txBody>
      </p:sp>
      <p:sp>
        <p:nvSpPr>
          <p:cNvPr id="19" name="Text 17"/>
          <p:cNvSpPr/>
          <p:nvPr/>
        </p:nvSpPr>
        <p:spPr>
          <a:xfrm>
            <a:off x="8104346" y="5611416"/>
            <a:ext cx="2630805" cy="328851"/>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Ventaja Principal</a:t>
            </a:r>
            <a:endParaRPr lang="en-US" sz="2050" dirty="0"/>
          </a:p>
        </p:txBody>
      </p:sp>
      <p:sp>
        <p:nvSpPr>
          <p:cNvPr id="20" name="Text 18"/>
          <p:cNvSpPr/>
          <p:nvPr/>
        </p:nvSpPr>
        <p:spPr>
          <a:xfrm>
            <a:off x="8104346" y="6066473"/>
            <a:ext cx="5789533" cy="1010126"/>
          </a:xfrm>
          <a:prstGeom prst="rect">
            <a:avLst/>
          </a:prstGeom>
          <a:noFill/>
          <a:ln/>
        </p:spPr>
        <p:txBody>
          <a:bodyPr wrap="square" lIns="0" tIns="0" rIns="0" bIns="0" rtlCol="0" anchor="t"/>
          <a:lstStyle/>
          <a:p>
            <a:pPr marL="0" indent="0">
              <a:lnSpc>
                <a:spcPts val="2650"/>
              </a:lnSpc>
              <a:buNone/>
            </a:pPr>
            <a:r>
              <a:rPr lang="en-US" sz="1650" dirty="0">
                <a:solidFill>
                  <a:srgbClr val="DAD1E6"/>
                </a:solidFill>
                <a:latin typeface="Fira Sans" pitchFamily="34" charset="0"/>
                <a:ea typeface="Fira Sans" pitchFamily="34" charset="-122"/>
                <a:cs typeface="Fira Sans" pitchFamily="34" charset="-120"/>
              </a:rPr>
              <a:t>La suma y resta se realizan de la misma manera para números positivos y negativos, simplificando los circuitos aritméticos.</a:t>
            </a:r>
            <a:endParaRPr lang="en-US" sz="1650" dirty="0"/>
          </a:p>
        </p:txBody>
      </p:sp>
      <p:sp>
        <p:nvSpPr>
          <p:cNvPr id="21" name="Text 19"/>
          <p:cNvSpPr/>
          <p:nvPr/>
        </p:nvSpPr>
        <p:spPr>
          <a:xfrm>
            <a:off x="736640" y="7313295"/>
            <a:ext cx="13157121" cy="336709"/>
          </a:xfrm>
          <a:prstGeom prst="rect">
            <a:avLst/>
          </a:prstGeom>
          <a:noFill/>
          <a:ln/>
        </p:spPr>
        <p:txBody>
          <a:bodyPr wrap="none" lIns="0" tIns="0" rIns="0" bIns="0" rtlCol="0" anchor="t"/>
          <a:lstStyle/>
          <a:p>
            <a:pPr marL="0" indent="0">
              <a:lnSpc>
                <a:spcPts val="2650"/>
              </a:lnSpc>
              <a:buNone/>
            </a:pPr>
            <a:r>
              <a:rPr lang="en-US" sz="1650" dirty="0">
                <a:solidFill>
                  <a:srgbClr val="DAD1E6"/>
                </a:solidFill>
                <a:latin typeface="Fira Sans" pitchFamily="34" charset="0"/>
                <a:ea typeface="Fira Sans" pitchFamily="34" charset="-122"/>
                <a:cs typeface="Fira Sans" pitchFamily="34" charset="-120"/>
              </a:rPr>
              <a:t>Este método es eficiente y ampliamente adoptado en la mayoría de los sistemas de computación modernos.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84979"/>
            <a:ext cx="13042821" cy="1417558"/>
          </a:xfrm>
          <a:prstGeom prst="rect">
            <a:avLst/>
          </a:prstGeom>
          <a:noFill/>
          <a:ln/>
        </p:spPr>
        <p:txBody>
          <a:bodyPr wrap="square" lIns="0" tIns="0" rIns="0" bIns="0" rtlCol="0" anchor="t"/>
          <a:lstStyle/>
          <a:p>
            <a:pPr marL="0" indent="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Otros Métodos de Representación de Enteros con Signo</a:t>
            </a:r>
            <a:endParaRPr lang="en-US" sz="4450" dirty="0"/>
          </a:p>
        </p:txBody>
      </p:sp>
      <p:sp>
        <p:nvSpPr>
          <p:cNvPr id="3" name="Text 1"/>
          <p:cNvSpPr/>
          <p:nvPr/>
        </p:nvSpPr>
        <p:spPr>
          <a:xfrm>
            <a:off x="793790" y="2656165"/>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Aunque el complemento a dos es el método más común, existen otros sistemas para representar enteros con signo en computadoras digitales. Cada uno tiene sus propias características y aplicaciones específicas.</a:t>
            </a:r>
            <a:endParaRPr lang="en-US" sz="1750" dirty="0"/>
          </a:p>
        </p:txBody>
      </p:sp>
      <p:sp>
        <p:nvSpPr>
          <p:cNvPr id="4" name="Text 2"/>
          <p:cNvSpPr/>
          <p:nvPr/>
        </p:nvSpPr>
        <p:spPr>
          <a:xfrm>
            <a:off x="793790" y="386393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Signo y Magnitud</a:t>
            </a:r>
            <a:endParaRPr lang="en-US" sz="2200" dirty="0"/>
          </a:p>
        </p:txBody>
      </p:sp>
      <p:sp>
        <p:nvSpPr>
          <p:cNvPr id="5" name="Text 3"/>
          <p:cNvSpPr/>
          <p:nvPr/>
        </p:nvSpPr>
        <p:spPr>
          <a:xfrm>
            <a:off x="793790" y="4445079"/>
            <a:ext cx="3978116" cy="1814513"/>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Usa el bit más significativo para el signo (0 para positivo, 1 para negativo) y los demás bits para la magnitud. Es intuitivo pero complica las operaciones aritméticas.</a:t>
            </a:r>
            <a:endParaRPr lang="en-US" sz="1750" dirty="0"/>
          </a:p>
        </p:txBody>
      </p:sp>
      <p:sp>
        <p:nvSpPr>
          <p:cNvPr id="6" name="Text 4"/>
          <p:cNvSpPr/>
          <p:nvPr/>
        </p:nvSpPr>
        <p:spPr>
          <a:xfrm>
            <a:off x="5332928" y="386393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Complemento a Uno</a:t>
            </a:r>
            <a:endParaRPr lang="en-US" sz="2200" dirty="0"/>
          </a:p>
        </p:txBody>
      </p:sp>
      <p:sp>
        <p:nvSpPr>
          <p:cNvPr id="7" name="Text 5"/>
          <p:cNvSpPr/>
          <p:nvPr/>
        </p:nvSpPr>
        <p:spPr>
          <a:xfrm>
            <a:off x="5332928" y="4445079"/>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Los números negativos se obtienen invirtiendo todos los bits del número positivo. Tiene la desventaja de tener dos representaciones para el cero.</a:t>
            </a:r>
            <a:endParaRPr lang="en-US" sz="1750" dirty="0"/>
          </a:p>
        </p:txBody>
      </p:sp>
      <p:sp>
        <p:nvSpPr>
          <p:cNvPr id="8" name="Text 6"/>
          <p:cNvSpPr/>
          <p:nvPr/>
        </p:nvSpPr>
        <p:spPr>
          <a:xfrm>
            <a:off x="9872067" y="386393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Exceso K</a:t>
            </a:r>
            <a:endParaRPr lang="en-US" sz="2200" dirty="0"/>
          </a:p>
        </p:txBody>
      </p:sp>
      <p:sp>
        <p:nvSpPr>
          <p:cNvPr id="9" name="Text 7"/>
          <p:cNvSpPr/>
          <p:nvPr/>
        </p:nvSpPr>
        <p:spPr>
          <a:xfrm>
            <a:off x="9872067" y="4445079"/>
            <a:ext cx="3978116" cy="1451610"/>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Suma una constante K a todos los números. Útil en ciertas aplicaciones de punto flotante, pero menos común en representaciones de enteros.</a:t>
            </a:r>
            <a:endParaRPr lang="en-US" sz="1750" dirty="0"/>
          </a:p>
        </p:txBody>
      </p:sp>
      <p:sp>
        <p:nvSpPr>
          <p:cNvPr id="10" name="Text 8"/>
          <p:cNvSpPr/>
          <p:nvPr/>
        </p:nvSpPr>
        <p:spPr>
          <a:xfrm>
            <a:off x="793790" y="6718816"/>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Cada método tiene sus ventajas e inconvenientes en términos de facilidad de implementación, eficiencia en operaciones aritméticas y rango de representación.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48891"/>
            <a:ext cx="13042821" cy="1417558"/>
          </a:xfrm>
          <a:prstGeom prst="rect">
            <a:avLst/>
          </a:prstGeom>
          <a:noFill/>
          <a:ln/>
        </p:spPr>
        <p:txBody>
          <a:bodyPr wrap="square" lIns="0" tIns="0" rIns="0" bIns="0" rtlCol="0" anchor="t"/>
          <a:lstStyle/>
          <a:p>
            <a:pPr marL="0" indent="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Transistores: La Base de la Electrónica Digital</a:t>
            </a:r>
            <a:endParaRPr lang="en-US" sz="4450" dirty="0"/>
          </a:p>
        </p:txBody>
      </p:sp>
      <p:sp>
        <p:nvSpPr>
          <p:cNvPr id="3" name="Text 1"/>
          <p:cNvSpPr/>
          <p:nvPr/>
        </p:nvSpPr>
        <p:spPr>
          <a:xfrm>
            <a:off x="793790" y="2520077"/>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Los transistores son los componentes fundamentales de la electrónica digital moderna. Actúan como interruptores controlados eléctricamente, permitiendo o bloqueando el flujo de corriente. En los circuitos digitales, los transistores se utilizan para implementar funciones lógicas básicas.</a:t>
            </a:r>
            <a:endParaRPr lang="en-US" sz="1750" dirty="0"/>
          </a:p>
        </p:txBody>
      </p:sp>
      <p:pic>
        <p:nvPicPr>
          <p:cNvPr id="4" name="Image 0" descr="preencoded.png"/>
          <p:cNvPicPr>
            <a:picLocks noChangeAspect="1"/>
          </p:cNvPicPr>
          <p:nvPr/>
        </p:nvPicPr>
        <p:blipFill>
          <a:blip r:embed="rId3"/>
          <a:stretch>
            <a:fillRect/>
          </a:stretch>
        </p:blipFill>
        <p:spPr>
          <a:xfrm>
            <a:off x="793790" y="3863935"/>
            <a:ext cx="566976" cy="566976"/>
          </a:xfrm>
          <a:prstGeom prst="rect">
            <a:avLst/>
          </a:prstGeom>
        </p:spPr>
      </p:pic>
      <p:sp>
        <p:nvSpPr>
          <p:cNvPr id="5" name="Text 2"/>
          <p:cNvSpPr/>
          <p:nvPr/>
        </p:nvSpPr>
        <p:spPr>
          <a:xfrm>
            <a:off x="793790" y="4657725"/>
            <a:ext cx="311717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Función de Conmutación</a:t>
            </a:r>
            <a:endParaRPr lang="en-US" sz="2200" dirty="0"/>
          </a:p>
        </p:txBody>
      </p:sp>
      <p:sp>
        <p:nvSpPr>
          <p:cNvPr id="6" name="Text 3"/>
          <p:cNvSpPr/>
          <p:nvPr/>
        </p:nvSpPr>
        <p:spPr>
          <a:xfrm>
            <a:off x="793790" y="5148143"/>
            <a:ext cx="4120753" cy="1451610"/>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Los transistores pueden cambiar rápidamente entre estados "encendido" y "apagado", formando la base de la lógica binaria.</a:t>
            </a:r>
            <a:endParaRPr lang="en-US" sz="1750" dirty="0"/>
          </a:p>
        </p:txBody>
      </p:sp>
      <p:pic>
        <p:nvPicPr>
          <p:cNvPr id="7" name="Image 1" descr="preencoded.png"/>
          <p:cNvPicPr>
            <a:picLocks noChangeAspect="1"/>
          </p:cNvPicPr>
          <p:nvPr/>
        </p:nvPicPr>
        <p:blipFill>
          <a:blip r:embed="rId4"/>
          <a:stretch>
            <a:fillRect/>
          </a:stretch>
        </p:blipFill>
        <p:spPr>
          <a:xfrm>
            <a:off x="5254704" y="3863935"/>
            <a:ext cx="566976" cy="566976"/>
          </a:xfrm>
          <a:prstGeom prst="rect">
            <a:avLst/>
          </a:prstGeom>
        </p:spPr>
      </p:pic>
      <p:sp>
        <p:nvSpPr>
          <p:cNvPr id="8" name="Text 4"/>
          <p:cNvSpPr/>
          <p:nvPr/>
        </p:nvSpPr>
        <p:spPr>
          <a:xfrm>
            <a:off x="5254704" y="465772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Amplificación</a:t>
            </a:r>
            <a:endParaRPr lang="en-US" sz="2200" dirty="0"/>
          </a:p>
        </p:txBody>
      </p:sp>
      <p:sp>
        <p:nvSpPr>
          <p:cNvPr id="9" name="Text 5"/>
          <p:cNvSpPr/>
          <p:nvPr/>
        </p:nvSpPr>
        <p:spPr>
          <a:xfrm>
            <a:off x="5254704" y="5148143"/>
            <a:ext cx="4120872" cy="1088708"/>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Pueden amplificar señales, crucial para mantener la integridad de los datos en circuitos complejos.</a:t>
            </a:r>
            <a:endParaRPr lang="en-US" sz="1750" dirty="0"/>
          </a:p>
        </p:txBody>
      </p:sp>
      <p:pic>
        <p:nvPicPr>
          <p:cNvPr id="10" name="Image 2" descr="preencoded.png"/>
          <p:cNvPicPr>
            <a:picLocks noChangeAspect="1"/>
          </p:cNvPicPr>
          <p:nvPr/>
        </p:nvPicPr>
        <p:blipFill>
          <a:blip r:embed="rId5"/>
          <a:stretch>
            <a:fillRect/>
          </a:stretch>
        </p:blipFill>
        <p:spPr>
          <a:xfrm>
            <a:off x="9715738" y="3863935"/>
            <a:ext cx="566976" cy="566976"/>
          </a:xfrm>
          <a:prstGeom prst="rect">
            <a:avLst/>
          </a:prstGeom>
        </p:spPr>
      </p:pic>
      <p:sp>
        <p:nvSpPr>
          <p:cNvPr id="11" name="Text 6"/>
          <p:cNvSpPr/>
          <p:nvPr/>
        </p:nvSpPr>
        <p:spPr>
          <a:xfrm>
            <a:off x="9715738" y="4657725"/>
            <a:ext cx="2975491"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Implementación Lógica</a:t>
            </a:r>
            <a:endParaRPr lang="en-US" sz="2200" dirty="0"/>
          </a:p>
        </p:txBody>
      </p:sp>
      <p:sp>
        <p:nvSpPr>
          <p:cNvPr id="12" name="Text 7"/>
          <p:cNvSpPr/>
          <p:nvPr/>
        </p:nvSpPr>
        <p:spPr>
          <a:xfrm>
            <a:off x="9715738" y="5148143"/>
            <a:ext cx="4120753" cy="1451610"/>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Combinando transistores, se crean puertas lógicas como AND, OR, y NOT, los bloques de construcción de circuitos digitales más complejos.</a:t>
            </a:r>
            <a:endParaRPr lang="en-US" sz="1750" dirty="0"/>
          </a:p>
        </p:txBody>
      </p:sp>
      <p:sp>
        <p:nvSpPr>
          <p:cNvPr id="13" name="Text 8"/>
          <p:cNvSpPr/>
          <p:nvPr/>
        </p:nvSpPr>
        <p:spPr>
          <a:xfrm>
            <a:off x="793790" y="6854904"/>
            <a:ext cx="13042821" cy="725805"/>
          </a:xfrm>
          <a:prstGeom prst="rect">
            <a:avLst/>
          </a:prstGeom>
          <a:noFill/>
          <a:ln/>
        </p:spPr>
        <p:txBody>
          <a:bodyPr wrap="square" lIns="0" tIns="0" rIns="0" bIns="0" rtlCol="0" anchor="t"/>
          <a:lstStyle/>
          <a:p>
            <a:pPr marL="0" indent="0">
              <a:lnSpc>
                <a:spcPts val="2850"/>
              </a:lnSpc>
              <a:buNone/>
            </a:pPr>
            <a:r>
              <a:rPr lang="en-US" sz="1750" dirty="0">
                <a:solidFill>
                  <a:srgbClr val="DAD1E6"/>
                </a:solidFill>
                <a:latin typeface="Fira Sans" pitchFamily="34" charset="0"/>
                <a:ea typeface="Fira Sans" pitchFamily="34" charset="-122"/>
                <a:cs typeface="Fira Sans" pitchFamily="34" charset="-120"/>
              </a:rPr>
              <a:t>La miniaturización de los transistores ha permitido el desarrollo de chips cada vez más potentes y eficientes, impulsando la evolución de la tecnología computacional.</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2115" y="744379"/>
            <a:ext cx="11242834" cy="653772"/>
          </a:xfrm>
          <a:prstGeom prst="rect">
            <a:avLst/>
          </a:prstGeom>
          <a:noFill/>
          <a:ln/>
        </p:spPr>
        <p:txBody>
          <a:bodyPr wrap="none" lIns="0" tIns="0" rIns="0" bIns="0" rtlCol="0" anchor="t"/>
          <a:lstStyle/>
          <a:p>
            <a:pPr marL="0" indent="0">
              <a:lnSpc>
                <a:spcPts val="5100"/>
              </a:lnSpc>
              <a:buNone/>
            </a:pPr>
            <a:r>
              <a:rPr lang="en-US" sz="4100" b="1" dirty="0">
                <a:solidFill>
                  <a:srgbClr val="F94CAF"/>
                </a:solidFill>
                <a:latin typeface="Inconsolata Bold" pitchFamily="34" charset="0"/>
                <a:ea typeface="Inconsolata Bold" pitchFamily="34" charset="-122"/>
                <a:cs typeface="Inconsolata Bold" pitchFamily="34" charset="-120"/>
              </a:rPr>
              <a:t>Puertas Lógicas y Circuitos Combinacionales</a:t>
            </a:r>
            <a:endParaRPr lang="en-US" sz="4100" dirty="0"/>
          </a:p>
        </p:txBody>
      </p:sp>
      <p:sp>
        <p:nvSpPr>
          <p:cNvPr id="3" name="Text 1"/>
          <p:cNvSpPr/>
          <p:nvPr/>
        </p:nvSpPr>
        <p:spPr>
          <a:xfrm>
            <a:off x="732115" y="1816537"/>
            <a:ext cx="13166169" cy="669369"/>
          </a:xfrm>
          <a:prstGeom prst="rect">
            <a:avLst/>
          </a:prstGeom>
          <a:noFill/>
          <a:ln/>
        </p:spPr>
        <p:txBody>
          <a:bodyPr wrap="square" lIns="0" tIns="0" rIns="0" bIns="0" rtlCol="0" anchor="t"/>
          <a:lstStyle/>
          <a:p>
            <a:pPr marL="0" indent="0">
              <a:lnSpc>
                <a:spcPts val="2600"/>
              </a:lnSpc>
              <a:buNone/>
            </a:pPr>
            <a:r>
              <a:rPr lang="en-US" sz="1600" dirty="0">
                <a:solidFill>
                  <a:srgbClr val="DAD1E6"/>
                </a:solidFill>
                <a:latin typeface="Fira Sans" pitchFamily="34" charset="0"/>
                <a:ea typeface="Fira Sans" pitchFamily="34" charset="-122"/>
                <a:cs typeface="Fira Sans" pitchFamily="34" charset="-120"/>
              </a:rPr>
              <a:t>Las puertas lógicas son los bloques de construcción fundamentales de los circuitos digitales. Implementan operaciones booleanas básicas y se combinan para formar circuitos más complejos. Las puertas más comunes incluyen AND, OR, NOT, NAND, NOR, XOR, y XNOR.</a:t>
            </a:r>
            <a:endParaRPr lang="en-US" sz="1600" dirty="0"/>
          </a:p>
        </p:txBody>
      </p:sp>
      <p:sp>
        <p:nvSpPr>
          <p:cNvPr id="4" name="Text 2"/>
          <p:cNvSpPr/>
          <p:nvPr/>
        </p:nvSpPr>
        <p:spPr>
          <a:xfrm>
            <a:off x="732115" y="2721173"/>
            <a:ext cx="13166169" cy="669369"/>
          </a:xfrm>
          <a:prstGeom prst="rect">
            <a:avLst/>
          </a:prstGeom>
          <a:noFill/>
          <a:ln/>
        </p:spPr>
        <p:txBody>
          <a:bodyPr wrap="square" lIns="0" tIns="0" rIns="0" bIns="0" rtlCol="0" anchor="t"/>
          <a:lstStyle/>
          <a:p>
            <a:pPr marL="0" indent="0">
              <a:lnSpc>
                <a:spcPts val="2600"/>
              </a:lnSpc>
              <a:buNone/>
            </a:pPr>
            <a:r>
              <a:rPr lang="en-US" sz="1600" dirty="0">
                <a:solidFill>
                  <a:srgbClr val="DAD1E6"/>
                </a:solidFill>
                <a:latin typeface="Fira Sans" pitchFamily="34" charset="0"/>
                <a:ea typeface="Fira Sans" pitchFamily="34" charset="-122"/>
                <a:cs typeface="Fira Sans" pitchFamily="34" charset="-120"/>
              </a:rPr>
              <a:t>Los circuitos combinacionales son redes de puertas lógicas donde las salidas dependen únicamente de las entradas actuales, sin almacenamiento de estado. Ejemplos incluyen:</a:t>
            </a:r>
            <a:endParaRPr lang="en-US" sz="1600" dirty="0"/>
          </a:p>
        </p:txBody>
      </p:sp>
      <p:sp>
        <p:nvSpPr>
          <p:cNvPr id="5" name="Shape 3"/>
          <p:cNvSpPr/>
          <p:nvPr/>
        </p:nvSpPr>
        <p:spPr>
          <a:xfrm>
            <a:off x="732115" y="3625810"/>
            <a:ext cx="6478548" cy="1540073"/>
          </a:xfrm>
          <a:prstGeom prst="roundRect">
            <a:avLst>
              <a:gd name="adj" fmla="val 2038"/>
            </a:avLst>
          </a:prstGeom>
          <a:solidFill>
            <a:srgbClr val="433550"/>
          </a:solidFill>
          <a:ln/>
        </p:spPr>
        <p:txBody>
          <a:bodyPr/>
          <a:lstStyle/>
          <a:p>
            <a:endParaRPr lang="en-US"/>
          </a:p>
        </p:txBody>
      </p:sp>
      <p:sp>
        <p:nvSpPr>
          <p:cNvPr id="6" name="Text 4"/>
          <p:cNvSpPr/>
          <p:nvPr/>
        </p:nvSpPr>
        <p:spPr>
          <a:xfrm>
            <a:off x="941308" y="3835003"/>
            <a:ext cx="2614970" cy="326827"/>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Multiplexores</a:t>
            </a:r>
            <a:endParaRPr lang="en-US" sz="2050" dirty="0"/>
          </a:p>
        </p:txBody>
      </p:sp>
      <p:sp>
        <p:nvSpPr>
          <p:cNvPr id="7" name="Text 5"/>
          <p:cNvSpPr/>
          <p:nvPr/>
        </p:nvSpPr>
        <p:spPr>
          <a:xfrm>
            <a:off x="941308" y="4287322"/>
            <a:ext cx="6060162" cy="669369"/>
          </a:xfrm>
          <a:prstGeom prst="rect">
            <a:avLst/>
          </a:prstGeom>
          <a:noFill/>
          <a:ln/>
        </p:spPr>
        <p:txBody>
          <a:bodyPr wrap="square" lIns="0" tIns="0" rIns="0" bIns="0" rtlCol="0" anchor="t"/>
          <a:lstStyle/>
          <a:p>
            <a:pPr marL="0" indent="0">
              <a:lnSpc>
                <a:spcPts val="2600"/>
              </a:lnSpc>
              <a:buNone/>
            </a:pPr>
            <a:r>
              <a:rPr lang="en-US" sz="1600" dirty="0">
                <a:solidFill>
                  <a:srgbClr val="DAD1E6"/>
                </a:solidFill>
                <a:latin typeface="Fira Sans" pitchFamily="34" charset="0"/>
                <a:ea typeface="Fira Sans" pitchFamily="34" charset="-122"/>
                <a:cs typeface="Fira Sans" pitchFamily="34" charset="-120"/>
              </a:rPr>
              <a:t>Seleccionan una de varias entradas para pasarla a la salida, crucial en la gestión de datos.</a:t>
            </a:r>
            <a:endParaRPr lang="en-US" sz="1600" dirty="0"/>
          </a:p>
        </p:txBody>
      </p:sp>
      <p:sp>
        <p:nvSpPr>
          <p:cNvPr id="8" name="Shape 6"/>
          <p:cNvSpPr/>
          <p:nvPr/>
        </p:nvSpPr>
        <p:spPr>
          <a:xfrm>
            <a:off x="7419856" y="3625810"/>
            <a:ext cx="6478548" cy="1540073"/>
          </a:xfrm>
          <a:prstGeom prst="roundRect">
            <a:avLst>
              <a:gd name="adj" fmla="val 2038"/>
            </a:avLst>
          </a:prstGeom>
          <a:solidFill>
            <a:srgbClr val="433550"/>
          </a:solidFill>
          <a:ln/>
        </p:spPr>
        <p:txBody>
          <a:bodyPr/>
          <a:lstStyle/>
          <a:p>
            <a:endParaRPr lang="en-US"/>
          </a:p>
        </p:txBody>
      </p:sp>
      <p:sp>
        <p:nvSpPr>
          <p:cNvPr id="9" name="Text 7"/>
          <p:cNvSpPr/>
          <p:nvPr/>
        </p:nvSpPr>
        <p:spPr>
          <a:xfrm>
            <a:off x="7629049" y="3835003"/>
            <a:ext cx="2614970" cy="326827"/>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Decodificadores</a:t>
            </a:r>
            <a:endParaRPr lang="en-US" sz="2050" dirty="0"/>
          </a:p>
        </p:txBody>
      </p:sp>
      <p:sp>
        <p:nvSpPr>
          <p:cNvPr id="10" name="Text 8"/>
          <p:cNvSpPr/>
          <p:nvPr/>
        </p:nvSpPr>
        <p:spPr>
          <a:xfrm>
            <a:off x="7629049" y="4287322"/>
            <a:ext cx="6060162" cy="669369"/>
          </a:xfrm>
          <a:prstGeom prst="rect">
            <a:avLst/>
          </a:prstGeom>
          <a:noFill/>
          <a:ln/>
        </p:spPr>
        <p:txBody>
          <a:bodyPr wrap="square" lIns="0" tIns="0" rIns="0" bIns="0" rtlCol="0" anchor="t"/>
          <a:lstStyle/>
          <a:p>
            <a:pPr marL="0" indent="0">
              <a:lnSpc>
                <a:spcPts val="2600"/>
              </a:lnSpc>
              <a:buNone/>
            </a:pPr>
            <a:r>
              <a:rPr lang="en-US" sz="1600" dirty="0">
                <a:solidFill>
                  <a:srgbClr val="DAD1E6"/>
                </a:solidFill>
                <a:latin typeface="Fira Sans" pitchFamily="34" charset="0"/>
                <a:ea typeface="Fira Sans" pitchFamily="34" charset="-122"/>
                <a:cs typeface="Fira Sans" pitchFamily="34" charset="-120"/>
              </a:rPr>
              <a:t>Convierten un código de entrada en múltiples salidas, útiles en la selección de dispositivos o memoria.</a:t>
            </a:r>
            <a:endParaRPr lang="en-US" sz="1600" dirty="0"/>
          </a:p>
        </p:txBody>
      </p:sp>
      <p:sp>
        <p:nvSpPr>
          <p:cNvPr id="11" name="Shape 9"/>
          <p:cNvSpPr/>
          <p:nvPr/>
        </p:nvSpPr>
        <p:spPr>
          <a:xfrm>
            <a:off x="732115" y="5375077"/>
            <a:ext cx="6478548" cy="1540073"/>
          </a:xfrm>
          <a:prstGeom prst="roundRect">
            <a:avLst>
              <a:gd name="adj" fmla="val 2038"/>
            </a:avLst>
          </a:prstGeom>
          <a:solidFill>
            <a:srgbClr val="433550"/>
          </a:solidFill>
          <a:ln/>
        </p:spPr>
        <p:txBody>
          <a:bodyPr/>
          <a:lstStyle/>
          <a:p>
            <a:endParaRPr lang="en-US"/>
          </a:p>
        </p:txBody>
      </p:sp>
      <p:sp>
        <p:nvSpPr>
          <p:cNvPr id="12" name="Text 10"/>
          <p:cNvSpPr/>
          <p:nvPr/>
        </p:nvSpPr>
        <p:spPr>
          <a:xfrm>
            <a:off x="941308" y="5584269"/>
            <a:ext cx="2614970" cy="326827"/>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Sumadores</a:t>
            </a:r>
            <a:endParaRPr lang="en-US" sz="2050" dirty="0"/>
          </a:p>
        </p:txBody>
      </p:sp>
      <p:sp>
        <p:nvSpPr>
          <p:cNvPr id="13" name="Text 11"/>
          <p:cNvSpPr/>
          <p:nvPr/>
        </p:nvSpPr>
        <p:spPr>
          <a:xfrm>
            <a:off x="941308" y="6036588"/>
            <a:ext cx="6060162" cy="669369"/>
          </a:xfrm>
          <a:prstGeom prst="rect">
            <a:avLst/>
          </a:prstGeom>
          <a:noFill/>
          <a:ln/>
        </p:spPr>
        <p:txBody>
          <a:bodyPr wrap="square" lIns="0" tIns="0" rIns="0" bIns="0" rtlCol="0" anchor="t"/>
          <a:lstStyle/>
          <a:p>
            <a:pPr marL="0" indent="0">
              <a:lnSpc>
                <a:spcPts val="2600"/>
              </a:lnSpc>
              <a:buNone/>
            </a:pPr>
            <a:r>
              <a:rPr lang="en-US" sz="1600" dirty="0">
                <a:solidFill>
                  <a:srgbClr val="DAD1E6"/>
                </a:solidFill>
                <a:latin typeface="Fira Sans" pitchFamily="34" charset="0"/>
                <a:ea typeface="Fira Sans" pitchFamily="34" charset="-122"/>
                <a:cs typeface="Fira Sans" pitchFamily="34" charset="-120"/>
              </a:rPr>
              <a:t>Realizan la suma aritmética de números binarios, componente esencial en unidades aritméticas.</a:t>
            </a:r>
            <a:endParaRPr lang="en-US" sz="1600" dirty="0"/>
          </a:p>
        </p:txBody>
      </p:sp>
      <p:sp>
        <p:nvSpPr>
          <p:cNvPr id="14" name="Shape 12"/>
          <p:cNvSpPr/>
          <p:nvPr/>
        </p:nvSpPr>
        <p:spPr>
          <a:xfrm>
            <a:off x="7419856" y="5375077"/>
            <a:ext cx="6478548" cy="1540073"/>
          </a:xfrm>
          <a:prstGeom prst="roundRect">
            <a:avLst>
              <a:gd name="adj" fmla="val 2038"/>
            </a:avLst>
          </a:prstGeom>
          <a:solidFill>
            <a:srgbClr val="433550"/>
          </a:solidFill>
          <a:ln/>
        </p:spPr>
        <p:txBody>
          <a:bodyPr/>
          <a:lstStyle/>
          <a:p>
            <a:endParaRPr lang="en-US"/>
          </a:p>
        </p:txBody>
      </p:sp>
      <p:sp>
        <p:nvSpPr>
          <p:cNvPr id="15" name="Text 13"/>
          <p:cNvSpPr/>
          <p:nvPr/>
        </p:nvSpPr>
        <p:spPr>
          <a:xfrm>
            <a:off x="7629049" y="5584269"/>
            <a:ext cx="2614970" cy="326827"/>
          </a:xfrm>
          <a:prstGeom prst="rect">
            <a:avLst/>
          </a:prstGeom>
          <a:noFill/>
          <a:ln/>
        </p:spPr>
        <p:txBody>
          <a:bodyPr wrap="none" lIns="0" tIns="0" rIns="0" bIns="0" rtlCol="0" anchor="t"/>
          <a:lstStyle/>
          <a:p>
            <a:pPr marL="0" indent="0">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Comparadores</a:t>
            </a:r>
            <a:endParaRPr lang="en-US" sz="2050" dirty="0"/>
          </a:p>
        </p:txBody>
      </p:sp>
      <p:sp>
        <p:nvSpPr>
          <p:cNvPr id="16" name="Text 14"/>
          <p:cNvSpPr/>
          <p:nvPr/>
        </p:nvSpPr>
        <p:spPr>
          <a:xfrm>
            <a:off x="7629049" y="6036588"/>
            <a:ext cx="6060162" cy="669369"/>
          </a:xfrm>
          <a:prstGeom prst="rect">
            <a:avLst/>
          </a:prstGeom>
          <a:noFill/>
          <a:ln/>
        </p:spPr>
        <p:txBody>
          <a:bodyPr wrap="square" lIns="0" tIns="0" rIns="0" bIns="0" rtlCol="0" anchor="t"/>
          <a:lstStyle/>
          <a:p>
            <a:pPr marL="0" indent="0">
              <a:lnSpc>
                <a:spcPts val="2600"/>
              </a:lnSpc>
              <a:buNone/>
            </a:pPr>
            <a:r>
              <a:rPr lang="en-US" sz="1600" dirty="0">
                <a:solidFill>
                  <a:srgbClr val="DAD1E6"/>
                </a:solidFill>
                <a:latin typeface="Fira Sans" pitchFamily="34" charset="0"/>
                <a:ea typeface="Fira Sans" pitchFamily="34" charset="-122"/>
                <a:cs typeface="Fira Sans" pitchFamily="34" charset="-120"/>
              </a:rPr>
              <a:t>Comparan valores binarios, fundamentales en operaciones de control y toma de decisiones.</a:t>
            </a:r>
            <a:endParaRPr lang="en-US" sz="1600" dirty="0"/>
          </a:p>
        </p:txBody>
      </p:sp>
      <p:sp>
        <p:nvSpPr>
          <p:cNvPr id="17" name="Text 15"/>
          <p:cNvSpPr/>
          <p:nvPr/>
        </p:nvSpPr>
        <p:spPr>
          <a:xfrm>
            <a:off x="732115" y="7150418"/>
            <a:ext cx="13166169" cy="334685"/>
          </a:xfrm>
          <a:prstGeom prst="rect">
            <a:avLst/>
          </a:prstGeom>
          <a:noFill/>
          <a:ln/>
        </p:spPr>
        <p:txBody>
          <a:bodyPr wrap="none" lIns="0" tIns="0" rIns="0" bIns="0" rtlCol="0" anchor="t"/>
          <a:lstStyle/>
          <a:p>
            <a:pPr marL="0" indent="0">
              <a:lnSpc>
                <a:spcPts val="2600"/>
              </a:lnSpc>
              <a:buNone/>
            </a:pPr>
            <a:r>
              <a:rPr lang="en-US" sz="1600" dirty="0">
                <a:solidFill>
                  <a:srgbClr val="DAD1E6"/>
                </a:solidFill>
                <a:latin typeface="Fira Sans" pitchFamily="34" charset="0"/>
                <a:ea typeface="Fira Sans" pitchFamily="34" charset="-122"/>
                <a:cs typeface="Fira Sans" pitchFamily="34" charset="-120"/>
              </a:rPr>
              <a:t>Estos circuitos forman la base de operaciones más complejas en procesadores y otros dispositivos digitales.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7471" y="563642"/>
            <a:ext cx="13195459" cy="1281113"/>
          </a:xfrm>
          <a:prstGeom prst="rect">
            <a:avLst/>
          </a:prstGeom>
          <a:noFill/>
          <a:ln/>
        </p:spPr>
        <p:txBody>
          <a:bodyPr wrap="square" lIns="0" tIns="0" rIns="0" bIns="0" rtlCol="0" anchor="t"/>
          <a:lstStyle/>
          <a:p>
            <a:pPr marL="0" indent="0">
              <a:lnSpc>
                <a:spcPts val="5000"/>
              </a:lnSpc>
              <a:buNone/>
            </a:pPr>
            <a:r>
              <a:rPr lang="en-US" sz="4000" b="1" dirty="0">
                <a:solidFill>
                  <a:srgbClr val="F94CAF"/>
                </a:solidFill>
                <a:latin typeface="Inconsolata Bold" pitchFamily="34" charset="0"/>
                <a:ea typeface="Inconsolata Bold" pitchFamily="34" charset="-122"/>
                <a:cs typeface="Inconsolata Bold" pitchFamily="34" charset="-120"/>
              </a:rPr>
              <a:t>Elementos de Almacenamiento y Unidad Aritmético-Lógica (ALU)</a:t>
            </a:r>
            <a:endParaRPr lang="en-US" sz="4000" dirty="0"/>
          </a:p>
        </p:txBody>
      </p:sp>
      <p:sp>
        <p:nvSpPr>
          <p:cNvPr id="3" name="Text 1"/>
          <p:cNvSpPr/>
          <p:nvPr/>
        </p:nvSpPr>
        <p:spPr>
          <a:xfrm>
            <a:off x="717471" y="2254687"/>
            <a:ext cx="13195459" cy="984052"/>
          </a:xfrm>
          <a:prstGeom prst="rect">
            <a:avLst/>
          </a:prstGeom>
          <a:noFill/>
          <a:ln/>
        </p:spPr>
        <p:txBody>
          <a:bodyPr wrap="squar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Los elementos de almacenamiento y la Unidad Aritmético-Lógica (ALU) son componentes cruciales en la arquitectura de computadoras. Los elementos de almacenamiento, como flip-flops y registros, permiten retener información temporalmente, esencial para el procesamiento secuencial de datos.</a:t>
            </a:r>
            <a:endParaRPr lang="en-US" sz="1600" dirty="0"/>
          </a:p>
        </p:txBody>
      </p:sp>
      <p:sp>
        <p:nvSpPr>
          <p:cNvPr id="4" name="Shape 2"/>
          <p:cNvSpPr/>
          <p:nvPr/>
        </p:nvSpPr>
        <p:spPr>
          <a:xfrm>
            <a:off x="717471" y="3776782"/>
            <a:ext cx="13195459" cy="22860"/>
          </a:xfrm>
          <a:prstGeom prst="roundRect">
            <a:avLst>
              <a:gd name="adj" fmla="val 134514"/>
            </a:avLst>
          </a:prstGeom>
          <a:solidFill>
            <a:srgbClr val="5C4E69"/>
          </a:solidFill>
          <a:ln/>
        </p:spPr>
        <p:txBody>
          <a:bodyPr/>
          <a:lstStyle/>
          <a:p>
            <a:endParaRPr lang="en-US"/>
          </a:p>
        </p:txBody>
      </p:sp>
      <p:sp>
        <p:nvSpPr>
          <p:cNvPr id="5" name="Shape 3"/>
          <p:cNvSpPr/>
          <p:nvPr/>
        </p:nvSpPr>
        <p:spPr>
          <a:xfrm>
            <a:off x="2278618" y="3776782"/>
            <a:ext cx="22860" cy="717471"/>
          </a:xfrm>
          <a:prstGeom prst="roundRect">
            <a:avLst>
              <a:gd name="adj" fmla="val 134514"/>
            </a:avLst>
          </a:prstGeom>
          <a:solidFill>
            <a:srgbClr val="5C4E69"/>
          </a:solidFill>
          <a:ln/>
        </p:spPr>
        <p:txBody>
          <a:bodyPr/>
          <a:lstStyle/>
          <a:p>
            <a:endParaRPr lang="en-US"/>
          </a:p>
        </p:txBody>
      </p:sp>
      <p:sp>
        <p:nvSpPr>
          <p:cNvPr id="6" name="Shape 4"/>
          <p:cNvSpPr/>
          <p:nvPr/>
        </p:nvSpPr>
        <p:spPr>
          <a:xfrm>
            <a:off x="2059424" y="3546158"/>
            <a:ext cx="461248" cy="461248"/>
          </a:xfrm>
          <a:prstGeom prst="roundRect">
            <a:avLst>
              <a:gd name="adj" fmla="val 6667"/>
            </a:avLst>
          </a:prstGeom>
          <a:solidFill>
            <a:srgbClr val="433550"/>
          </a:solidFill>
          <a:ln/>
        </p:spPr>
        <p:txBody>
          <a:bodyPr/>
          <a:lstStyle/>
          <a:p>
            <a:endParaRPr lang="en-US"/>
          </a:p>
        </p:txBody>
      </p:sp>
      <p:sp>
        <p:nvSpPr>
          <p:cNvPr id="7" name="Text 5"/>
          <p:cNvSpPr/>
          <p:nvPr/>
        </p:nvSpPr>
        <p:spPr>
          <a:xfrm>
            <a:off x="2213134" y="3622953"/>
            <a:ext cx="153710" cy="307538"/>
          </a:xfrm>
          <a:prstGeom prst="rect">
            <a:avLst/>
          </a:prstGeom>
          <a:noFill/>
          <a:ln/>
        </p:spPr>
        <p:txBody>
          <a:bodyPr wrap="none" lIns="0" tIns="0" rIns="0" bIns="0" rtlCol="0" anchor="t"/>
          <a:lstStyle/>
          <a:p>
            <a:pPr marL="0" indent="0" algn="ctr">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1</a:t>
            </a:r>
            <a:endParaRPr lang="en-US" sz="2400" dirty="0"/>
          </a:p>
        </p:txBody>
      </p:sp>
      <p:sp>
        <p:nvSpPr>
          <p:cNvPr id="8" name="Text 6"/>
          <p:cNvSpPr/>
          <p:nvPr/>
        </p:nvSpPr>
        <p:spPr>
          <a:xfrm>
            <a:off x="1008817" y="4699278"/>
            <a:ext cx="2562463" cy="320278"/>
          </a:xfrm>
          <a:prstGeom prst="rect">
            <a:avLst/>
          </a:prstGeom>
          <a:noFill/>
          <a:ln/>
        </p:spPr>
        <p:txBody>
          <a:bodyPr wrap="none" lIns="0" tIns="0" rIns="0" bIns="0" rtlCol="0" anchor="t"/>
          <a:lstStyle/>
          <a:p>
            <a:pPr marL="0" indent="0" algn="ctr">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Flip-Flops</a:t>
            </a:r>
            <a:endParaRPr lang="en-US" sz="2000" dirty="0"/>
          </a:p>
        </p:txBody>
      </p:sp>
      <p:sp>
        <p:nvSpPr>
          <p:cNvPr id="9" name="Text 7"/>
          <p:cNvSpPr/>
          <p:nvPr/>
        </p:nvSpPr>
        <p:spPr>
          <a:xfrm>
            <a:off x="922377" y="5142548"/>
            <a:ext cx="2735342" cy="1640086"/>
          </a:xfrm>
          <a:prstGeom prst="rect">
            <a:avLst/>
          </a:prstGeom>
          <a:noFill/>
          <a:ln/>
        </p:spPr>
        <p:txBody>
          <a:bodyPr wrap="square" lIns="0" tIns="0" rIns="0" bIns="0" rtlCol="0" anchor="t"/>
          <a:lstStyle/>
          <a:p>
            <a:pPr marL="0" indent="0" algn="ctr">
              <a:lnSpc>
                <a:spcPts val="2550"/>
              </a:lnSpc>
              <a:buNone/>
            </a:pPr>
            <a:r>
              <a:rPr lang="en-US" sz="1600" dirty="0">
                <a:solidFill>
                  <a:srgbClr val="DAD1E6"/>
                </a:solidFill>
                <a:latin typeface="Fira Sans" pitchFamily="34" charset="0"/>
                <a:ea typeface="Fira Sans" pitchFamily="34" charset="-122"/>
                <a:cs typeface="Fira Sans" pitchFamily="34" charset="-120"/>
              </a:rPr>
              <a:t>Circuitos que pueden mantener uno de dos estados estables, formando la base de la memoria volátil.</a:t>
            </a:r>
            <a:endParaRPr lang="en-US" sz="1600" dirty="0"/>
          </a:p>
        </p:txBody>
      </p:sp>
      <p:sp>
        <p:nvSpPr>
          <p:cNvPr id="10" name="Shape 8"/>
          <p:cNvSpPr/>
          <p:nvPr/>
        </p:nvSpPr>
        <p:spPr>
          <a:xfrm>
            <a:off x="5628680" y="3776782"/>
            <a:ext cx="22860" cy="717471"/>
          </a:xfrm>
          <a:prstGeom prst="roundRect">
            <a:avLst>
              <a:gd name="adj" fmla="val 134514"/>
            </a:avLst>
          </a:prstGeom>
          <a:solidFill>
            <a:srgbClr val="5C4E69"/>
          </a:solidFill>
          <a:ln/>
        </p:spPr>
        <p:txBody>
          <a:bodyPr/>
          <a:lstStyle/>
          <a:p>
            <a:endParaRPr lang="en-US"/>
          </a:p>
        </p:txBody>
      </p:sp>
      <p:sp>
        <p:nvSpPr>
          <p:cNvPr id="11" name="Shape 9"/>
          <p:cNvSpPr/>
          <p:nvPr/>
        </p:nvSpPr>
        <p:spPr>
          <a:xfrm>
            <a:off x="5409486" y="3546158"/>
            <a:ext cx="461248" cy="461248"/>
          </a:xfrm>
          <a:prstGeom prst="roundRect">
            <a:avLst>
              <a:gd name="adj" fmla="val 6667"/>
            </a:avLst>
          </a:prstGeom>
          <a:solidFill>
            <a:srgbClr val="433550"/>
          </a:solidFill>
          <a:ln/>
        </p:spPr>
        <p:txBody>
          <a:bodyPr/>
          <a:lstStyle/>
          <a:p>
            <a:endParaRPr lang="en-US"/>
          </a:p>
        </p:txBody>
      </p:sp>
      <p:sp>
        <p:nvSpPr>
          <p:cNvPr id="12" name="Text 10"/>
          <p:cNvSpPr/>
          <p:nvPr/>
        </p:nvSpPr>
        <p:spPr>
          <a:xfrm>
            <a:off x="5563195" y="3622953"/>
            <a:ext cx="153710" cy="307538"/>
          </a:xfrm>
          <a:prstGeom prst="rect">
            <a:avLst/>
          </a:prstGeom>
          <a:noFill/>
          <a:ln/>
        </p:spPr>
        <p:txBody>
          <a:bodyPr wrap="none" lIns="0" tIns="0" rIns="0" bIns="0" rtlCol="0" anchor="t"/>
          <a:lstStyle/>
          <a:p>
            <a:pPr marL="0" indent="0" algn="ctr">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2</a:t>
            </a:r>
            <a:endParaRPr lang="en-US" sz="2400" dirty="0"/>
          </a:p>
        </p:txBody>
      </p:sp>
      <p:sp>
        <p:nvSpPr>
          <p:cNvPr id="13" name="Text 11"/>
          <p:cNvSpPr/>
          <p:nvPr/>
        </p:nvSpPr>
        <p:spPr>
          <a:xfrm>
            <a:off x="4358878" y="4699278"/>
            <a:ext cx="2562463" cy="320278"/>
          </a:xfrm>
          <a:prstGeom prst="rect">
            <a:avLst/>
          </a:prstGeom>
          <a:noFill/>
          <a:ln/>
        </p:spPr>
        <p:txBody>
          <a:bodyPr wrap="none" lIns="0" tIns="0" rIns="0" bIns="0" rtlCol="0" anchor="t"/>
          <a:lstStyle/>
          <a:p>
            <a:pPr marL="0" indent="0" algn="ctr">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Registros</a:t>
            </a:r>
            <a:endParaRPr lang="en-US" sz="2000" dirty="0"/>
          </a:p>
        </p:txBody>
      </p:sp>
      <p:sp>
        <p:nvSpPr>
          <p:cNvPr id="14" name="Text 12"/>
          <p:cNvSpPr/>
          <p:nvPr/>
        </p:nvSpPr>
        <p:spPr>
          <a:xfrm>
            <a:off x="4272439" y="5142548"/>
            <a:ext cx="2735342" cy="1312069"/>
          </a:xfrm>
          <a:prstGeom prst="rect">
            <a:avLst/>
          </a:prstGeom>
          <a:noFill/>
          <a:ln/>
        </p:spPr>
        <p:txBody>
          <a:bodyPr wrap="square" lIns="0" tIns="0" rIns="0" bIns="0" rtlCol="0" anchor="t"/>
          <a:lstStyle/>
          <a:p>
            <a:pPr marL="0" indent="0" algn="ctr">
              <a:lnSpc>
                <a:spcPts val="2550"/>
              </a:lnSpc>
              <a:buNone/>
            </a:pPr>
            <a:r>
              <a:rPr lang="en-US" sz="1600" dirty="0">
                <a:solidFill>
                  <a:srgbClr val="DAD1E6"/>
                </a:solidFill>
                <a:latin typeface="Fira Sans" pitchFamily="34" charset="0"/>
                <a:ea typeface="Fira Sans" pitchFamily="34" charset="-122"/>
                <a:cs typeface="Fira Sans" pitchFamily="34" charset="-120"/>
              </a:rPr>
              <a:t>Conjuntos de flip-flops que almacenan palabras de datos, fundamentales para operaciones de CPU.</a:t>
            </a:r>
            <a:endParaRPr lang="en-US" sz="1600" dirty="0"/>
          </a:p>
        </p:txBody>
      </p:sp>
      <p:sp>
        <p:nvSpPr>
          <p:cNvPr id="15" name="Shape 13"/>
          <p:cNvSpPr/>
          <p:nvPr/>
        </p:nvSpPr>
        <p:spPr>
          <a:xfrm>
            <a:off x="8978741" y="3776782"/>
            <a:ext cx="22860" cy="717471"/>
          </a:xfrm>
          <a:prstGeom prst="roundRect">
            <a:avLst>
              <a:gd name="adj" fmla="val 134514"/>
            </a:avLst>
          </a:prstGeom>
          <a:solidFill>
            <a:srgbClr val="5C4E69"/>
          </a:solidFill>
          <a:ln/>
        </p:spPr>
        <p:txBody>
          <a:bodyPr/>
          <a:lstStyle/>
          <a:p>
            <a:endParaRPr lang="en-US"/>
          </a:p>
        </p:txBody>
      </p:sp>
      <p:sp>
        <p:nvSpPr>
          <p:cNvPr id="16" name="Shape 14"/>
          <p:cNvSpPr/>
          <p:nvPr/>
        </p:nvSpPr>
        <p:spPr>
          <a:xfrm>
            <a:off x="8759547" y="3546158"/>
            <a:ext cx="461248" cy="461248"/>
          </a:xfrm>
          <a:prstGeom prst="roundRect">
            <a:avLst>
              <a:gd name="adj" fmla="val 6667"/>
            </a:avLst>
          </a:prstGeom>
          <a:solidFill>
            <a:srgbClr val="433550"/>
          </a:solidFill>
          <a:ln/>
        </p:spPr>
        <p:txBody>
          <a:bodyPr/>
          <a:lstStyle/>
          <a:p>
            <a:endParaRPr lang="en-US"/>
          </a:p>
        </p:txBody>
      </p:sp>
      <p:sp>
        <p:nvSpPr>
          <p:cNvPr id="17" name="Text 15"/>
          <p:cNvSpPr/>
          <p:nvPr/>
        </p:nvSpPr>
        <p:spPr>
          <a:xfrm>
            <a:off x="8913257" y="3622953"/>
            <a:ext cx="153710" cy="307538"/>
          </a:xfrm>
          <a:prstGeom prst="rect">
            <a:avLst/>
          </a:prstGeom>
          <a:noFill/>
          <a:ln/>
        </p:spPr>
        <p:txBody>
          <a:bodyPr wrap="none" lIns="0" tIns="0" rIns="0" bIns="0" rtlCol="0" anchor="t"/>
          <a:lstStyle/>
          <a:p>
            <a:pPr marL="0" indent="0" algn="ctr">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3</a:t>
            </a:r>
            <a:endParaRPr lang="en-US" sz="2400" dirty="0"/>
          </a:p>
        </p:txBody>
      </p:sp>
      <p:sp>
        <p:nvSpPr>
          <p:cNvPr id="18" name="Text 16"/>
          <p:cNvSpPr/>
          <p:nvPr/>
        </p:nvSpPr>
        <p:spPr>
          <a:xfrm>
            <a:off x="7708940" y="4699278"/>
            <a:ext cx="2562463" cy="320278"/>
          </a:xfrm>
          <a:prstGeom prst="rect">
            <a:avLst/>
          </a:prstGeom>
          <a:noFill/>
          <a:ln/>
        </p:spPr>
        <p:txBody>
          <a:bodyPr wrap="none" lIns="0" tIns="0" rIns="0" bIns="0" rtlCol="0" anchor="t"/>
          <a:lstStyle/>
          <a:p>
            <a:pPr marL="0" indent="0" algn="ctr">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ALU</a:t>
            </a:r>
            <a:endParaRPr lang="en-US" sz="2000" dirty="0"/>
          </a:p>
        </p:txBody>
      </p:sp>
      <p:sp>
        <p:nvSpPr>
          <p:cNvPr id="19" name="Text 17"/>
          <p:cNvSpPr/>
          <p:nvPr/>
        </p:nvSpPr>
        <p:spPr>
          <a:xfrm>
            <a:off x="7622500" y="5142548"/>
            <a:ext cx="2735342" cy="1312069"/>
          </a:xfrm>
          <a:prstGeom prst="rect">
            <a:avLst/>
          </a:prstGeom>
          <a:noFill/>
          <a:ln/>
        </p:spPr>
        <p:txBody>
          <a:bodyPr wrap="square" lIns="0" tIns="0" rIns="0" bIns="0" rtlCol="0" anchor="t"/>
          <a:lstStyle/>
          <a:p>
            <a:pPr marL="0" indent="0" algn="ctr">
              <a:lnSpc>
                <a:spcPts val="2550"/>
              </a:lnSpc>
              <a:buNone/>
            </a:pPr>
            <a:r>
              <a:rPr lang="en-US" sz="1600" dirty="0">
                <a:solidFill>
                  <a:srgbClr val="DAD1E6"/>
                </a:solidFill>
                <a:latin typeface="Fira Sans" pitchFamily="34" charset="0"/>
                <a:ea typeface="Fira Sans" pitchFamily="34" charset="-122"/>
                <a:cs typeface="Fira Sans" pitchFamily="34" charset="-120"/>
              </a:rPr>
              <a:t>Realiza operaciones aritméticas y lógicas, el corazón del procesamiento de datos en la CPU.</a:t>
            </a:r>
            <a:endParaRPr lang="en-US" sz="1600" dirty="0"/>
          </a:p>
        </p:txBody>
      </p:sp>
      <p:sp>
        <p:nvSpPr>
          <p:cNvPr id="20" name="Shape 18"/>
          <p:cNvSpPr/>
          <p:nvPr/>
        </p:nvSpPr>
        <p:spPr>
          <a:xfrm>
            <a:off x="12328803" y="3776782"/>
            <a:ext cx="22860" cy="717471"/>
          </a:xfrm>
          <a:prstGeom prst="roundRect">
            <a:avLst>
              <a:gd name="adj" fmla="val 134514"/>
            </a:avLst>
          </a:prstGeom>
          <a:solidFill>
            <a:srgbClr val="5C4E69"/>
          </a:solidFill>
          <a:ln/>
        </p:spPr>
        <p:txBody>
          <a:bodyPr/>
          <a:lstStyle/>
          <a:p>
            <a:endParaRPr lang="en-US"/>
          </a:p>
        </p:txBody>
      </p:sp>
      <p:sp>
        <p:nvSpPr>
          <p:cNvPr id="21" name="Shape 19"/>
          <p:cNvSpPr/>
          <p:nvPr/>
        </p:nvSpPr>
        <p:spPr>
          <a:xfrm>
            <a:off x="12109609" y="3546158"/>
            <a:ext cx="461248" cy="461248"/>
          </a:xfrm>
          <a:prstGeom prst="roundRect">
            <a:avLst>
              <a:gd name="adj" fmla="val 6667"/>
            </a:avLst>
          </a:prstGeom>
          <a:solidFill>
            <a:srgbClr val="433550"/>
          </a:solidFill>
          <a:ln/>
        </p:spPr>
        <p:txBody>
          <a:bodyPr/>
          <a:lstStyle/>
          <a:p>
            <a:endParaRPr lang="en-US"/>
          </a:p>
        </p:txBody>
      </p:sp>
      <p:sp>
        <p:nvSpPr>
          <p:cNvPr id="22" name="Text 20"/>
          <p:cNvSpPr/>
          <p:nvPr/>
        </p:nvSpPr>
        <p:spPr>
          <a:xfrm>
            <a:off x="12263318" y="3622953"/>
            <a:ext cx="153710" cy="307538"/>
          </a:xfrm>
          <a:prstGeom prst="rect">
            <a:avLst/>
          </a:prstGeom>
          <a:noFill/>
          <a:ln/>
        </p:spPr>
        <p:txBody>
          <a:bodyPr wrap="none" lIns="0" tIns="0" rIns="0" bIns="0" rtlCol="0" anchor="t"/>
          <a:lstStyle/>
          <a:p>
            <a:pPr marL="0" indent="0" algn="ctr">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4</a:t>
            </a:r>
            <a:endParaRPr lang="en-US" sz="2400" dirty="0"/>
          </a:p>
        </p:txBody>
      </p:sp>
      <p:sp>
        <p:nvSpPr>
          <p:cNvPr id="23" name="Text 21"/>
          <p:cNvSpPr/>
          <p:nvPr/>
        </p:nvSpPr>
        <p:spPr>
          <a:xfrm>
            <a:off x="11059001" y="4699278"/>
            <a:ext cx="2562463" cy="320278"/>
          </a:xfrm>
          <a:prstGeom prst="rect">
            <a:avLst/>
          </a:prstGeom>
          <a:noFill/>
          <a:ln/>
        </p:spPr>
        <p:txBody>
          <a:bodyPr wrap="none" lIns="0" tIns="0" rIns="0" bIns="0" rtlCol="0" anchor="t"/>
          <a:lstStyle/>
          <a:p>
            <a:pPr marL="0" indent="0" algn="ctr">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Integración</a:t>
            </a:r>
            <a:endParaRPr lang="en-US" sz="2000" dirty="0"/>
          </a:p>
        </p:txBody>
      </p:sp>
      <p:sp>
        <p:nvSpPr>
          <p:cNvPr id="24" name="Text 22"/>
          <p:cNvSpPr/>
          <p:nvPr/>
        </p:nvSpPr>
        <p:spPr>
          <a:xfrm>
            <a:off x="10972562" y="5142548"/>
            <a:ext cx="2735461" cy="1640086"/>
          </a:xfrm>
          <a:prstGeom prst="rect">
            <a:avLst/>
          </a:prstGeom>
          <a:noFill/>
          <a:ln/>
        </p:spPr>
        <p:txBody>
          <a:bodyPr wrap="square" lIns="0" tIns="0" rIns="0" bIns="0" rtlCol="0" anchor="t"/>
          <a:lstStyle/>
          <a:p>
            <a:pPr marL="0" indent="0" algn="ctr">
              <a:lnSpc>
                <a:spcPts val="2550"/>
              </a:lnSpc>
              <a:buNone/>
            </a:pPr>
            <a:r>
              <a:rPr lang="en-US" sz="1600" dirty="0">
                <a:solidFill>
                  <a:srgbClr val="DAD1E6"/>
                </a:solidFill>
                <a:latin typeface="Fira Sans" pitchFamily="34" charset="0"/>
                <a:ea typeface="Fira Sans" pitchFamily="34" charset="-122"/>
                <a:cs typeface="Fira Sans" pitchFamily="34" charset="-120"/>
              </a:rPr>
              <a:t>La combinación de estos elementos permite el procesamiento complejo de datos en computadoras modernas.</a:t>
            </a:r>
            <a:endParaRPr lang="en-US" sz="1600" dirty="0"/>
          </a:p>
        </p:txBody>
      </p:sp>
      <p:sp>
        <p:nvSpPr>
          <p:cNvPr id="25" name="Text 23"/>
          <p:cNvSpPr/>
          <p:nvPr/>
        </p:nvSpPr>
        <p:spPr>
          <a:xfrm>
            <a:off x="717471" y="7013258"/>
            <a:ext cx="13195459" cy="656034"/>
          </a:xfrm>
          <a:prstGeom prst="rect">
            <a:avLst/>
          </a:prstGeom>
          <a:noFill/>
          <a:ln/>
        </p:spPr>
        <p:txBody>
          <a:bodyPr wrap="square" lIns="0" tIns="0" rIns="0" bIns="0" rtlCol="0" anchor="t"/>
          <a:lstStyle/>
          <a:p>
            <a:pPr marL="0" indent="0">
              <a:lnSpc>
                <a:spcPts val="2550"/>
              </a:lnSpc>
              <a:buNone/>
            </a:pPr>
            <a:r>
              <a:rPr lang="en-US" sz="1600" dirty="0">
                <a:solidFill>
                  <a:srgbClr val="DAD1E6"/>
                </a:solidFill>
                <a:latin typeface="Fira Sans" pitchFamily="34" charset="0"/>
                <a:ea typeface="Fira Sans" pitchFamily="34" charset="-122"/>
                <a:cs typeface="Fira Sans" pitchFamily="34" charset="-120"/>
              </a:rPr>
              <a:t>La ALU, en particular, es responsable de realizar operaciones como suma, resta, AND, OR, entre otras, trabajando en conjunto con los registros para procesar y manipular datos según las instrucciones del programa.</a:t>
            </a:r>
            <a:endParaRPr lang="en-US" sz="1600" dirty="0"/>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1</TotalTime>
  <Words>1567</Words>
  <Application>Microsoft Office PowerPoint</Application>
  <PresentationFormat>Custom</PresentationFormat>
  <Paragraphs>121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Fira Sans</vt:lpstr>
      <vt:lpstr>Inconsolata Bold</vt:lpstr>
      <vt:lpstr>Arial</vt:lpstr>
      <vt:lpstr>Century Gothic</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Marroquin</cp:lastModifiedBy>
  <cp:revision>2</cp:revision>
  <dcterms:created xsi:type="dcterms:W3CDTF">2024-11-05T23:44:49Z</dcterms:created>
  <dcterms:modified xsi:type="dcterms:W3CDTF">2024-11-05T23:46:07Z</dcterms:modified>
</cp:coreProperties>
</file>