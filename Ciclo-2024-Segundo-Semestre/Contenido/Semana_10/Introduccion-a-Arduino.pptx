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Instrument Sans SemiBold"/>
      <p:regular r:id="rId15"/>
      <p:bold r:id="rId16"/>
      <p:italic r:id="rId17"/>
      <p:boldItalic r:id="rId18"/>
    </p:embeddedFont>
    <p:embeddedFont>
      <p:font typeface="Instrument Sans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dsS9GFJ7nlcvAU8h4lF1LiwFW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strumentSansMedium-bold.fntdata"/><Relationship Id="rId11" Type="http://schemas.openxmlformats.org/officeDocument/2006/relationships/slide" Target="slides/slide7.xml"/><Relationship Id="rId22" Type="http://schemas.openxmlformats.org/officeDocument/2006/relationships/font" Target="fonts/InstrumentSansMedium-boldItalic.fntdata"/><Relationship Id="rId10" Type="http://schemas.openxmlformats.org/officeDocument/2006/relationships/slide" Target="slides/slide6.xml"/><Relationship Id="rId21" Type="http://schemas.openxmlformats.org/officeDocument/2006/relationships/font" Target="fonts/InstrumentSansMedium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strumentSans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InstrumentSansSemiBold-italic.fntdata"/><Relationship Id="rId16" Type="http://schemas.openxmlformats.org/officeDocument/2006/relationships/font" Target="fonts/InstrumentSansSemiBold-bold.fntdata"/><Relationship Id="rId5" Type="http://schemas.openxmlformats.org/officeDocument/2006/relationships/slide" Target="slides/slide1.xml"/><Relationship Id="rId19" Type="http://schemas.openxmlformats.org/officeDocument/2006/relationships/font" Target="fonts/InstrumentSansMedium-regular.fntdata"/><Relationship Id="rId6" Type="http://schemas.openxmlformats.org/officeDocument/2006/relationships/slide" Target="slides/slide2.xml"/><Relationship Id="rId18" Type="http://schemas.openxmlformats.org/officeDocument/2006/relationships/font" Target="fonts/InstrumentSans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488" y="1655088"/>
            <a:ext cx="4919424" cy="4919424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/>
          <p:nvPr/>
        </p:nvSpPr>
        <p:spPr>
          <a:xfrm>
            <a:off x="6280190" y="2059186"/>
            <a:ext cx="7556421" cy="1956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03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6150"/>
              <a:buFont typeface="Instrument Sans SemiBold"/>
              <a:buNone/>
            </a:pPr>
            <a:r>
              <a:rPr b="1" i="0" lang="en-US" sz="61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Introducción a Arduino</a:t>
            </a:r>
            <a:endParaRPr b="0" i="0" sz="6150" u="none" cap="none" strike="noStrike"/>
          </a:p>
        </p:txBody>
      </p:sp>
      <p:sp>
        <p:nvSpPr>
          <p:cNvPr id="59" name="Google Shape;59;p1"/>
          <p:cNvSpPr/>
          <p:nvPr/>
        </p:nvSpPr>
        <p:spPr>
          <a:xfrm>
            <a:off x="6280190" y="4355783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es una plataforma de hardware y software de código abierto, diseñada para facilitar el desarrollo de proyectos electrónicos. Es una herramienta versátil y económica que permite a usuarios de todos los niveles crear una amplia variedad de dispositivos, desde simples controladores hasta complejos sistemas robóticos.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793790" y="922633"/>
            <a:ext cx="7395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Funcionamiento de Arduino</a:t>
            </a:r>
            <a:endParaRPr b="0" i="0" sz="44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793790" y="270712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983099" y="2792135"/>
            <a:ext cx="13168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Instrument Sans SemiBold"/>
              <a:buNone/>
            </a:pPr>
            <a:r>
              <a:rPr b="1" i="0" lang="en-US" sz="26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b="0" i="0" sz="265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1530906" y="2707124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Microcontrolador</a:t>
            </a:r>
            <a:endParaRPr b="0" i="0" sz="22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530906" y="3197542"/>
            <a:ext cx="3459242" cy="362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corazón de un panel Arduino es un microcontrolador, un chip que contiene una unidad de procesamiento, memoria y periféricos integrados. Este microcontrolador ejecuta las instrucciones del programa cargado en la placa para controlar y monitorear los componentes conectados.</a:t>
            </a:r>
            <a:endParaRPr b="0" i="0" sz="175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5216962" y="270712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5377339" y="2792135"/>
            <a:ext cx="18954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Instrument Sans SemiBold"/>
              <a:buNone/>
            </a:pPr>
            <a:r>
              <a:rPr b="1" i="0" lang="en-US" sz="26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b="0" i="0" sz="26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5954078" y="27071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Entradas y Salidas</a:t>
            </a:r>
            <a:endParaRPr b="0" i="0" sz="22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5954078" y="3197542"/>
            <a:ext cx="3459242" cy="362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cuenta con múltiples pines de entrada y salida (E/S) que permiten conectar sensores, actuadores y otros dispositivos. Estos pines pueden recibir señales eléctricas, enviar órdenes y transmitir datos, posibilitando la interacción entre el microcontrolador y el mundo físico.</a:t>
            </a:r>
            <a:endParaRPr b="0" i="0" sz="175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9640133" y="2707124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9796701" y="2792135"/>
            <a:ext cx="19704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650"/>
              <a:buFont typeface="Instrument Sans SemiBold"/>
              <a:buNone/>
            </a:pPr>
            <a:r>
              <a:rPr b="1" i="0" lang="en-US" sz="26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b="0" i="0" sz="265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10377249" y="270712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Comunicación</a:t>
            </a:r>
            <a:endParaRPr b="0" i="0" sz="220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10377249" y="3197542"/>
            <a:ext cx="3459242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puede comunicarse con otros dispositivos y computadoras a través de diversos protocolos, como Serial, I2C y SPI. Esto permite el intercambio de información y el control remoto de los proyectos.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790" y="1062205"/>
            <a:ext cx="125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Componentes principales de una placa Arduino</a:t>
            </a:r>
            <a:endParaRPr b="0" i="0" sz="44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Microcontrolador</a:t>
            </a:r>
            <a:endParaRPr b="0" i="0" sz="220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793790" y="3671054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cerebro de la placa Arduino es un microcontrolador, como el ATmega328P, que ejecuta las instrucciones del programa cargado. Este chip proporciona la capacidad de procesamiento y control.</a:t>
            </a:r>
            <a:endParaRPr b="0" i="0" sz="17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332928" y="3089910"/>
            <a:ext cx="316051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Pines de Entrada/Salida</a:t>
            </a:r>
            <a:endParaRPr b="0" i="0" sz="22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5332928" y="3671054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 placa Arduino cuenta con múltiples pines digitales y analógicos que permiten conectar sensores, actuadores y otros componentes. Estos pines son esenciales para interactuar con el mundo físico.</a:t>
            </a:r>
            <a:endParaRPr b="0" i="0" sz="17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9872067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Interfaz USB</a:t>
            </a:r>
            <a:endParaRPr b="0" i="0" sz="22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9872067" y="3671054"/>
            <a:ext cx="3978116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 conexión USB de la placa Arduino permite programar y cargar el código, así como también comunicar la placa con una computadora u otros dispositivos. Es el enlace principal para la interacción con el microcontrolador.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726638" y="286862"/>
            <a:ext cx="10377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4050"/>
              <a:buFont typeface="Instrument Sans SemiBold"/>
              <a:buNone/>
            </a:pPr>
            <a:r>
              <a:rPr b="1" i="0" lang="en-US" sz="40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Introducción a la programación de Arduino</a:t>
            </a:r>
            <a:endParaRPr b="0" i="0" sz="40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26638" y="4812863"/>
            <a:ext cx="13177123" cy="22860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957399" y="4086285"/>
            <a:ext cx="22860" cy="726638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735348" y="4579322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908584" y="4657070"/>
            <a:ext cx="120610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450"/>
              <a:buFont typeface="Instrument Sans SemiBold"/>
              <a:buNone/>
            </a:pPr>
            <a:r>
              <a:rPr b="1" i="0" lang="en-US" sz="24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b="0" i="0" sz="245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2637592" y="1768673"/>
            <a:ext cx="2662714" cy="32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Instrument Sans SemiBold"/>
              <a:buNone/>
            </a:pPr>
            <a:r>
              <a:rPr b="1" i="0" lang="en-US" sz="20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Entorno de Desarrollo</a:t>
            </a:r>
            <a:endParaRPr b="0" i="0" sz="200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934164" y="2217658"/>
            <a:ext cx="6069687" cy="1660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Instrument Sans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entorno de desarrollo de Arduino, conocido como IDE (Integrated Development Environment), proporciona un espacio intuitivo para escribir, compilar y cargar el código en la placa. Es la herramienta principal para programar y controlar los proyectos.</a:t>
            </a:r>
            <a:endParaRPr b="0" i="0" sz="160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7303532" y="4812804"/>
            <a:ext cx="22860" cy="726638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7081480" y="4579322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7228284" y="4657070"/>
            <a:ext cx="173474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450"/>
              <a:buFont typeface="Instrument Sans SemiBold"/>
              <a:buNone/>
            </a:pPr>
            <a:r>
              <a:rPr b="1" i="0" lang="en-US" sz="24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b="0" i="0" sz="245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5682377" y="5747147"/>
            <a:ext cx="3265527" cy="32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Instrument Sans SemiBold"/>
              <a:buNone/>
            </a:pPr>
            <a:r>
              <a:rPr b="1" i="0" lang="en-US" sz="20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Lenguaje de Programación</a:t>
            </a:r>
            <a:endParaRPr b="0" i="0" sz="200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4280297" y="6196132"/>
            <a:ext cx="6069687" cy="1328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Instrument Sans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utiliza un lenguaje de programación basado en C/C++, con una sintaxis simplificada y funciones específicas para el manejo de hardware. Esto facilita el aprendizaje y la implementación de proyectos, incluso para principiantes.</a:t>
            </a:r>
            <a:endParaRPr b="0" i="0" sz="16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10649783" y="4086285"/>
            <a:ext cx="22860" cy="726638"/>
          </a:xfrm>
          <a:prstGeom prst="roundRect">
            <a:avLst>
              <a:gd fmla="val 381482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10427732" y="4579322"/>
            <a:ext cx="467082" cy="46708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0571083" y="4657070"/>
            <a:ext cx="180380" cy="311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450"/>
              <a:buFont typeface="Instrument Sans SemiBold"/>
              <a:buNone/>
            </a:pPr>
            <a:r>
              <a:rPr b="1" i="0" lang="en-US" sz="24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b="0" i="0" sz="2450" u="none" cap="none" strike="noStrike"/>
          </a:p>
        </p:txBody>
      </p:sp>
      <p:sp>
        <p:nvSpPr>
          <p:cNvPr id="110" name="Google Shape;110;p4"/>
          <p:cNvSpPr/>
          <p:nvPr/>
        </p:nvSpPr>
        <p:spPr>
          <a:xfrm>
            <a:off x="9331404" y="1768673"/>
            <a:ext cx="2659856" cy="32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00"/>
              <a:buFont typeface="Instrument Sans SemiBold"/>
              <a:buNone/>
            </a:pPr>
            <a:r>
              <a:rPr b="1" i="0" lang="en-US" sz="20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Estructura del Código</a:t>
            </a:r>
            <a:endParaRPr b="0" i="0" sz="20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7626429" y="2217658"/>
            <a:ext cx="6069806" cy="1660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00"/>
              <a:buFont typeface="Instrument Sans Medium"/>
              <a:buNone/>
            </a:pPr>
            <a:r>
              <a:rPr b="0" i="0" lang="en-US" sz="16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Todo programa Arduino sigue una estructura básica con dos funciones principales: setup() y loop(). La primera se encarga de la configuración inicial, mientras que la segunda ejecuta el código de manera repetida, permitiendo el control y monitoreo constante del proyecto.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734616" y="425292"/>
            <a:ext cx="124224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4100"/>
              <a:buFont typeface="Instrument Sans SemiBold"/>
              <a:buNone/>
            </a:pPr>
            <a:r>
              <a:rPr b="1" i="0" lang="en-US" sz="41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Lenguaje de programación Arduino y su estructura</a:t>
            </a:r>
            <a:endParaRPr b="0" i="0" sz="410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734616" y="2315766"/>
            <a:ext cx="6475690" cy="2231946"/>
          </a:xfrm>
          <a:prstGeom prst="roundRect">
            <a:avLst>
              <a:gd fmla="val 395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952143" y="2533293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Instrument Sans SemiBold"/>
              <a:buNone/>
            </a:pPr>
            <a:r>
              <a:rPr b="1" i="0" lang="en-US" sz="20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Sintaxis básica</a:t>
            </a:r>
            <a:endParaRPr b="0" i="0" sz="2050" u="none" cap="none" strike="noStrike"/>
          </a:p>
        </p:txBody>
      </p:sp>
      <p:sp>
        <p:nvSpPr>
          <p:cNvPr id="120" name="Google Shape;120;p5"/>
          <p:cNvSpPr/>
          <p:nvPr/>
        </p:nvSpPr>
        <p:spPr>
          <a:xfrm>
            <a:off x="952143" y="2987159"/>
            <a:ext cx="6040636" cy="1343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50"/>
              <a:buFont typeface="Instrument Sans Medium"/>
              <a:buNone/>
            </a:pPr>
            <a:r>
              <a:rPr b="0" i="0" lang="en-US" sz="16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lenguaje de programación Arduino utiliza una sintaxis similar a C/C++, con declaración de variables, estructuras de control (if, for, while) y funciones. Esto facilita el aprendizaje para aquellos familiarizados con estos lenguajes.</a:t>
            </a:r>
            <a:endParaRPr b="0" i="0" sz="16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420213" y="2315766"/>
            <a:ext cx="6475690" cy="2231946"/>
          </a:xfrm>
          <a:prstGeom prst="roundRect">
            <a:avLst>
              <a:gd fmla="val 395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637740" y="2315768"/>
            <a:ext cx="2873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Instrument Sans SemiBold"/>
              <a:buNone/>
            </a:pPr>
            <a:r>
              <a:rPr b="1" i="0" lang="en-US" sz="20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Funciones predefinidas</a:t>
            </a:r>
            <a:endParaRPr b="0" i="0" sz="205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7637740" y="2987159"/>
            <a:ext cx="6040636" cy="1343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50"/>
              <a:buFont typeface="Instrument Sans Medium"/>
              <a:buNone/>
            </a:pPr>
            <a:r>
              <a:rPr b="0" i="0" lang="en-US" sz="16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proporciona una amplia gama de funciones predefinidas, como digitalWrite(), analogRead() y Serial.print(), que simplifican tareas comunes como el control de pines, la lectura de sensores y la comunicación serie.</a:t>
            </a:r>
            <a:endParaRPr b="0" i="0" sz="165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734616" y="4757618"/>
            <a:ext cx="6475690" cy="2231946"/>
          </a:xfrm>
          <a:prstGeom prst="roundRect">
            <a:avLst>
              <a:gd fmla="val 395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945293" y="4715646"/>
            <a:ext cx="26376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Instrument Sans SemiBold"/>
              <a:buNone/>
            </a:pPr>
            <a:r>
              <a:rPr b="1" i="0" lang="en-US" sz="20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Estructura del código</a:t>
            </a:r>
            <a:endParaRPr b="0" i="0" sz="205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952143" y="5429012"/>
            <a:ext cx="6040636" cy="1343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50"/>
              <a:buFont typeface="Instrument Sans Medium"/>
              <a:buNone/>
            </a:pPr>
            <a:r>
              <a:rPr b="0" i="0" lang="en-US" sz="16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Todo programa Arduino sigue la estructura básica de setup() y loop(). La función setup() se ejecuta una vez al inicio, mientras que la función loop() se repite continuamente, permitiendo el control y monitoreo del proyecto.</a:t>
            </a:r>
            <a:endParaRPr b="0" i="0" sz="16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420213" y="4757618"/>
            <a:ext cx="6475690" cy="2231946"/>
          </a:xfrm>
          <a:prstGeom prst="roundRect">
            <a:avLst>
              <a:gd fmla="val 395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637740" y="4975146"/>
            <a:ext cx="2623899" cy="328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050"/>
              <a:buFont typeface="Instrument Sans SemiBold"/>
              <a:buNone/>
            </a:pPr>
            <a:r>
              <a:rPr b="1" i="0" lang="en-US" sz="20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Librerías</a:t>
            </a:r>
            <a:endParaRPr b="0" i="0" sz="205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7637740" y="5429012"/>
            <a:ext cx="6040636" cy="1343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50"/>
              <a:buFont typeface="Instrument Sans Medium"/>
              <a:buNone/>
            </a:pPr>
            <a:r>
              <a:rPr b="0" i="0" lang="en-US" sz="16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cuenta con una extensa biblioteca de librerías que ofrecen funcionalidades avanzadas, como control de motores, sensores y comunicación con otros dispositivos. Esto facilita la implementación de proyectos complejos.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691753" y="691872"/>
            <a:ext cx="7760494" cy="1235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3850"/>
              <a:buFont typeface="Instrument Sans SemiBold"/>
              <a:buNone/>
            </a:pPr>
            <a:r>
              <a:rPr b="1" i="0" lang="en-US" sz="38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Implementación de código Arduino en proyectos</a:t>
            </a:r>
            <a:endParaRPr b="0" i="0" sz="3850" u="none" cap="none" strike="noStrike"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753" y="2223730"/>
            <a:ext cx="988338" cy="1771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1976557" y="2421374"/>
            <a:ext cx="2470785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00"/>
              <a:buFont typeface="Instrument Sans SemiBold"/>
              <a:buNone/>
            </a:pPr>
            <a:r>
              <a:rPr b="1" i="0" lang="en-US" sz="19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Diseño del proyecto</a:t>
            </a:r>
            <a:endParaRPr b="0" i="0" sz="190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1976557" y="2848689"/>
            <a:ext cx="6475690" cy="94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Instrument Sans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primer paso es planificar y diseñar el proyecto, identificando los requisitos, los componentes necesarios y la lógica de funcionamiento. Esto ayuda a estructurar el código de manera eficiente.</a:t>
            </a:r>
            <a:endParaRPr b="0" i="0" sz="1550" u="none" cap="none" strike="noStrike"/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753" y="3995023"/>
            <a:ext cx="988338" cy="1771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1976557" y="4192667"/>
            <a:ext cx="2470785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00"/>
              <a:buFont typeface="Instrument Sans SemiBold"/>
              <a:buNone/>
            </a:pPr>
            <a:r>
              <a:rPr b="1" i="0" lang="en-US" sz="19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Programación</a:t>
            </a:r>
            <a:endParaRPr b="0" i="0" sz="190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1976557" y="4619982"/>
            <a:ext cx="6475690" cy="94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Instrument Sans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Usando el IDE de Arduino, se escribe el código siguiendo la estructura básica de setup() y loop(). Se definen variables, se leen sensores, se controlan actuadores y se implementa la lógica del proyecto.</a:t>
            </a:r>
            <a:endParaRPr b="0" i="0" sz="1550" u="none" cap="none" strike="noStrike"/>
          </a:p>
        </p:txBody>
      </p:sp>
      <p:pic>
        <p:nvPicPr>
          <p:cNvPr descr="preencoded.png" id="143" name="Google Shape;14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753" y="5766316"/>
            <a:ext cx="988338" cy="1771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/>
          <p:nvPr/>
        </p:nvSpPr>
        <p:spPr>
          <a:xfrm>
            <a:off x="1976557" y="5963960"/>
            <a:ext cx="2540556" cy="30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00"/>
              <a:buFont typeface="Instrument Sans SemiBold"/>
              <a:buNone/>
            </a:pPr>
            <a:r>
              <a:rPr b="1" i="0" lang="en-US" sz="190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Pruebas y Depuración</a:t>
            </a:r>
            <a:endParaRPr b="0" i="0" sz="1900" u="none" cap="none" strike="noStrike"/>
          </a:p>
        </p:txBody>
      </p:sp>
      <p:sp>
        <p:nvSpPr>
          <p:cNvPr id="145" name="Google Shape;145;p6"/>
          <p:cNvSpPr/>
          <p:nvPr/>
        </p:nvSpPr>
        <p:spPr>
          <a:xfrm>
            <a:off x="1976557" y="6391275"/>
            <a:ext cx="6475690" cy="94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064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Instrument Sans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Es crucial probar el código en la placa Arduino, identificar y solucionar errores (depuración) para asegurar el correcto funcionamiento del proyecto. Esto garantiza la calidad y fiabilidad del dispositivo.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587573" y="594598"/>
            <a:ext cx="7968853" cy="1049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3300"/>
              <a:buFont typeface="Instrument Sans SemiBold"/>
              <a:buNone/>
            </a:pPr>
            <a:r>
              <a:rPr b="1" i="0" lang="en-US" sz="33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Protocolos de comunicación: Serial, I2C, SPI</a:t>
            </a:r>
            <a:endParaRPr b="0" i="0" sz="3300" u="none" cap="none" strike="noStrike"/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573" y="1895594"/>
            <a:ext cx="419695" cy="4196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587573" y="2483168"/>
            <a:ext cx="2098596" cy="26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50"/>
              <a:buFont typeface="Instrument Sans SemiBold"/>
              <a:buNone/>
            </a:pPr>
            <a:r>
              <a:rPr b="1" i="0" lang="en-US" sz="16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Serial</a:t>
            </a:r>
            <a:endParaRPr b="0" i="0" sz="165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587573" y="2846189"/>
            <a:ext cx="7968853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 comunicación serial es la más básica y ampliamente utilizada. Permite el intercambio de datos entre la placa Arduino y otros dispositivos o computadoras a través de los pines TX y RX.</a:t>
            </a:r>
            <a:endParaRPr b="0" i="0" sz="1300" u="none" cap="none" strike="noStrike"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573" y="3887033"/>
            <a:ext cx="419695" cy="41969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587573" y="4474607"/>
            <a:ext cx="2098596" cy="26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50"/>
              <a:buFont typeface="Instrument Sans SemiBold"/>
              <a:buNone/>
            </a:pPr>
            <a:r>
              <a:rPr b="1" i="0" lang="en-US" sz="16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I2C</a:t>
            </a:r>
            <a:endParaRPr b="0" i="0" sz="165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587573" y="4837628"/>
            <a:ext cx="7968853" cy="805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protocolo I2C (Inter-Integrated Circuit) permite la comunicación entre múltiples dispositivos utilizando solo dos hilos: SDA (datos) y SCL (reloj). Es ideal para conectar sensores, actuadores y otros periféricos.</a:t>
            </a:r>
            <a:endParaRPr b="0" i="0" sz="1300" u="none" cap="none" strike="noStrike"/>
          </a:p>
        </p:txBody>
      </p:sp>
      <p:pic>
        <p:nvPicPr>
          <p:cNvPr descr="preencoded.png" id="159" name="Google Shape;15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7573" y="6147078"/>
            <a:ext cx="419695" cy="41969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587573" y="6734651"/>
            <a:ext cx="2098596" cy="26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650"/>
              <a:buFont typeface="Instrument Sans SemiBold"/>
              <a:buNone/>
            </a:pPr>
            <a:r>
              <a:rPr b="1" i="0" lang="en-US" sz="16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SPI</a:t>
            </a:r>
            <a:endParaRPr b="0" i="0" sz="1650" u="none" cap="none" strike="noStrike"/>
          </a:p>
        </p:txBody>
      </p:sp>
      <p:sp>
        <p:nvSpPr>
          <p:cNvPr id="161" name="Google Shape;161;p7"/>
          <p:cNvSpPr/>
          <p:nvPr/>
        </p:nvSpPr>
        <p:spPr>
          <a:xfrm>
            <a:off x="587573" y="7097673"/>
            <a:ext cx="7968853" cy="537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300"/>
              <a:buFont typeface="Instrument Sans Medium"/>
              <a:buNone/>
            </a:pPr>
            <a:r>
              <a:rPr b="0" i="0" lang="en-US" sz="13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El bus SPI (Serial Peripheral Interface) usa cuatro hilos para la transmisión de datos: MOSI, MISO, SCK y CS. Es una opción rápida y eficiente para la comunicación entre Arduino y dispositivos periféricos.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4625" y="2137767"/>
            <a:ext cx="5005030" cy="39540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674013" y="681395"/>
            <a:ext cx="7795974" cy="1203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3750"/>
              <a:buFont typeface="Instrument Sans SemiBold"/>
              <a:buNone/>
            </a:pPr>
            <a:r>
              <a:rPr b="1" i="0" lang="en-US" sz="37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Comunicación entre Arduino y otros dispositivos</a:t>
            </a:r>
            <a:endParaRPr b="0" i="0" sz="375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674013" y="2173962"/>
            <a:ext cx="7795974" cy="5374124"/>
          </a:xfrm>
          <a:prstGeom prst="roundRect">
            <a:avLst>
              <a:gd fmla="val 1505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81633" y="2181582"/>
            <a:ext cx="7780734" cy="178629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874157" y="2304693"/>
            <a:ext cx="3501509" cy="30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Instrument Sans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Comunicación Serial</a:t>
            </a:r>
            <a:endParaRPr b="0" i="0" sz="150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4768334" y="2304693"/>
            <a:ext cx="3501509" cy="1540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Instrument Sans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Permite el intercambio de datos entre Arduino y computadoras, smartphones, módems y otros dispositivos a través de los pines TX y RX.</a:t>
            </a:r>
            <a:endParaRPr b="0" i="0" sz="15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681633" y="3967877"/>
            <a:ext cx="7780734" cy="1786295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874157" y="4090988"/>
            <a:ext cx="3501509" cy="30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Instrument Sans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Protocolos I2C y SPI</a:t>
            </a:r>
            <a:endParaRPr b="0" i="0" sz="150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4768334" y="4090988"/>
            <a:ext cx="3501509" cy="1540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Instrument Sans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Facilitan la conexión de Arduino con sensores, actuadores, displays y chips de memoria, entre otros componentes, a través de buses de comunicación más eficientes.</a:t>
            </a:r>
            <a:endParaRPr b="0" i="0" sz="150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681633" y="5754172"/>
            <a:ext cx="7780734" cy="1786295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874157" y="5877282"/>
            <a:ext cx="3501509" cy="308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Instrument Sans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Módulos Inalámbricos</a:t>
            </a:r>
            <a:endParaRPr b="0" i="0" sz="1500" u="none" cap="none" strike="noStrike"/>
          </a:p>
        </p:txBody>
      </p:sp>
      <p:sp>
        <p:nvSpPr>
          <p:cNvPr id="179" name="Google Shape;179;p8"/>
          <p:cNvSpPr/>
          <p:nvPr/>
        </p:nvSpPr>
        <p:spPr>
          <a:xfrm>
            <a:off x="4768334" y="5877282"/>
            <a:ext cx="3501509" cy="1540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00"/>
              <a:buFont typeface="Instrument Sans Medium"/>
              <a:buNone/>
            </a:pPr>
            <a:r>
              <a:rPr b="0" i="0" lang="en-US" sz="150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puede integrarse con módulos WiFi, Bluetooth y ZigBee para permitir la comunicación inalámbrica con otros dispositivos, ampliando las posibilidades de proyectos.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/>
          <p:nvPr/>
        </p:nvSpPr>
        <p:spPr>
          <a:xfrm>
            <a:off x="793790" y="999555"/>
            <a:ext cx="8286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4450"/>
              <a:buFont typeface="Instrument Sans SemiBold"/>
              <a:buNone/>
            </a:pPr>
            <a:r>
              <a:rPr b="1" i="0" lang="en-US" sz="44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Uso de actuadores con Arduino</a:t>
            </a:r>
            <a:endParaRPr b="0" i="0" sz="4450" u="none" cap="none" strike="noStrike"/>
          </a:p>
        </p:txBody>
      </p:sp>
      <p:sp>
        <p:nvSpPr>
          <p:cNvPr id="186" name="Google Shape;186;p9"/>
          <p:cNvSpPr/>
          <p:nvPr/>
        </p:nvSpPr>
        <p:spPr>
          <a:xfrm>
            <a:off x="793790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Motores</a:t>
            </a:r>
            <a:endParaRPr b="0" i="0" sz="2200" u="none" cap="none" strike="noStrike"/>
          </a:p>
        </p:txBody>
      </p:sp>
      <p:sp>
        <p:nvSpPr>
          <p:cNvPr id="187" name="Google Shape;187;p9"/>
          <p:cNvSpPr/>
          <p:nvPr/>
        </p:nvSpPr>
        <p:spPr>
          <a:xfrm>
            <a:off x="793790" y="3671054"/>
            <a:ext cx="397811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puede controlar motores DC, pasos y servos, permitiendo el movimiento y el control de posición en proyectos robóticos, de automatización y de mecánica.</a:t>
            </a:r>
            <a:endParaRPr b="0" i="0" sz="1750" u="none" cap="none" strike="noStrike"/>
          </a:p>
        </p:txBody>
      </p:sp>
      <p:sp>
        <p:nvSpPr>
          <p:cNvPr id="188" name="Google Shape;188;p9"/>
          <p:cNvSpPr/>
          <p:nvPr/>
        </p:nvSpPr>
        <p:spPr>
          <a:xfrm>
            <a:off x="5332928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Luces y Displays</a:t>
            </a:r>
            <a:endParaRPr b="0" i="0" sz="2200" u="none" cap="none" strike="noStrike"/>
          </a:p>
        </p:txBody>
      </p:sp>
      <p:sp>
        <p:nvSpPr>
          <p:cNvPr id="189" name="Google Shape;189;p9"/>
          <p:cNvSpPr/>
          <p:nvPr/>
        </p:nvSpPr>
        <p:spPr>
          <a:xfrm>
            <a:off x="5332928" y="3671054"/>
            <a:ext cx="3978116" cy="2540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 placa Arduino puede activar y controlar LEDs, pantallas LCD, matrices de LED y otros dispositivos de visualización, lo que la convierte en una herramienta poderosa para proyectos de iluminación y visualización.</a:t>
            </a:r>
            <a:endParaRPr b="0" i="0" sz="1750" u="none" cap="none" strike="noStrike"/>
          </a:p>
        </p:txBody>
      </p:sp>
      <p:sp>
        <p:nvSpPr>
          <p:cNvPr id="190" name="Google Shape;190;p9"/>
          <p:cNvSpPr/>
          <p:nvPr/>
        </p:nvSpPr>
        <p:spPr>
          <a:xfrm>
            <a:off x="9872067" y="30899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2200"/>
              <a:buFont typeface="Instrument Sans SemiBold"/>
              <a:buNone/>
            </a:pPr>
            <a:r>
              <a:rPr b="1" i="0" lang="en-US" sz="220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Otros Actuadores</a:t>
            </a:r>
            <a:endParaRPr b="0" i="0" sz="2200" u="none" cap="none" strike="noStrike"/>
          </a:p>
        </p:txBody>
      </p:sp>
      <p:sp>
        <p:nvSpPr>
          <p:cNvPr id="191" name="Google Shape;191;p9"/>
          <p:cNvSpPr/>
          <p:nvPr/>
        </p:nvSpPr>
        <p:spPr>
          <a:xfrm>
            <a:off x="9872067" y="3671054"/>
            <a:ext cx="397811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750"/>
              <a:buFont typeface="Instrument Sans Medium"/>
              <a:buNone/>
            </a:pPr>
            <a:r>
              <a:rPr b="0" i="0" lang="en-US" sz="17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Además de motores y luces, Arduino puede controlar una amplia variedad de actuadores, como zumbadores, relés, válvulas y solenoides, expandiendo las posibilidades de interacción y control de proyectos.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7" name="Google Shape;19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52507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0"/>
          <p:cNvSpPr/>
          <p:nvPr/>
        </p:nvSpPr>
        <p:spPr>
          <a:xfrm>
            <a:off x="706993" y="2808558"/>
            <a:ext cx="118686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CBCCCE"/>
              </a:buClr>
              <a:buSzPts val="3950"/>
              <a:buFont typeface="Instrument Sans SemiBold"/>
              <a:buNone/>
            </a:pPr>
            <a:r>
              <a:rPr b="1" i="0" lang="en-US" sz="3950" u="none" cap="none" strike="noStrike">
                <a:solidFill>
                  <a:srgbClr val="CBCCCE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Aplicaciones y ejemplos de proyectos con Arduino</a:t>
            </a:r>
            <a:endParaRPr b="0" i="0" sz="3950" u="none" cap="none" strike="noStrike"/>
          </a:p>
        </p:txBody>
      </p:sp>
      <p:sp>
        <p:nvSpPr>
          <p:cNvPr id="199" name="Google Shape;199;p10"/>
          <p:cNvSpPr/>
          <p:nvPr/>
        </p:nvSpPr>
        <p:spPr>
          <a:xfrm>
            <a:off x="706993" y="4450437"/>
            <a:ext cx="454462" cy="454462"/>
          </a:xfrm>
          <a:prstGeom prst="roundRect">
            <a:avLst>
              <a:gd fmla="val 1867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875586" y="4526161"/>
            <a:ext cx="117277" cy="30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350"/>
              <a:buFont typeface="Instrument Sans SemiBold"/>
              <a:buNone/>
            </a:pPr>
            <a:r>
              <a:rPr b="1" i="0" lang="en-US" sz="23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1</a:t>
            </a:r>
            <a:endParaRPr b="0" i="0" sz="2350" u="none" cap="none" strike="noStrike"/>
          </a:p>
        </p:txBody>
      </p:sp>
      <p:sp>
        <p:nvSpPr>
          <p:cNvPr id="201" name="Google Shape;201;p10"/>
          <p:cNvSpPr/>
          <p:nvPr/>
        </p:nvSpPr>
        <p:spPr>
          <a:xfrm>
            <a:off x="1363385" y="4450437"/>
            <a:ext cx="3174683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50"/>
              <a:buFont typeface="Instrument Sans SemiBold"/>
              <a:buNone/>
            </a:pPr>
            <a:r>
              <a:rPr b="1" i="0" lang="en-US" sz="19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Robótica y Automatización</a:t>
            </a:r>
            <a:endParaRPr b="0" i="0" sz="1950" u="none" cap="none" strike="noStrike"/>
          </a:p>
        </p:txBody>
      </p:sp>
      <p:sp>
        <p:nvSpPr>
          <p:cNvPr id="202" name="Google Shape;202;p10"/>
          <p:cNvSpPr/>
          <p:nvPr/>
        </p:nvSpPr>
        <p:spPr>
          <a:xfrm>
            <a:off x="1363385" y="4887278"/>
            <a:ext cx="3614499" cy="193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Instrument Sans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se utiliza en una amplia gama de aplicaciones robóticas, como robots móviles, brazos robóticos y sistemas de automatización industrial, gracias a su capacidad de controlar actuadores y sensores.</a:t>
            </a:r>
            <a:endParaRPr b="0" i="0" sz="1550" u="none" cap="none" strike="noStrike"/>
          </a:p>
        </p:txBody>
      </p:sp>
      <p:sp>
        <p:nvSpPr>
          <p:cNvPr id="203" name="Google Shape;203;p10"/>
          <p:cNvSpPr/>
          <p:nvPr/>
        </p:nvSpPr>
        <p:spPr>
          <a:xfrm>
            <a:off x="5179814" y="4450437"/>
            <a:ext cx="454462" cy="454462"/>
          </a:xfrm>
          <a:prstGeom prst="roundRect">
            <a:avLst>
              <a:gd fmla="val 1867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322570" y="4526161"/>
            <a:ext cx="168831" cy="30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350"/>
              <a:buFont typeface="Instrument Sans SemiBold"/>
              <a:buNone/>
            </a:pPr>
            <a:r>
              <a:rPr b="1" i="0" lang="en-US" sz="23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2</a:t>
            </a:r>
            <a:endParaRPr b="0" i="0" sz="2350" u="none" cap="none" strike="noStrike"/>
          </a:p>
        </p:txBody>
      </p:sp>
      <p:sp>
        <p:nvSpPr>
          <p:cNvPr id="205" name="Google Shape;205;p10"/>
          <p:cNvSpPr/>
          <p:nvPr/>
        </p:nvSpPr>
        <p:spPr>
          <a:xfrm>
            <a:off x="5836206" y="4450437"/>
            <a:ext cx="2525078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50"/>
              <a:buFont typeface="Instrument Sans SemiBold"/>
              <a:buNone/>
            </a:pPr>
            <a:r>
              <a:rPr b="1" i="0" lang="en-US" sz="19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Hogar Inteligente</a:t>
            </a:r>
            <a:endParaRPr b="0" i="0" sz="1950" u="none" cap="none" strike="noStrike"/>
          </a:p>
        </p:txBody>
      </p:sp>
      <p:sp>
        <p:nvSpPr>
          <p:cNvPr id="206" name="Google Shape;206;p10"/>
          <p:cNvSpPr/>
          <p:nvPr/>
        </p:nvSpPr>
        <p:spPr>
          <a:xfrm>
            <a:off x="5836206" y="4887278"/>
            <a:ext cx="3614499" cy="2262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Instrument Sans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Las placas Arduino permiten desarrollar soluciones de domótica y hogar inteligente, como sistemas de iluminación, seguridad, riego automatizado y control de electrodomésticos, mejorando la eficiencia y la comodidad del hogar.</a:t>
            </a:r>
            <a:endParaRPr b="0" i="0" sz="1550" u="none" cap="none" strike="noStrike"/>
          </a:p>
        </p:txBody>
      </p:sp>
      <p:sp>
        <p:nvSpPr>
          <p:cNvPr id="207" name="Google Shape;207;p10"/>
          <p:cNvSpPr/>
          <p:nvPr/>
        </p:nvSpPr>
        <p:spPr>
          <a:xfrm>
            <a:off x="9652635" y="4450437"/>
            <a:ext cx="454462" cy="454462"/>
          </a:xfrm>
          <a:prstGeom prst="roundRect">
            <a:avLst>
              <a:gd fmla="val 18670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9792176" y="4526161"/>
            <a:ext cx="175379" cy="303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2350"/>
              <a:buFont typeface="Instrument Sans SemiBold"/>
              <a:buNone/>
            </a:pPr>
            <a:r>
              <a:rPr b="1" i="0" lang="en-US" sz="23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3</a:t>
            </a:r>
            <a:endParaRPr b="0" i="0" sz="2350" u="none" cap="none" strike="noStrike"/>
          </a:p>
        </p:txBody>
      </p:sp>
      <p:sp>
        <p:nvSpPr>
          <p:cNvPr id="209" name="Google Shape;209;p10"/>
          <p:cNvSpPr/>
          <p:nvPr/>
        </p:nvSpPr>
        <p:spPr>
          <a:xfrm>
            <a:off x="10309027" y="4450437"/>
            <a:ext cx="3614499" cy="631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950"/>
              <a:buFont typeface="Instrument Sans SemiBold"/>
              <a:buNone/>
            </a:pPr>
            <a:r>
              <a:rPr b="1" i="0" lang="en-US" sz="1950" u="none" cap="none" strike="noStrike">
                <a:solidFill>
                  <a:srgbClr val="CFD0D8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rPr>
              <a:t>Wearables y Dispositivos Portátiles</a:t>
            </a:r>
            <a:endParaRPr b="0" i="0" sz="1950" u="none" cap="none" strike="noStrike"/>
          </a:p>
        </p:txBody>
      </p:sp>
      <p:sp>
        <p:nvSpPr>
          <p:cNvPr id="210" name="Google Shape;210;p10"/>
          <p:cNvSpPr/>
          <p:nvPr/>
        </p:nvSpPr>
        <p:spPr>
          <a:xfrm>
            <a:off x="10309027" y="5202912"/>
            <a:ext cx="3614499" cy="22627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FD0D8"/>
              </a:buClr>
              <a:buSzPts val="1550"/>
              <a:buFont typeface="Instrument Sans Medium"/>
              <a:buNone/>
            </a:pPr>
            <a:r>
              <a:rPr b="0" i="0" lang="en-US" sz="1550" u="none" cap="none" strike="noStrike">
                <a:solidFill>
                  <a:srgbClr val="CFD0D8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rPr>
              <a:t>Arduino se ha convertido en una plataforma popular para la creación de wearables, dispositivos portátiles y accesorios electrónicos, gracias a su tamaño compacto y su capacidad de integración con sensores y actuadores.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2024-11-04T16:02:25Z</dcterms:created>
  <dc:creator>PptxGenJS</dc:creator>
</cp:coreProperties>
</file>