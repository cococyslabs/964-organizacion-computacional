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10287000" cx="18288000"/>
  <p:notesSz cx="6858000" cy="9144000"/>
  <p:embeddedFontLst>
    <p:embeddedFont>
      <p:font typeface="Tenor Sans"/>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7" roundtripDataSignature="AMtx7mi1N8WXmOkUT7Gb6bmxEehRXJrg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TenorSans-regular.fntdata"/><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p:nvPr>
            <p:ph idx="2" type="pic"/>
          </p:nvPr>
        </p:nvSpPr>
        <p:spPr>
          <a:xfrm>
            <a:off x="1792288" y="612775"/>
            <a:ext cx="5486400" cy="4114800"/>
          </a:xfrm>
          <a:prstGeom prst="rect">
            <a:avLst/>
          </a:prstGeom>
          <a:noFill/>
          <a:ln>
            <a:noFill/>
          </a:ln>
        </p:spPr>
      </p:sp>
      <p:sp>
        <p:nvSpPr>
          <p:cNvPr id="64" name="Google Shape;64;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15.png"/><Relationship Id="rId7"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2884911" y="2369480"/>
            <a:ext cx="12843600" cy="5437800"/>
          </a:xfrm>
          <a:prstGeom prst="rect">
            <a:avLst/>
          </a:prstGeom>
          <a:noFill/>
          <a:ln>
            <a:noFill/>
          </a:ln>
        </p:spPr>
        <p:txBody>
          <a:bodyPr anchorCtr="0" anchor="t" bIns="0" lIns="0" spcFirstLastPara="1" rIns="0" wrap="square" tIns="0">
            <a:spAutoFit/>
          </a:bodyPr>
          <a:lstStyle/>
          <a:p>
            <a:pPr indent="0" lvl="0" marL="0" marR="0" rtl="0" algn="ctr">
              <a:lnSpc>
                <a:spcPct val="91999"/>
              </a:lnSpc>
              <a:spcBef>
                <a:spcPts val="0"/>
              </a:spcBef>
              <a:spcAft>
                <a:spcPts val="0"/>
              </a:spcAft>
              <a:buNone/>
            </a:pPr>
            <a:r>
              <a:rPr b="1" i="0" lang="en-US" sz="9600" u="none" cap="none" strike="noStrike">
                <a:solidFill>
                  <a:srgbClr val="022033"/>
                </a:solidFill>
                <a:latin typeface="Arial"/>
                <a:ea typeface="Arial"/>
                <a:cs typeface="Arial"/>
                <a:sym typeface="Arial"/>
              </a:rPr>
              <a:t>ACTUADORES Y SENSORES  EN PROYECTOS DE ARDUINO</a:t>
            </a:r>
            <a:endParaRPr sz="9600"/>
          </a:p>
        </p:txBody>
      </p:sp>
      <p:grpSp>
        <p:nvGrpSpPr>
          <p:cNvPr id="85" name="Google Shape;85;p1"/>
          <p:cNvGrpSpPr/>
          <p:nvPr/>
        </p:nvGrpSpPr>
        <p:grpSpPr>
          <a:xfrm>
            <a:off x="-609474" y="6630732"/>
            <a:ext cx="4378481" cy="4378481"/>
            <a:chOff x="0" y="0"/>
            <a:chExt cx="812800" cy="812800"/>
          </a:xfrm>
        </p:grpSpPr>
        <p:sp>
          <p:nvSpPr>
            <p:cNvPr id="86" name="Google Shape;86;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8" name="Google Shape;88;p1"/>
          <p:cNvSpPr/>
          <p:nvPr/>
        </p:nvSpPr>
        <p:spPr>
          <a:xfrm rot="-5400000">
            <a:off x="362774" y="-30820"/>
            <a:ext cx="3688357" cy="4114800"/>
          </a:xfrm>
          <a:custGeom>
            <a:rect b="b" l="l" r="r" t="t"/>
            <a:pathLst>
              <a:path extrusionOk="0" h="4114800" w="3688357">
                <a:moveTo>
                  <a:pt x="0" y="0"/>
                </a:moveTo>
                <a:lnTo>
                  <a:pt x="3688357" y="0"/>
                </a:lnTo>
                <a:lnTo>
                  <a:pt x="3688357" y="4114800"/>
                </a:lnTo>
                <a:lnTo>
                  <a:pt x="0" y="4114800"/>
                </a:lnTo>
                <a:lnTo>
                  <a:pt x="0" y="0"/>
                </a:lnTo>
                <a:close/>
              </a:path>
            </a:pathLst>
          </a:custGeom>
          <a:blipFill rotWithShape="1">
            <a:blip r:embed="rId3">
              <a:alphaModFix/>
            </a:blip>
            <a:stretch>
              <a:fillRect b="0" l="0" r="0" t="0"/>
            </a:stretch>
          </a:blipFill>
          <a:ln>
            <a:noFill/>
          </a:ln>
        </p:spPr>
      </p:sp>
      <p:grpSp>
        <p:nvGrpSpPr>
          <p:cNvPr id="89" name="Google Shape;89;p1"/>
          <p:cNvGrpSpPr/>
          <p:nvPr/>
        </p:nvGrpSpPr>
        <p:grpSpPr>
          <a:xfrm>
            <a:off x="2531874" y="6886945"/>
            <a:ext cx="1237134" cy="1345610"/>
            <a:chOff x="0" y="-38100"/>
            <a:chExt cx="325830" cy="354399"/>
          </a:xfrm>
        </p:grpSpPr>
        <p:sp>
          <p:nvSpPr>
            <p:cNvPr id="90" name="Google Shape;90;p1"/>
            <p:cNvSpPr/>
            <p:nvPr/>
          </p:nvSpPr>
          <p:spPr>
            <a:xfrm>
              <a:off x="0" y="0"/>
              <a:ext cx="325830" cy="316299"/>
            </a:xfrm>
            <a:custGeom>
              <a:rect b="b" l="l" r="r" t="t"/>
              <a:pathLst>
                <a:path extrusionOk="0"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BFD1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
            <p:cNvSpPr txBox="1"/>
            <p:nvPr/>
          </p:nvSpPr>
          <p:spPr>
            <a:xfrm>
              <a:off x="0" y="-38100"/>
              <a:ext cx="325830" cy="35439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2" name="Google Shape;92;p1"/>
          <p:cNvGrpSpPr/>
          <p:nvPr/>
        </p:nvGrpSpPr>
        <p:grpSpPr>
          <a:xfrm>
            <a:off x="15728559" y="1008380"/>
            <a:ext cx="1237134" cy="1345610"/>
            <a:chOff x="0" y="-38100"/>
            <a:chExt cx="325830" cy="354399"/>
          </a:xfrm>
        </p:grpSpPr>
        <p:sp>
          <p:nvSpPr>
            <p:cNvPr id="93" name="Google Shape;93;p1"/>
            <p:cNvSpPr/>
            <p:nvPr/>
          </p:nvSpPr>
          <p:spPr>
            <a:xfrm>
              <a:off x="0" y="0"/>
              <a:ext cx="325830" cy="316299"/>
            </a:xfrm>
            <a:custGeom>
              <a:rect b="b" l="l" r="r" t="t"/>
              <a:pathLst>
                <a:path extrusionOk="0"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
            <p:cNvSpPr txBox="1"/>
            <p:nvPr/>
          </p:nvSpPr>
          <p:spPr>
            <a:xfrm>
              <a:off x="0" y="-38100"/>
              <a:ext cx="325830" cy="35439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5" name="Google Shape;95;p1"/>
          <p:cNvSpPr/>
          <p:nvPr/>
        </p:nvSpPr>
        <p:spPr>
          <a:xfrm>
            <a:off x="14289726" y="6393076"/>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blip>
            <a:stretch>
              <a:fillRect b="0" l="0" r="0" t="0"/>
            </a:stretch>
          </a:blipFill>
          <a:ln>
            <a:noFill/>
          </a:ln>
        </p:spPr>
      </p:sp>
      <p:grpSp>
        <p:nvGrpSpPr>
          <p:cNvPr id="96" name="Google Shape;96;p1"/>
          <p:cNvGrpSpPr/>
          <p:nvPr/>
        </p:nvGrpSpPr>
        <p:grpSpPr>
          <a:xfrm>
            <a:off x="13804199" y="8305815"/>
            <a:ext cx="971055" cy="1079531"/>
            <a:chOff x="0" y="-38100"/>
            <a:chExt cx="255751" cy="284321"/>
          </a:xfrm>
        </p:grpSpPr>
        <p:sp>
          <p:nvSpPr>
            <p:cNvPr id="97" name="Google Shape;97;p1"/>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p:nvPr/>
        </p:nvSpPr>
        <p:spPr>
          <a:xfrm>
            <a:off x="4232465" y="2920957"/>
            <a:ext cx="9980524" cy="1125077"/>
          </a:xfrm>
          <a:custGeom>
            <a:rect b="b" l="l" r="r" t="t"/>
            <a:pathLst>
              <a:path extrusionOk="0" h="1125077" w="9980524">
                <a:moveTo>
                  <a:pt x="0" y="0"/>
                </a:moveTo>
                <a:lnTo>
                  <a:pt x="9980525" y="0"/>
                </a:lnTo>
                <a:lnTo>
                  <a:pt x="9980525" y="1125077"/>
                </a:lnTo>
                <a:lnTo>
                  <a:pt x="0" y="1125077"/>
                </a:lnTo>
                <a:lnTo>
                  <a:pt x="0" y="0"/>
                </a:lnTo>
                <a:close/>
              </a:path>
            </a:pathLst>
          </a:custGeom>
          <a:blipFill rotWithShape="1">
            <a:blip r:embed="rId3">
              <a:alphaModFix/>
            </a:blip>
            <a:stretch>
              <a:fillRect b="0" l="0" r="0" t="0"/>
            </a:stretch>
          </a:blipFill>
          <a:ln>
            <a:noFill/>
          </a:ln>
        </p:spPr>
      </p:sp>
      <p:sp>
        <p:nvSpPr>
          <p:cNvPr id="104" name="Google Shape;104;p2"/>
          <p:cNvSpPr/>
          <p:nvPr/>
        </p:nvSpPr>
        <p:spPr>
          <a:xfrm>
            <a:off x="4232465" y="4159124"/>
            <a:ext cx="9980524" cy="1125077"/>
          </a:xfrm>
          <a:custGeom>
            <a:rect b="b" l="l" r="r" t="t"/>
            <a:pathLst>
              <a:path extrusionOk="0" h="1125077" w="9980524">
                <a:moveTo>
                  <a:pt x="0" y="0"/>
                </a:moveTo>
                <a:lnTo>
                  <a:pt x="9980525" y="0"/>
                </a:lnTo>
                <a:lnTo>
                  <a:pt x="9980525" y="1125077"/>
                </a:lnTo>
                <a:lnTo>
                  <a:pt x="0" y="1125077"/>
                </a:lnTo>
                <a:lnTo>
                  <a:pt x="0" y="0"/>
                </a:lnTo>
                <a:close/>
              </a:path>
            </a:pathLst>
          </a:custGeom>
          <a:blipFill rotWithShape="1">
            <a:blip r:embed="rId4">
              <a:alphaModFix/>
            </a:blip>
            <a:stretch>
              <a:fillRect b="0" l="0" r="0" t="0"/>
            </a:stretch>
          </a:blipFill>
          <a:ln>
            <a:noFill/>
          </a:ln>
        </p:spPr>
      </p:sp>
      <p:sp>
        <p:nvSpPr>
          <p:cNvPr id="105" name="Google Shape;105;p2"/>
          <p:cNvSpPr/>
          <p:nvPr/>
        </p:nvSpPr>
        <p:spPr>
          <a:xfrm>
            <a:off x="4241908" y="5430646"/>
            <a:ext cx="9971081" cy="1124013"/>
          </a:xfrm>
          <a:custGeom>
            <a:rect b="b" l="l" r="r" t="t"/>
            <a:pathLst>
              <a:path extrusionOk="0" h="1124013" w="9971081">
                <a:moveTo>
                  <a:pt x="0" y="0"/>
                </a:moveTo>
                <a:lnTo>
                  <a:pt x="9971082" y="0"/>
                </a:lnTo>
                <a:lnTo>
                  <a:pt x="9971082" y="1124013"/>
                </a:lnTo>
                <a:lnTo>
                  <a:pt x="0" y="1124013"/>
                </a:lnTo>
                <a:lnTo>
                  <a:pt x="0" y="0"/>
                </a:lnTo>
                <a:close/>
              </a:path>
            </a:pathLst>
          </a:custGeom>
          <a:blipFill rotWithShape="1">
            <a:blip r:embed="rId5">
              <a:alphaModFix/>
            </a:blip>
            <a:stretch>
              <a:fillRect b="0" l="0" r="0" t="0"/>
            </a:stretch>
          </a:blipFill>
          <a:ln>
            <a:noFill/>
          </a:ln>
        </p:spPr>
      </p:sp>
      <p:sp>
        <p:nvSpPr>
          <p:cNvPr id="106" name="Google Shape;106;p2"/>
          <p:cNvSpPr/>
          <p:nvPr/>
        </p:nvSpPr>
        <p:spPr>
          <a:xfrm>
            <a:off x="4241908" y="6701103"/>
            <a:ext cx="9971081" cy="1124013"/>
          </a:xfrm>
          <a:custGeom>
            <a:rect b="b" l="l" r="r" t="t"/>
            <a:pathLst>
              <a:path extrusionOk="0" h="1124013" w="9971081">
                <a:moveTo>
                  <a:pt x="0" y="0"/>
                </a:moveTo>
                <a:lnTo>
                  <a:pt x="9971082" y="0"/>
                </a:lnTo>
                <a:lnTo>
                  <a:pt x="9971082" y="1124013"/>
                </a:lnTo>
                <a:lnTo>
                  <a:pt x="0" y="1124013"/>
                </a:lnTo>
                <a:lnTo>
                  <a:pt x="0" y="0"/>
                </a:lnTo>
                <a:close/>
              </a:path>
            </a:pathLst>
          </a:custGeom>
          <a:blipFill rotWithShape="1">
            <a:blip r:embed="rId6">
              <a:alphaModFix/>
            </a:blip>
            <a:stretch>
              <a:fillRect b="0" l="0" r="0" t="0"/>
            </a:stretch>
          </a:blipFill>
          <a:ln>
            <a:noFill/>
          </a:ln>
        </p:spPr>
      </p:sp>
      <p:sp>
        <p:nvSpPr>
          <p:cNvPr id="107" name="Google Shape;107;p2"/>
          <p:cNvSpPr/>
          <p:nvPr/>
        </p:nvSpPr>
        <p:spPr>
          <a:xfrm>
            <a:off x="4232465" y="7963669"/>
            <a:ext cx="9980524" cy="1125077"/>
          </a:xfrm>
          <a:custGeom>
            <a:rect b="b" l="l" r="r" t="t"/>
            <a:pathLst>
              <a:path extrusionOk="0" h="1125077" w="9980524">
                <a:moveTo>
                  <a:pt x="0" y="0"/>
                </a:moveTo>
                <a:lnTo>
                  <a:pt x="9980525" y="0"/>
                </a:lnTo>
                <a:lnTo>
                  <a:pt x="9980525" y="1125077"/>
                </a:lnTo>
                <a:lnTo>
                  <a:pt x="0" y="1125077"/>
                </a:lnTo>
                <a:lnTo>
                  <a:pt x="0" y="0"/>
                </a:lnTo>
                <a:close/>
              </a:path>
            </a:pathLst>
          </a:custGeom>
          <a:blipFill rotWithShape="1">
            <a:blip r:embed="rId4">
              <a:alphaModFix/>
            </a:blip>
            <a:stretch>
              <a:fillRect b="0" l="0" r="0" t="0"/>
            </a:stretch>
          </a:blipFill>
          <a:ln>
            <a:noFill/>
          </a:ln>
        </p:spPr>
      </p:sp>
      <p:sp>
        <p:nvSpPr>
          <p:cNvPr id="108" name="Google Shape;108;p2"/>
          <p:cNvSpPr/>
          <p:nvPr/>
        </p:nvSpPr>
        <p:spPr>
          <a:xfrm rot="10800000">
            <a:off x="134706" y="5284201"/>
            <a:ext cx="4372659" cy="4878220"/>
          </a:xfrm>
          <a:custGeom>
            <a:rect b="b" l="l" r="r" t="t"/>
            <a:pathLst>
              <a:path extrusionOk="0" h="4878220" w="4372659">
                <a:moveTo>
                  <a:pt x="0" y="0"/>
                </a:moveTo>
                <a:lnTo>
                  <a:pt x="4372659" y="0"/>
                </a:lnTo>
                <a:lnTo>
                  <a:pt x="4372659" y="4878220"/>
                </a:lnTo>
                <a:lnTo>
                  <a:pt x="0" y="4878220"/>
                </a:lnTo>
                <a:lnTo>
                  <a:pt x="0" y="0"/>
                </a:lnTo>
                <a:close/>
              </a:path>
            </a:pathLst>
          </a:custGeom>
          <a:blipFill rotWithShape="1">
            <a:blip r:embed="rId7">
              <a:alphaModFix/>
            </a:blip>
            <a:stretch>
              <a:fillRect b="0" l="0" r="0" t="0"/>
            </a:stretch>
          </a:blipFill>
          <a:ln>
            <a:noFill/>
          </a:ln>
        </p:spPr>
      </p:sp>
      <p:sp>
        <p:nvSpPr>
          <p:cNvPr id="109" name="Google Shape;109;p2"/>
          <p:cNvSpPr txBox="1"/>
          <p:nvPr/>
        </p:nvSpPr>
        <p:spPr>
          <a:xfrm>
            <a:off x="1711560" y="1285875"/>
            <a:ext cx="14865000" cy="849600"/>
          </a:xfrm>
          <a:prstGeom prst="rect">
            <a:avLst/>
          </a:prstGeom>
          <a:noFill/>
          <a:ln>
            <a:noFill/>
          </a:ln>
        </p:spPr>
        <p:txBody>
          <a:bodyPr anchorCtr="0" anchor="t" bIns="0" lIns="0" spcFirstLastPara="1" rIns="0" wrap="square" tIns="0">
            <a:spAutoFit/>
          </a:bodyPr>
          <a:lstStyle/>
          <a:p>
            <a:pPr indent="0" lvl="0" marL="0" marR="0" rtl="0" algn="ctr">
              <a:lnSpc>
                <a:spcPct val="91996"/>
              </a:lnSpc>
              <a:spcBef>
                <a:spcPts val="0"/>
              </a:spcBef>
              <a:spcAft>
                <a:spcPts val="0"/>
              </a:spcAft>
              <a:buNone/>
            </a:pPr>
            <a:r>
              <a:rPr b="0" i="0" lang="en-US" sz="6000" u="none" cap="none" strike="noStrike">
                <a:solidFill>
                  <a:srgbClr val="022033"/>
                </a:solidFill>
                <a:latin typeface="Arial"/>
                <a:ea typeface="Arial"/>
                <a:cs typeface="Arial"/>
                <a:sym typeface="Arial"/>
              </a:rPr>
              <a:t>RESUMEN DE CONTENIDOS</a:t>
            </a:r>
            <a:endParaRPr sz="6000"/>
          </a:p>
        </p:txBody>
      </p:sp>
      <p:sp>
        <p:nvSpPr>
          <p:cNvPr id="110" name="Google Shape;110;p2"/>
          <p:cNvSpPr txBox="1"/>
          <p:nvPr/>
        </p:nvSpPr>
        <p:spPr>
          <a:xfrm>
            <a:off x="5769175" y="3177800"/>
            <a:ext cx="6907105" cy="668542"/>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0" i="0" lang="en-US" sz="2730" u="none" cap="none" strike="noStrike">
                <a:solidFill>
                  <a:srgbClr val="022033"/>
                </a:solidFill>
                <a:latin typeface="Tenor Sans"/>
                <a:ea typeface="Tenor Sans"/>
                <a:cs typeface="Tenor Sans"/>
                <a:sym typeface="Tenor Sans"/>
              </a:rPr>
              <a:t>INTRODUCCIÓN A ACTUADORES EN ARDUINO</a:t>
            </a:r>
            <a:endParaRPr/>
          </a:p>
        </p:txBody>
      </p:sp>
      <p:sp>
        <p:nvSpPr>
          <p:cNvPr id="111" name="Google Shape;111;p2"/>
          <p:cNvSpPr txBox="1"/>
          <p:nvPr/>
        </p:nvSpPr>
        <p:spPr>
          <a:xfrm>
            <a:off x="6084124" y="4512759"/>
            <a:ext cx="6119752" cy="354244"/>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0" i="0" lang="en-US" sz="2730" u="none" cap="none" strike="noStrike">
                <a:solidFill>
                  <a:srgbClr val="022033"/>
                </a:solidFill>
                <a:latin typeface="Tenor Sans"/>
                <a:ea typeface="Tenor Sans"/>
                <a:cs typeface="Tenor Sans"/>
                <a:sym typeface="Tenor Sans"/>
              </a:rPr>
              <a:t>TIPOS DE ACTUADORES</a:t>
            </a:r>
            <a:endParaRPr/>
          </a:p>
        </p:txBody>
      </p:sp>
      <p:sp>
        <p:nvSpPr>
          <p:cNvPr id="112" name="Google Shape;112;p2"/>
          <p:cNvSpPr txBox="1"/>
          <p:nvPr/>
        </p:nvSpPr>
        <p:spPr>
          <a:xfrm>
            <a:off x="5874184" y="5699186"/>
            <a:ext cx="6539632" cy="668542"/>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0" i="0" lang="en-US" sz="2730" u="none" cap="none" strike="noStrike">
                <a:solidFill>
                  <a:srgbClr val="022033"/>
                </a:solidFill>
                <a:latin typeface="Tenor Sans"/>
                <a:ea typeface="Tenor Sans"/>
                <a:cs typeface="Tenor Sans"/>
                <a:sym typeface="Tenor Sans"/>
              </a:rPr>
              <a:t>ACTUADORES MAS UTILIZADOS EN ARDUINO</a:t>
            </a:r>
            <a:endParaRPr/>
          </a:p>
        </p:txBody>
      </p:sp>
      <p:sp>
        <p:nvSpPr>
          <p:cNvPr id="113" name="Google Shape;113;p2"/>
          <p:cNvSpPr txBox="1"/>
          <p:nvPr/>
        </p:nvSpPr>
        <p:spPr>
          <a:xfrm>
            <a:off x="6345413" y="6957414"/>
            <a:ext cx="5764072" cy="668542"/>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0" i="0" lang="en-US" sz="2730" u="none" cap="none" strike="noStrike">
                <a:solidFill>
                  <a:srgbClr val="022033"/>
                </a:solidFill>
                <a:latin typeface="Tenor Sans"/>
                <a:ea typeface="Tenor Sans"/>
                <a:cs typeface="Tenor Sans"/>
                <a:sym typeface="Tenor Sans"/>
              </a:rPr>
              <a:t>SENSORES MAS UTILIZADOS EN ARDUINO</a:t>
            </a:r>
            <a:endParaRPr/>
          </a:p>
        </p:txBody>
      </p:sp>
      <p:sp>
        <p:nvSpPr>
          <p:cNvPr id="114" name="Google Shape;114;p2"/>
          <p:cNvSpPr txBox="1"/>
          <p:nvPr/>
        </p:nvSpPr>
        <p:spPr>
          <a:xfrm>
            <a:off x="6345413" y="8244216"/>
            <a:ext cx="5542416" cy="354244"/>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0" i="0" lang="en-US" sz="2730" u="none" cap="none" strike="noStrike">
                <a:solidFill>
                  <a:srgbClr val="022033"/>
                </a:solidFill>
                <a:latin typeface="Tenor Sans"/>
                <a:ea typeface="Tenor Sans"/>
                <a:cs typeface="Tenor Sans"/>
                <a:sym typeface="Tenor Sans"/>
              </a:rPr>
              <a:t>LIBRERIAS EN ARDUINO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3"/>
          <p:cNvSpPr txBox="1"/>
          <p:nvPr/>
        </p:nvSpPr>
        <p:spPr>
          <a:xfrm>
            <a:off x="2915814" y="7596881"/>
            <a:ext cx="12456300" cy="1359300"/>
          </a:xfrm>
          <a:prstGeom prst="rect">
            <a:avLst/>
          </a:prstGeom>
          <a:noFill/>
          <a:ln>
            <a:noFill/>
          </a:ln>
        </p:spPr>
        <p:txBody>
          <a:bodyPr anchorCtr="0" anchor="t" bIns="0" lIns="0" spcFirstLastPara="1" rIns="0" wrap="square" tIns="0">
            <a:spAutoFit/>
          </a:bodyPr>
          <a:lstStyle/>
          <a:p>
            <a:pPr indent="0" lvl="0" marL="0" marR="0" rtl="0" algn="ctr">
              <a:lnSpc>
                <a:spcPct val="91998"/>
              </a:lnSpc>
              <a:spcBef>
                <a:spcPts val="0"/>
              </a:spcBef>
              <a:spcAft>
                <a:spcPts val="0"/>
              </a:spcAft>
              <a:buNone/>
            </a:pPr>
            <a:r>
              <a:rPr b="0" i="0" lang="en-US" sz="9600" u="none" cap="none" strike="noStrike">
                <a:solidFill>
                  <a:srgbClr val="022033"/>
                </a:solidFill>
                <a:latin typeface="Arial"/>
                <a:ea typeface="Arial"/>
                <a:cs typeface="Arial"/>
                <a:sym typeface="Arial"/>
              </a:rPr>
              <a:t>INTRODUCCION</a:t>
            </a:r>
            <a:endParaRPr sz="9600"/>
          </a:p>
        </p:txBody>
      </p:sp>
      <p:grpSp>
        <p:nvGrpSpPr>
          <p:cNvPr id="120" name="Google Shape;120;p3"/>
          <p:cNvGrpSpPr/>
          <p:nvPr/>
        </p:nvGrpSpPr>
        <p:grpSpPr>
          <a:xfrm>
            <a:off x="1764733" y="4162438"/>
            <a:ext cx="971055" cy="1079531"/>
            <a:chOff x="0" y="-38100"/>
            <a:chExt cx="255751" cy="284321"/>
          </a:xfrm>
        </p:grpSpPr>
        <p:sp>
          <p:nvSpPr>
            <p:cNvPr id="121" name="Google Shape;121;p3"/>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BFD1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3" name="Google Shape;123;p3"/>
          <p:cNvGrpSpPr/>
          <p:nvPr/>
        </p:nvGrpSpPr>
        <p:grpSpPr>
          <a:xfrm>
            <a:off x="13642983" y="6451073"/>
            <a:ext cx="971055" cy="1079531"/>
            <a:chOff x="0" y="-38100"/>
            <a:chExt cx="255751" cy="284321"/>
          </a:xfrm>
        </p:grpSpPr>
        <p:sp>
          <p:nvSpPr>
            <p:cNvPr id="124" name="Google Shape;124;p3"/>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F3E7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6" name="Google Shape;126;p3"/>
          <p:cNvGrpSpPr/>
          <p:nvPr/>
        </p:nvGrpSpPr>
        <p:grpSpPr>
          <a:xfrm>
            <a:off x="16487255" y="530831"/>
            <a:ext cx="971055" cy="1079531"/>
            <a:chOff x="0" y="-38100"/>
            <a:chExt cx="255751" cy="284321"/>
          </a:xfrm>
        </p:grpSpPr>
        <p:sp>
          <p:nvSpPr>
            <p:cNvPr id="127" name="Google Shape;127;p3"/>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9" name="Google Shape;129;p3"/>
          <p:cNvSpPr/>
          <p:nvPr/>
        </p:nvSpPr>
        <p:spPr>
          <a:xfrm>
            <a:off x="5707997" y="1142928"/>
            <a:ext cx="6872005" cy="5154004"/>
          </a:xfrm>
          <a:custGeom>
            <a:rect b="b" l="l" r="r" t="t"/>
            <a:pathLst>
              <a:path extrusionOk="0" h="5154004" w="6872005">
                <a:moveTo>
                  <a:pt x="0" y="0"/>
                </a:moveTo>
                <a:lnTo>
                  <a:pt x="6872006" y="0"/>
                </a:lnTo>
                <a:lnTo>
                  <a:pt x="6872006" y="5154003"/>
                </a:lnTo>
                <a:lnTo>
                  <a:pt x="0" y="5154003"/>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txBox="1"/>
          <p:nvPr/>
        </p:nvSpPr>
        <p:spPr>
          <a:xfrm>
            <a:off x="1711560" y="3620995"/>
            <a:ext cx="13905095" cy="5812255"/>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En el mundo de la electrónica y la automatización, un actuador es un dispositivo que convierte señales eléctricas en movimiento físico. Es decir, permite que los sistemas electrónicos interactúen con el mundo físico al realizar acciones, como mover un motor, activar una válvula o generar sonido. Los actuadores son esenciales en proyectos de automatización y control, ya que brindan a los sistemas de Arduino la capacidad de influir directamente en su entorno.</a:t>
            </a:r>
            <a:endParaRPr/>
          </a:p>
        </p:txBody>
      </p:sp>
      <p:grpSp>
        <p:nvGrpSpPr>
          <p:cNvPr id="135" name="Google Shape;135;p4"/>
          <p:cNvGrpSpPr/>
          <p:nvPr/>
        </p:nvGrpSpPr>
        <p:grpSpPr>
          <a:xfrm>
            <a:off x="16098759" y="604794"/>
            <a:ext cx="4378481" cy="4378481"/>
            <a:chOff x="0" y="0"/>
            <a:chExt cx="812800" cy="812800"/>
          </a:xfrm>
        </p:grpSpPr>
        <p:sp>
          <p:nvSpPr>
            <p:cNvPr id="136" name="Google Shape;136;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8" name="Google Shape;138;p4"/>
          <p:cNvSpPr txBox="1"/>
          <p:nvPr/>
        </p:nvSpPr>
        <p:spPr>
          <a:xfrm>
            <a:off x="1028700" y="713205"/>
            <a:ext cx="16230600" cy="2718900"/>
          </a:xfrm>
          <a:prstGeom prst="rect">
            <a:avLst/>
          </a:prstGeom>
          <a:noFill/>
          <a:ln>
            <a:noFill/>
          </a:ln>
        </p:spPr>
        <p:txBody>
          <a:bodyPr anchorCtr="0" anchor="t" bIns="0" lIns="0" spcFirstLastPara="1" rIns="0" wrap="square" tIns="0">
            <a:spAutoFit/>
          </a:bodyPr>
          <a:lstStyle/>
          <a:p>
            <a:pPr indent="0" lvl="0" marL="0" marR="0" rtl="0" algn="ctr">
              <a:lnSpc>
                <a:spcPct val="91996"/>
              </a:lnSpc>
              <a:spcBef>
                <a:spcPts val="0"/>
              </a:spcBef>
              <a:spcAft>
                <a:spcPts val="0"/>
              </a:spcAft>
              <a:buNone/>
            </a:pPr>
            <a:r>
              <a:rPr b="0" i="0" lang="en-US" sz="9600" u="none" cap="none" strike="noStrike">
                <a:solidFill>
                  <a:srgbClr val="022033"/>
                </a:solidFill>
                <a:latin typeface="Arial"/>
                <a:ea typeface="Arial"/>
                <a:cs typeface="Arial"/>
                <a:sym typeface="Arial"/>
              </a:rPr>
              <a:t>ACTUADORES Y SENSORES  EN ARDUINO</a:t>
            </a:r>
            <a:endParaRPr sz="9600"/>
          </a:p>
        </p:txBody>
      </p:sp>
      <p:grpSp>
        <p:nvGrpSpPr>
          <p:cNvPr id="139" name="Google Shape;139;p4"/>
          <p:cNvGrpSpPr/>
          <p:nvPr/>
        </p:nvGrpSpPr>
        <p:grpSpPr>
          <a:xfrm>
            <a:off x="16288245" y="5635551"/>
            <a:ext cx="971055" cy="1079531"/>
            <a:chOff x="0" y="-38100"/>
            <a:chExt cx="255751" cy="284321"/>
          </a:xfrm>
        </p:grpSpPr>
        <p:sp>
          <p:nvSpPr>
            <p:cNvPr id="140" name="Google Shape;140;p4"/>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5"/>
          <p:cNvSpPr txBox="1"/>
          <p:nvPr/>
        </p:nvSpPr>
        <p:spPr>
          <a:xfrm>
            <a:off x="1186709" y="692887"/>
            <a:ext cx="13905095" cy="5812255"/>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Los actuadores, en combinación con sensores, convierten los proyectos de Arduino en sistemas interactivos, lo que facilita la creación de aplicaciones prácticas en áreas como robótica, domótica, salud y monitoreo ambiental.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Esto resulta especialmente relevante en la era actual, donde se busca reducir la intervención humana y optimizar procesos mediante el uso de tecnología.</a:t>
            </a:r>
            <a:endParaRPr/>
          </a:p>
        </p:txBody>
      </p:sp>
      <p:grpSp>
        <p:nvGrpSpPr>
          <p:cNvPr id="147" name="Google Shape;147;p5"/>
          <p:cNvGrpSpPr/>
          <p:nvPr/>
        </p:nvGrpSpPr>
        <p:grpSpPr>
          <a:xfrm>
            <a:off x="16098759" y="604794"/>
            <a:ext cx="4378481" cy="4378481"/>
            <a:chOff x="0" y="0"/>
            <a:chExt cx="812800" cy="812800"/>
          </a:xfrm>
        </p:grpSpPr>
        <p:sp>
          <p:nvSpPr>
            <p:cNvPr id="148" name="Google Shape;148;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0" name="Google Shape;150;p5"/>
          <p:cNvGrpSpPr/>
          <p:nvPr/>
        </p:nvGrpSpPr>
        <p:grpSpPr>
          <a:xfrm>
            <a:off x="16288245" y="5635551"/>
            <a:ext cx="971055" cy="1079531"/>
            <a:chOff x="0" y="-38100"/>
            <a:chExt cx="255751" cy="284321"/>
          </a:xfrm>
        </p:grpSpPr>
        <p:sp>
          <p:nvSpPr>
            <p:cNvPr id="151" name="Google Shape;151;p5"/>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3" name="Google Shape;153;p5"/>
          <p:cNvSpPr/>
          <p:nvPr/>
        </p:nvSpPr>
        <p:spPr>
          <a:xfrm>
            <a:off x="4422311" y="6893282"/>
            <a:ext cx="7927275" cy="3013675"/>
          </a:xfrm>
          <a:custGeom>
            <a:rect b="b" l="l" r="r" t="t"/>
            <a:pathLst>
              <a:path extrusionOk="0" h="3013675" w="7927275">
                <a:moveTo>
                  <a:pt x="0" y="0"/>
                </a:moveTo>
                <a:lnTo>
                  <a:pt x="7927275" y="0"/>
                </a:lnTo>
                <a:lnTo>
                  <a:pt x="7927275" y="3013675"/>
                </a:lnTo>
                <a:lnTo>
                  <a:pt x="0" y="3013675"/>
                </a:lnTo>
                <a:lnTo>
                  <a:pt x="0" y="0"/>
                </a:lnTo>
                <a:close/>
              </a:path>
            </a:pathLst>
          </a:custGeom>
          <a:blipFill rotWithShape="1">
            <a:blip r:embed="rId3">
              <a:alphaModFix/>
            </a:blip>
            <a:stretch>
              <a:fillRect b="-106694" l="-33358" r="-44590" t="-22662"/>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grpSp>
        <p:nvGrpSpPr>
          <p:cNvPr id="158" name="Google Shape;158;p6"/>
          <p:cNvGrpSpPr/>
          <p:nvPr/>
        </p:nvGrpSpPr>
        <p:grpSpPr>
          <a:xfrm>
            <a:off x="6663840" y="4196129"/>
            <a:ext cx="4626658" cy="5254616"/>
            <a:chOff x="0" y="-38100"/>
            <a:chExt cx="1218544" cy="1383932"/>
          </a:xfrm>
        </p:grpSpPr>
        <p:sp>
          <p:nvSpPr>
            <p:cNvPr id="159" name="Google Shape;159;p6"/>
            <p:cNvSpPr/>
            <p:nvPr/>
          </p:nvSpPr>
          <p:spPr>
            <a:xfrm>
              <a:off x="0" y="0"/>
              <a:ext cx="1218544" cy="1345832"/>
            </a:xfrm>
            <a:custGeom>
              <a:rect b="b" l="l" r="r" t="t"/>
              <a:pathLst>
                <a:path extrusionOk="0" h="1345832" w="1218544">
                  <a:moveTo>
                    <a:pt x="85340" y="0"/>
                  </a:moveTo>
                  <a:lnTo>
                    <a:pt x="1133204" y="0"/>
                  </a:lnTo>
                  <a:cubicBezTo>
                    <a:pt x="1180336" y="0"/>
                    <a:pt x="1218544" y="38208"/>
                    <a:pt x="1218544" y="85340"/>
                  </a:cubicBezTo>
                  <a:lnTo>
                    <a:pt x="1218544" y="1260492"/>
                  </a:lnTo>
                  <a:cubicBezTo>
                    <a:pt x="1218544" y="1307624"/>
                    <a:pt x="1180336" y="1345832"/>
                    <a:pt x="1133204" y="1345832"/>
                  </a:cubicBezTo>
                  <a:lnTo>
                    <a:pt x="85340" y="1345832"/>
                  </a:lnTo>
                  <a:cubicBezTo>
                    <a:pt x="62706" y="1345832"/>
                    <a:pt x="41000" y="1336841"/>
                    <a:pt x="24995" y="1320836"/>
                  </a:cubicBezTo>
                  <a:cubicBezTo>
                    <a:pt x="8991" y="1304832"/>
                    <a:pt x="0" y="1283125"/>
                    <a:pt x="0" y="1260492"/>
                  </a:cubicBezTo>
                  <a:lnTo>
                    <a:pt x="0" y="85340"/>
                  </a:lnTo>
                  <a:cubicBezTo>
                    <a:pt x="0" y="38208"/>
                    <a:pt x="38208" y="0"/>
                    <a:pt x="85340" y="0"/>
                  </a:cubicBezTo>
                  <a:close/>
                </a:path>
              </a:pathLst>
            </a:custGeom>
            <a:solidFill>
              <a:srgbClr val="BFD1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
            <p:cNvSpPr txBox="1"/>
            <p:nvPr/>
          </p:nvSpPr>
          <p:spPr>
            <a:xfrm>
              <a:off x="0" y="-38100"/>
              <a:ext cx="1218544" cy="138393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1" name="Google Shape;161;p6"/>
          <p:cNvSpPr txBox="1"/>
          <p:nvPr/>
        </p:nvSpPr>
        <p:spPr>
          <a:xfrm>
            <a:off x="7072211" y="6127831"/>
            <a:ext cx="3690941" cy="2816442"/>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0" i="0" lang="en-US" sz="1999" u="none" cap="none" strike="noStrike">
                <a:solidFill>
                  <a:srgbClr val="022033"/>
                </a:solidFill>
                <a:latin typeface="Tenor Sans"/>
                <a:ea typeface="Tenor Sans"/>
                <a:cs typeface="Tenor Sans"/>
                <a:sym typeface="Tenor Sans"/>
              </a:rPr>
              <a:t>Estos actuadores utilizan aire comprimido para generar movimiento. Son comunes en sistemas industriales donde se necesita una fuerza considerable y rapidez en los movimientos.</a:t>
            </a:r>
            <a:endParaRPr/>
          </a:p>
        </p:txBody>
      </p:sp>
      <p:grpSp>
        <p:nvGrpSpPr>
          <p:cNvPr id="162" name="Google Shape;162;p6"/>
          <p:cNvGrpSpPr/>
          <p:nvPr/>
        </p:nvGrpSpPr>
        <p:grpSpPr>
          <a:xfrm>
            <a:off x="803999" y="3191870"/>
            <a:ext cx="4584168" cy="4905889"/>
            <a:chOff x="0" y="-38100"/>
            <a:chExt cx="1207353" cy="1292086"/>
          </a:xfrm>
        </p:grpSpPr>
        <p:sp>
          <p:nvSpPr>
            <p:cNvPr id="163" name="Google Shape;163;p6"/>
            <p:cNvSpPr/>
            <p:nvPr/>
          </p:nvSpPr>
          <p:spPr>
            <a:xfrm>
              <a:off x="0" y="0"/>
              <a:ext cx="1207353" cy="1253986"/>
            </a:xfrm>
            <a:custGeom>
              <a:rect b="b" l="l" r="r" t="t"/>
              <a:pathLst>
                <a:path extrusionOk="0" h="1253986" w="1207353">
                  <a:moveTo>
                    <a:pt x="86131" y="0"/>
                  </a:moveTo>
                  <a:lnTo>
                    <a:pt x="1121222" y="0"/>
                  </a:lnTo>
                  <a:cubicBezTo>
                    <a:pt x="1144065" y="0"/>
                    <a:pt x="1165973" y="9074"/>
                    <a:pt x="1182126" y="25227"/>
                  </a:cubicBezTo>
                  <a:cubicBezTo>
                    <a:pt x="1198278" y="41380"/>
                    <a:pt x="1207353" y="63287"/>
                    <a:pt x="1207353" y="86131"/>
                  </a:cubicBezTo>
                  <a:lnTo>
                    <a:pt x="1207353" y="1167855"/>
                  </a:lnTo>
                  <a:cubicBezTo>
                    <a:pt x="1207353" y="1190698"/>
                    <a:pt x="1198278" y="1212606"/>
                    <a:pt x="1182126" y="1228759"/>
                  </a:cubicBezTo>
                  <a:cubicBezTo>
                    <a:pt x="1165973" y="1244912"/>
                    <a:pt x="1144065" y="1253986"/>
                    <a:pt x="1121222" y="1253986"/>
                  </a:cubicBezTo>
                  <a:lnTo>
                    <a:pt x="86131" y="1253986"/>
                  </a:lnTo>
                  <a:cubicBezTo>
                    <a:pt x="63287" y="1253986"/>
                    <a:pt x="41380" y="1244912"/>
                    <a:pt x="25227" y="1228759"/>
                  </a:cubicBezTo>
                  <a:cubicBezTo>
                    <a:pt x="9074" y="1212606"/>
                    <a:pt x="0" y="1190698"/>
                    <a:pt x="0" y="1167855"/>
                  </a:cubicBezTo>
                  <a:lnTo>
                    <a:pt x="0" y="86131"/>
                  </a:lnTo>
                  <a:cubicBezTo>
                    <a:pt x="0" y="63287"/>
                    <a:pt x="9074" y="41380"/>
                    <a:pt x="25227" y="25227"/>
                  </a:cubicBezTo>
                  <a:cubicBezTo>
                    <a:pt x="41380" y="9074"/>
                    <a:pt x="63287" y="0"/>
                    <a:pt x="86131"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txBox="1"/>
            <p:nvPr/>
          </p:nvSpPr>
          <p:spPr>
            <a:xfrm>
              <a:off x="0" y="-38100"/>
              <a:ext cx="1207353" cy="129208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5" name="Google Shape;165;p6"/>
          <p:cNvSpPr txBox="1"/>
          <p:nvPr/>
        </p:nvSpPr>
        <p:spPr>
          <a:xfrm>
            <a:off x="4641018" y="532917"/>
            <a:ext cx="9701100" cy="2718900"/>
          </a:xfrm>
          <a:prstGeom prst="rect">
            <a:avLst/>
          </a:prstGeom>
          <a:noFill/>
          <a:ln>
            <a:noFill/>
          </a:ln>
        </p:spPr>
        <p:txBody>
          <a:bodyPr anchorCtr="0" anchor="t" bIns="0" lIns="0" spcFirstLastPara="1" rIns="0" wrap="square" tIns="0">
            <a:spAutoFit/>
          </a:bodyPr>
          <a:lstStyle/>
          <a:p>
            <a:pPr indent="0" lvl="0" marL="0" marR="0" rtl="0" algn="ctr">
              <a:lnSpc>
                <a:spcPct val="91996"/>
              </a:lnSpc>
              <a:spcBef>
                <a:spcPts val="0"/>
              </a:spcBef>
              <a:spcAft>
                <a:spcPts val="0"/>
              </a:spcAft>
              <a:buNone/>
            </a:pPr>
            <a:r>
              <a:rPr b="0" i="0" lang="en-US" sz="9600" u="none" cap="none" strike="noStrike">
                <a:solidFill>
                  <a:srgbClr val="022033"/>
                </a:solidFill>
                <a:latin typeface="Arial"/>
                <a:ea typeface="Arial"/>
                <a:cs typeface="Arial"/>
                <a:sym typeface="Arial"/>
              </a:rPr>
              <a:t>TIPOS DE ACTUADORES</a:t>
            </a:r>
            <a:endParaRPr sz="9600"/>
          </a:p>
        </p:txBody>
      </p:sp>
      <p:sp>
        <p:nvSpPr>
          <p:cNvPr id="166" name="Google Shape;166;p6"/>
          <p:cNvSpPr txBox="1"/>
          <p:nvPr/>
        </p:nvSpPr>
        <p:spPr>
          <a:xfrm>
            <a:off x="1420494" y="3493395"/>
            <a:ext cx="3446426" cy="1208176"/>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0" lang="en-US" sz="3457" u="none" cap="none" strike="noStrike">
                <a:solidFill>
                  <a:srgbClr val="022033"/>
                </a:solidFill>
                <a:latin typeface="Tenor Sans"/>
                <a:ea typeface="Tenor Sans"/>
                <a:cs typeface="Tenor Sans"/>
                <a:sym typeface="Tenor Sans"/>
              </a:rPr>
              <a:t>ACTUADORES ELÉCTRICOS</a:t>
            </a:r>
            <a:endParaRPr/>
          </a:p>
        </p:txBody>
      </p:sp>
      <p:sp>
        <p:nvSpPr>
          <p:cNvPr id="167" name="Google Shape;167;p6"/>
          <p:cNvSpPr txBox="1"/>
          <p:nvPr/>
        </p:nvSpPr>
        <p:spPr>
          <a:xfrm>
            <a:off x="7272902" y="4636077"/>
            <a:ext cx="3490250" cy="1208176"/>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0" lang="en-US" sz="3457" u="none" cap="none" strike="noStrike">
                <a:solidFill>
                  <a:srgbClr val="022033"/>
                </a:solidFill>
                <a:latin typeface="Tenor Sans"/>
                <a:ea typeface="Tenor Sans"/>
                <a:cs typeface="Tenor Sans"/>
                <a:sym typeface="Tenor Sans"/>
              </a:rPr>
              <a:t>ACTUADORES NEUMÁTICOS</a:t>
            </a:r>
            <a:endParaRPr/>
          </a:p>
        </p:txBody>
      </p:sp>
      <p:grpSp>
        <p:nvGrpSpPr>
          <p:cNvPr id="168" name="Google Shape;168;p6"/>
          <p:cNvGrpSpPr/>
          <p:nvPr/>
        </p:nvGrpSpPr>
        <p:grpSpPr>
          <a:xfrm>
            <a:off x="13058108" y="3191870"/>
            <a:ext cx="4611413" cy="5400220"/>
            <a:chOff x="0" y="-38100"/>
            <a:chExt cx="1214528" cy="1422280"/>
          </a:xfrm>
        </p:grpSpPr>
        <p:sp>
          <p:nvSpPr>
            <p:cNvPr id="169" name="Google Shape;169;p6"/>
            <p:cNvSpPr/>
            <p:nvPr/>
          </p:nvSpPr>
          <p:spPr>
            <a:xfrm>
              <a:off x="0" y="0"/>
              <a:ext cx="1214528" cy="1384180"/>
            </a:xfrm>
            <a:custGeom>
              <a:rect b="b" l="l" r="r" t="t"/>
              <a:pathLst>
                <a:path extrusionOk="0" h="1384180" w="1214528">
                  <a:moveTo>
                    <a:pt x="85622" y="0"/>
                  </a:moveTo>
                  <a:lnTo>
                    <a:pt x="1128907" y="0"/>
                  </a:lnTo>
                  <a:cubicBezTo>
                    <a:pt x="1176194" y="0"/>
                    <a:pt x="1214528" y="38334"/>
                    <a:pt x="1214528" y="85622"/>
                  </a:cubicBezTo>
                  <a:lnTo>
                    <a:pt x="1214528" y="1298558"/>
                  </a:lnTo>
                  <a:cubicBezTo>
                    <a:pt x="1214528" y="1321267"/>
                    <a:pt x="1205508" y="1343045"/>
                    <a:pt x="1189450" y="1359102"/>
                  </a:cubicBezTo>
                  <a:cubicBezTo>
                    <a:pt x="1173393" y="1375159"/>
                    <a:pt x="1151615" y="1384180"/>
                    <a:pt x="1128907" y="1384180"/>
                  </a:cubicBezTo>
                  <a:lnTo>
                    <a:pt x="85622" y="1384180"/>
                  </a:lnTo>
                  <a:cubicBezTo>
                    <a:pt x="62914" y="1384180"/>
                    <a:pt x="41135" y="1375159"/>
                    <a:pt x="25078" y="1359102"/>
                  </a:cubicBezTo>
                  <a:cubicBezTo>
                    <a:pt x="9021" y="1343045"/>
                    <a:pt x="0" y="1321267"/>
                    <a:pt x="0" y="1298558"/>
                  </a:cubicBezTo>
                  <a:lnTo>
                    <a:pt x="0" y="85622"/>
                  </a:lnTo>
                  <a:cubicBezTo>
                    <a:pt x="0" y="62914"/>
                    <a:pt x="9021" y="41135"/>
                    <a:pt x="25078" y="25078"/>
                  </a:cubicBezTo>
                  <a:cubicBezTo>
                    <a:pt x="41135" y="9021"/>
                    <a:pt x="62914" y="0"/>
                    <a:pt x="85622" y="0"/>
                  </a:cubicBezTo>
                  <a:close/>
                </a:path>
              </a:pathLst>
            </a:custGeom>
            <a:solidFill>
              <a:srgbClr val="F3E7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txBox="1"/>
            <p:nvPr/>
          </p:nvSpPr>
          <p:spPr>
            <a:xfrm>
              <a:off x="0" y="-38100"/>
              <a:ext cx="1214528" cy="142228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1" name="Google Shape;171;p6"/>
          <p:cNvSpPr txBox="1"/>
          <p:nvPr/>
        </p:nvSpPr>
        <p:spPr>
          <a:xfrm>
            <a:off x="13291039" y="3698602"/>
            <a:ext cx="4058814" cy="1208176"/>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0" lang="en-US" sz="3457" u="none" cap="none" strike="noStrike">
                <a:solidFill>
                  <a:srgbClr val="022033"/>
                </a:solidFill>
                <a:latin typeface="Tenor Sans"/>
                <a:ea typeface="Tenor Sans"/>
                <a:cs typeface="Tenor Sans"/>
                <a:sym typeface="Tenor Sans"/>
              </a:rPr>
              <a:t>ACTUADORES HIDRÁULICOS</a:t>
            </a:r>
            <a:endParaRPr/>
          </a:p>
        </p:txBody>
      </p:sp>
      <p:sp>
        <p:nvSpPr>
          <p:cNvPr id="172" name="Google Shape;172;p6"/>
          <p:cNvSpPr txBox="1"/>
          <p:nvPr/>
        </p:nvSpPr>
        <p:spPr>
          <a:xfrm>
            <a:off x="1420494" y="5095875"/>
            <a:ext cx="3446426" cy="246399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0" i="0" lang="en-US" sz="1999" u="none" cap="none" strike="noStrike">
                <a:solidFill>
                  <a:srgbClr val="022033"/>
                </a:solidFill>
                <a:latin typeface="Tenor Sans"/>
                <a:ea typeface="Tenor Sans"/>
                <a:cs typeface="Tenor Sans"/>
                <a:sym typeface="Tenor Sans"/>
              </a:rPr>
              <a:t>Estos actuadores funcionan con energía eléctrica y son ampliamente usados en proyectos de Arduino y sistemas de control electrónico.</a:t>
            </a:r>
            <a:endParaRPr/>
          </a:p>
        </p:txBody>
      </p:sp>
      <p:sp>
        <p:nvSpPr>
          <p:cNvPr id="173" name="Google Shape;173;p6"/>
          <p:cNvSpPr txBox="1"/>
          <p:nvPr/>
        </p:nvSpPr>
        <p:spPr>
          <a:xfrm>
            <a:off x="13700324" y="5095875"/>
            <a:ext cx="3370385" cy="3168894"/>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0" i="0" lang="en-US" sz="1999" u="none" cap="none" strike="noStrike">
                <a:solidFill>
                  <a:srgbClr val="022033"/>
                </a:solidFill>
                <a:latin typeface="Tenor Sans"/>
                <a:ea typeface="Tenor Sans"/>
                <a:cs typeface="Tenor Sans"/>
                <a:sym typeface="Tenor Sans"/>
              </a:rPr>
              <a:t>Funcionan mediante presión de fluidos (como aceite o agua) para producir movimientos de gran fuerza. Son comunes en maquinaria pesada y sistemas que requieren mucha potencia.</a:t>
            </a:r>
            <a:endParaRPr/>
          </a:p>
        </p:txBody>
      </p:sp>
      <p:grpSp>
        <p:nvGrpSpPr>
          <p:cNvPr id="174" name="Google Shape;174;p6"/>
          <p:cNvGrpSpPr/>
          <p:nvPr/>
        </p:nvGrpSpPr>
        <p:grpSpPr>
          <a:xfrm>
            <a:off x="-533410" y="8097759"/>
            <a:ext cx="4378481" cy="4378481"/>
            <a:chOff x="0" y="0"/>
            <a:chExt cx="812800" cy="812800"/>
          </a:xfrm>
        </p:grpSpPr>
        <p:sp>
          <p:nvSpPr>
            <p:cNvPr id="175" name="Google Shape;175;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FD1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7" name="Google Shape;177;p6"/>
          <p:cNvGrpSpPr/>
          <p:nvPr/>
        </p:nvGrpSpPr>
        <p:grpSpPr>
          <a:xfrm>
            <a:off x="13291039" y="-2189241"/>
            <a:ext cx="4378481" cy="4378481"/>
            <a:chOff x="0" y="0"/>
            <a:chExt cx="812800" cy="812800"/>
          </a:xfrm>
        </p:grpSpPr>
        <p:sp>
          <p:nvSpPr>
            <p:cNvPr id="178" name="Google Shape;178;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grpSp>
        <p:nvGrpSpPr>
          <p:cNvPr id="184" name="Google Shape;184;p7"/>
          <p:cNvGrpSpPr/>
          <p:nvPr/>
        </p:nvGrpSpPr>
        <p:grpSpPr>
          <a:xfrm>
            <a:off x="-533410" y="8097759"/>
            <a:ext cx="4378481" cy="4378481"/>
            <a:chOff x="0" y="0"/>
            <a:chExt cx="812800" cy="812800"/>
          </a:xfrm>
        </p:grpSpPr>
        <p:sp>
          <p:nvSpPr>
            <p:cNvPr id="185" name="Google Shape;185;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FD1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7" name="Google Shape;187;p7"/>
          <p:cNvGrpSpPr/>
          <p:nvPr/>
        </p:nvGrpSpPr>
        <p:grpSpPr>
          <a:xfrm>
            <a:off x="6690711" y="4196129"/>
            <a:ext cx="4906579" cy="5254616"/>
            <a:chOff x="0" y="-38100"/>
            <a:chExt cx="1292268" cy="1383932"/>
          </a:xfrm>
        </p:grpSpPr>
        <p:sp>
          <p:nvSpPr>
            <p:cNvPr id="188" name="Google Shape;188;p7"/>
            <p:cNvSpPr/>
            <p:nvPr/>
          </p:nvSpPr>
          <p:spPr>
            <a:xfrm>
              <a:off x="0" y="0"/>
              <a:ext cx="1292268" cy="1345832"/>
            </a:xfrm>
            <a:custGeom>
              <a:rect b="b" l="l" r="r" t="t"/>
              <a:pathLst>
                <a:path extrusionOk="0" h="1345832" w="1292268">
                  <a:moveTo>
                    <a:pt x="80471" y="0"/>
                  </a:moveTo>
                  <a:lnTo>
                    <a:pt x="1211796" y="0"/>
                  </a:lnTo>
                  <a:cubicBezTo>
                    <a:pt x="1256240" y="0"/>
                    <a:pt x="1292268" y="36028"/>
                    <a:pt x="1292268" y="80471"/>
                  </a:cubicBezTo>
                  <a:lnTo>
                    <a:pt x="1292268" y="1265361"/>
                  </a:lnTo>
                  <a:cubicBezTo>
                    <a:pt x="1292268" y="1286703"/>
                    <a:pt x="1283789" y="1307171"/>
                    <a:pt x="1268698" y="1322262"/>
                  </a:cubicBezTo>
                  <a:cubicBezTo>
                    <a:pt x="1253607" y="1337354"/>
                    <a:pt x="1233139" y="1345832"/>
                    <a:pt x="1211796" y="1345832"/>
                  </a:cubicBezTo>
                  <a:lnTo>
                    <a:pt x="80471" y="1345832"/>
                  </a:lnTo>
                  <a:cubicBezTo>
                    <a:pt x="59129" y="1345832"/>
                    <a:pt x="38661" y="1337354"/>
                    <a:pt x="23569" y="1322262"/>
                  </a:cubicBezTo>
                  <a:cubicBezTo>
                    <a:pt x="8478" y="1307171"/>
                    <a:pt x="0" y="1286703"/>
                    <a:pt x="0" y="1265361"/>
                  </a:cubicBezTo>
                  <a:lnTo>
                    <a:pt x="0" y="80471"/>
                  </a:lnTo>
                  <a:cubicBezTo>
                    <a:pt x="0" y="59129"/>
                    <a:pt x="8478" y="38661"/>
                    <a:pt x="23569" y="23569"/>
                  </a:cubicBezTo>
                  <a:cubicBezTo>
                    <a:pt x="38661" y="8478"/>
                    <a:pt x="59129" y="0"/>
                    <a:pt x="80471" y="0"/>
                  </a:cubicBezTo>
                  <a:close/>
                </a:path>
              </a:pathLst>
            </a:custGeom>
            <a:solidFill>
              <a:srgbClr val="BFD1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
            <p:cNvSpPr txBox="1"/>
            <p:nvPr/>
          </p:nvSpPr>
          <p:spPr>
            <a:xfrm>
              <a:off x="0" y="-38100"/>
              <a:ext cx="1292268" cy="138393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0" name="Google Shape;190;p7"/>
          <p:cNvSpPr txBox="1"/>
          <p:nvPr/>
        </p:nvSpPr>
        <p:spPr>
          <a:xfrm>
            <a:off x="7298530" y="6040356"/>
            <a:ext cx="3690941" cy="2816442"/>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0" i="0" lang="en-US" sz="1999" u="none" cap="none" strike="noStrike">
                <a:solidFill>
                  <a:srgbClr val="022033"/>
                </a:solidFill>
                <a:latin typeface="Tenor Sans"/>
                <a:ea typeface="Tenor Sans"/>
                <a:cs typeface="Tenor Sans"/>
                <a:sym typeface="Tenor Sans"/>
              </a:rPr>
              <a:t>Usan materiales piezoeléctricos que generan movimiento al aplicar una corriente eléctrica. Estos actuadores son ideales para movimientos muy precisos y de corto alcance.</a:t>
            </a:r>
            <a:endParaRPr/>
          </a:p>
        </p:txBody>
      </p:sp>
      <p:grpSp>
        <p:nvGrpSpPr>
          <p:cNvPr id="191" name="Google Shape;191;p7"/>
          <p:cNvGrpSpPr/>
          <p:nvPr/>
        </p:nvGrpSpPr>
        <p:grpSpPr>
          <a:xfrm>
            <a:off x="803999" y="3191870"/>
            <a:ext cx="4614547" cy="5400220"/>
            <a:chOff x="0" y="-38100"/>
            <a:chExt cx="1215354" cy="1422280"/>
          </a:xfrm>
        </p:grpSpPr>
        <p:sp>
          <p:nvSpPr>
            <p:cNvPr id="192" name="Google Shape;192;p7"/>
            <p:cNvSpPr/>
            <p:nvPr/>
          </p:nvSpPr>
          <p:spPr>
            <a:xfrm>
              <a:off x="0" y="0"/>
              <a:ext cx="1215354" cy="1384180"/>
            </a:xfrm>
            <a:custGeom>
              <a:rect b="b" l="l" r="r" t="t"/>
              <a:pathLst>
                <a:path extrusionOk="0" h="1384180" w="1215354">
                  <a:moveTo>
                    <a:pt x="85564" y="0"/>
                  </a:moveTo>
                  <a:lnTo>
                    <a:pt x="1129790" y="0"/>
                  </a:lnTo>
                  <a:cubicBezTo>
                    <a:pt x="1177046" y="0"/>
                    <a:pt x="1215354" y="38308"/>
                    <a:pt x="1215354" y="85564"/>
                  </a:cubicBezTo>
                  <a:lnTo>
                    <a:pt x="1215354" y="1298616"/>
                  </a:lnTo>
                  <a:cubicBezTo>
                    <a:pt x="1215354" y="1321309"/>
                    <a:pt x="1206339" y="1343073"/>
                    <a:pt x="1190293" y="1359119"/>
                  </a:cubicBezTo>
                  <a:cubicBezTo>
                    <a:pt x="1174247" y="1375165"/>
                    <a:pt x="1152483" y="1384180"/>
                    <a:pt x="1129790" y="1384180"/>
                  </a:cubicBezTo>
                  <a:lnTo>
                    <a:pt x="85564" y="1384180"/>
                  </a:lnTo>
                  <a:cubicBezTo>
                    <a:pt x="62871" y="1384180"/>
                    <a:pt x="41107" y="1375165"/>
                    <a:pt x="25061" y="1359119"/>
                  </a:cubicBezTo>
                  <a:cubicBezTo>
                    <a:pt x="9015" y="1343073"/>
                    <a:pt x="0" y="1321309"/>
                    <a:pt x="0" y="1298616"/>
                  </a:cubicBezTo>
                  <a:lnTo>
                    <a:pt x="0" y="85564"/>
                  </a:lnTo>
                  <a:cubicBezTo>
                    <a:pt x="0" y="62871"/>
                    <a:pt x="9015" y="41107"/>
                    <a:pt x="25061" y="25061"/>
                  </a:cubicBezTo>
                  <a:cubicBezTo>
                    <a:pt x="41107" y="9015"/>
                    <a:pt x="62871" y="0"/>
                    <a:pt x="85564"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
            <p:cNvSpPr txBox="1"/>
            <p:nvPr/>
          </p:nvSpPr>
          <p:spPr>
            <a:xfrm>
              <a:off x="0" y="-38100"/>
              <a:ext cx="1215354" cy="142228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4" name="Google Shape;194;p7"/>
          <p:cNvSpPr txBox="1"/>
          <p:nvPr/>
        </p:nvSpPr>
        <p:spPr>
          <a:xfrm>
            <a:off x="4641018" y="532917"/>
            <a:ext cx="9701100" cy="2718900"/>
          </a:xfrm>
          <a:prstGeom prst="rect">
            <a:avLst/>
          </a:prstGeom>
          <a:noFill/>
          <a:ln>
            <a:noFill/>
          </a:ln>
        </p:spPr>
        <p:txBody>
          <a:bodyPr anchorCtr="0" anchor="t" bIns="0" lIns="0" spcFirstLastPara="1" rIns="0" wrap="square" tIns="0">
            <a:spAutoFit/>
          </a:bodyPr>
          <a:lstStyle/>
          <a:p>
            <a:pPr indent="0" lvl="0" marL="0" marR="0" rtl="0" algn="ctr">
              <a:lnSpc>
                <a:spcPct val="91996"/>
              </a:lnSpc>
              <a:spcBef>
                <a:spcPts val="0"/>
              </a:spcBef>
              <a:spcAft>
                <a:spcPts val="0"/>
              </a:spcAft>
              <a:buNone/>
            </a:pPr>
            <a:r>
              <a:rPr b="0" i="0" lang="en-US" sz="9600" u="none" cap="none" strike="noStrike">
                <a:solidFill>
                  <a:srgbClr val="022033"/>
                </a:solidFill>
                <a:latin typeface="Arial"/>
                <a:ea typeface="Arial"/>
                <a:cs typeface="Arial"/>
                <a:sym typeface="Arial"/>
              </a:rPr>
              <a:t>TIPOS DE ACTUADORES</a:t>
            </a:r>
            <a:endParaRPr sz="9600"/>
          </a:p>
        </p:txBody>
      </p:sp>
      <p:sp>
        <p:nvSpPr>
          <p:cNvPr id="195" name="Google Shape;195;p7"/>
          <p:cNvSpPr txBox="1"/>
          <p:nvPr/>
        </p:nvSpPr>
        <p:spPr>
          <a:xfrm>
            <a:off x="1420494" y="3493395"/>
            <a:ext cx="3446426" cy="1208176"/>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0" lang="en-US" sz="3457" u="none" cap="none" strike="noStrike">
                <a:solidFill>
                  <a:srgbClr val="022033"/>
                </a:solidFill>
                <a:latin typeface="Tenor Sans"/>
                <a:ea typeface="Tenor Sans"/>
                <a:cs typeface="Tenor Sans"/>
                <a:sym typeface="Tenor Sans"/>
              </a:rPr>
              <a:t>ACTUADORES TÉRMICOS</a:t>
            </a:r>
            <a:endParaRPr/>
          </a:p>
        </p:txBody>
      </p:sp>
      <p:sp>
        <p:nvSpPr>
          <p:cNvPr id="196" name="Google Shape;196;p7"/>
          <p:cNvSpPr txBox="1"/>
          <p:nvPr/>
        </p:nvSpPr>
        <p:spPr>
          <a:xfrm>
            <a:off x="6691638" y="4625370"/>
            <a:ext cx="4802376" cy="1208176"/>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0" lang="en-US" sz="3457" u="none" cap="none" strike="noStrike">
                <a:solidFill>
                  <a:srgbClr val="022033"/>
                </a:solidFill>
                <a:latin typeface="Tenor Sans"/>
                <a:ea typeface="Tenor Sans"/>
                <a:cs typeface="Tenor Sans"/>
                <a:sym typeface="Tenor Sans"/>
              </a:rPr>
              <a:t>ACTUADORES PIEZOELÉCTRICOS</a:t>
            </a:r>
            <a:endParaRPr/>
          </a:p>
        </p:txBody>
      </p:sp>
      <p:grpSp>
        <p:nvGrpSpPr>
          <p:cNvPr id="197" name="Google Shape;197;p7"/>
          <p:cNvGrpSpPr/>
          <p:nvPr/>
        </p:nvGrpSpPr>
        <p:grpSpPr>
          <a:xfrm>
            <a:off x="13058108" y="3191870"/>
            <a:ext cx="4611413" cy="5400220"/>
            <a:chOff x="0" y="-38100"/>
            <a:chExt cx="1214528" cy="1422280"/>
          </a:xfrm>
        </p:grpSpPr>
        <p:sp>
          <p:nvSpPr>
            <p:cNvPr id="198" name="Google Shape;198;p7"/>
            <p:cNvSpPr/>
            <p:nvPr/>
          </p:nvSpPr>
          <p:spPr>
            <a:xfrm>
              <a:off x="0" y="0"/>
              <a:ext cx="1214528" cy="1384180"/>
            </a:xfrm>
            <a:custGeom>
              <a:rect b="b" l="l" r="r" t="t"/>
              <a:pathLst>
                <a:path extrusionOk="0" h="1384180" w="1214528">
                  <a:moveTo>
                    <a:pt x="85622" y="0"/>
                  </a:moveTo>
                  <a:lnTo>
                    <a:pt x="1128907" y="0"/>
                  </a:lnTo>
                  <a:cubicBezTo>
                    <a:pt x="1176194" y="0"/>
                    <a:pt x="1214528" y="38334"/>
                    <a:pt x="1214528" y="85622"/>
                  </a:cubicBezTo>
                  <a:lnTo>
                    <a:pt x="1214528" y="1298558"/>
                  </a:lnTo>
                  <a:cubicBezTo>
                    <a:pt x="1214528" y="1321267"/>
                    <a:pt x="1205508" y="1343045"/>
                    <a:pt x="1189450" y="1359102"/>
                  </a:cubicBezTo>
                  <a:cubicBezTo>
                    <a:pt x="1173393" y="1375159"/>
                    <a:pt x="1151615" y="1384180"/>
                    <a:pt x="1128907" y="1384180"/>
                  </a:cubicBezTo>
                  <a:lnTo>
                    <a:pt x="85622" y="1384180"/>
                  </a:lnTo>
                  <a:cubicBezTo>
                    <a:pt x="62914" y="1384180"/>
                    <a:pt x="41135" y="1375159"/>
                    <a:pt x="25078" y="1359102"/>
                  </a:cubicBezTo>
                  <a:cubicBezTo>
                    <a:pt x="9021" y="1343045"/>
                    <a:pt x="0" y="1321267"/>
                    <a:pt x="0" y="1298558"/>
                  </a:cubicBezTo>
                  <a:lnTo>
                    <a:pt x="0" y="85622"/>
                  </a:lnTo>
                  <a:cubicBezTo>
                    <a:pt x="0" y="62914"/>
                    <a:pt x="9021" y="41135"/>
                    <a:pt x="25078" y="25078"/>
                  </a:cubicBezTo>
                  <a:cubicBezTo>
                    <a:pt x="41135" y="9021"/>
                    <a:pt x="62914" y="0"/>
                    <a:pt x="85622" y="0"/>
                  </a:cubicBezTo>
                  <a:close/>
                </a:path>
              </a:pathLst>
            </a:custGeom>
            <a:solidFill>
              <a:srgbClr val="F3E7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txBox="1"/>
            <p:nvPr/>
          </p:nvSpPr>
          <p:spPr>
            <a:xfrm>
              <a:off x="0" y="-38100"/>
              <a:ext cx="1214528" cy="142228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0" name="Google Shape;200;p7"/>
          <p:cNvSpPr txBox="1"/>
          <p:nvPr/>
        </p:nvSpPr>
        <p:spPr>
          <a:xfrm>
            <a:off x="13291039" y="3698602"/>
            <a:ext cx="4058814" cy="1208176"/>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0" lang="en-US" sz="3457" u="none" cap="none" strike="noStrike">
                <a:solidFill>
                  <a:srgbClr val="022033"/>
                </a:solidFill>
                <a:latin typeface="Tenor Sans"/>
                <a:ea typeface="Tenor Sans"/>
                <a:cs typeface="Tenor Sans"/>
                <a:sym typeface="Tenor Sans"/>
              </a:rPr>
              <a:t>ACTUADORES MAGNÉTICOS</a:t>
            </a:r>
            <a:endParaRPr/>
          </a:p>
        </p:txBody>
      </p:sp>
      <p:sp>
        <p:nvSpPr>
          <p:cNvPr id="201" name="Google Shape;201;p7"/>
          <p:cNvSpPr txBox="1"/>
          <p:nvPr/>
        </p:nvSpPr>
        <p:spPr>
          <a:xfrm>
            <a:off x="1159871" y="5095875"/>
            <a:ext cx="3967672" cy="3168894"/>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0" i="0" lang="en-US" sz="1999" u="none" cap="none" strike="noStrike">
                <a:solidFill>
                  <a:srgbClr val="022033"/>
                </a:solidFill>
                <a:latin typeface="Tenor Sans"/>
                <a:ea typeface="Tenor Sans"/>
                <a:cs typeface="Tenor Sans"/>
                <a:sym typeface="Tenor Sans"/>
              </a:rPr>
              <a:t>Estos actuadores funcionan a través de la expansión y contracción de materiales cuando son sometidos a cambios de temperatura. Aunque son menos comunes en proyectos de Arduino, se utilizan en aplicaciones específicas.</a:t>
            </a:r>
            <a:endParaRPr/>
          </a:p>
        </p:txBody>
      </p:sp>
      <p:sp>
        <p:nvSpPr>
          <p:cNvPr id="202" name="Google Shape;202;p7"/>
          <p:cNvSpPr txBox="1"/>
          <p:nvPr/>
        </p:nvSpPr>
        <p:spPr>
          <a:xfrm>
            <a:off x="13678622" y="5095875"/>
            <a:ext cx="3370385" cy="2816442"/>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0" i="0" lang="en-US" sz="1999" u="none" cap="none" strike="noStrike">
                <a:solidFill>
                  <a:srgbClr val="022033"/>
                </a:solidFill>
                <a:latin typeface="Tenor Sans"/>
                <a:ea typeface="Tenor Sans"/>
                <a:cs typeface="Tenor Sans"/>
                <a:sym typeface="Tenor Sans"/>
              </a:rPr>
              <a:t>Utilizan el campo magnético para generar movimiento, como los electroimanes. Son adecuados para aplicaciones que requieren movimientos rápidos o de activación.</a:t>
            </a:r>
            <a:endParaRPr/>
          </a:p>
        </p:txBody>
      </p:sp>
      <p:grpSp>
        <p:nvGrpSpPr>
          <p:cNvPr id="203" name="Google Shape;203;p7"/>
          <p:cNvGrpSpPr/>
          <p:nvPr/>
        </p:nvGrpSpPr>
        <p:grpSpPr>
          <a:xfrm>
            <a:off x="13291039" y="-2189241"/>
            <a:ext cx="4378481" cy="4378481"/>
            <a:chOff x="0" y="0"/>
            <a:chExt cx="812800" cy="812800"/>
          </a:xfrm>
        </p:grpSpPr>
        <p:sp>
          <p:nvSpPr>
            <p:cNvPr id="204" name="Google Shape;204;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grpSp>
        <p:nvGrpSpPr>
          <p:cNvPr id="210" name="Google Shape;210;p8"/>
          <p:cNvGrpSpPr/>
          <p:nvPr/>
        </p:nvGrpSpPr>
        <p:grpSpPr>
          <a:xfrm>
            <a:off x="-2603406" y="2751568"/>
            <a:ext cx="4378481" cy="4378481"/>
            <a:chOff x="0" y="0"/>
            <a:chExt cx="812800" cy="812800"/>
          </a:xfrm>
        </p:grpSpPr>
        <p:sp>
          <p:nvSpPr>
            <p:cNvPr id="211" name="Google Shape;211;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3" name="Google Shape;213;p8"/>
          <p:cNvGrpSpPr/>
          <p:nvPr/>
        </p:nvGrpSpPr>
        <p:grpSpPr>
          <a:xfrm>
            <a:off x="3954263" y="8646204"/>
            <a:ext cx="971055" cy="1079531"/>
            <a:chOff x="0" y="-38100"/>
            <a:chExt cx="255751" cy="284321"/>
          </a:xfrm>
        </p:grpSpPr>
        <p:sp>
          <p:nvSpPr>
            <p:cNvPr id="214" name="Google Shape;214;p8"/>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6" name="Google Shape;216;p8"/>
          <p:cNvSpPr txBox="1"/>
          <p:nvPr/>
        </p:nvSpPr>
        <p:spPr>
          <a:xfrm>
            <a:off x="1168660" y="1875436"/>
            <a:ext cx="9949405" cy="7755274"/>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Servomotor</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Es un actuador que permite controlar la posición angular con alta precisión.</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Suele tener un rango de movimiento limitado, generalmente de 0 a 180 grados, lo que lo hace ideal para aplicaciones que requieren movimientos controlados, como brazos robóticos y cámaras de vigilancia.</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p:txBody>
      </p:sp>
      <p:sp>
        <p:nvSpPr>
          <p:cNvPr id="217" name="Google Shape;217;p8"/>
          <p:cNvSpPr/>
          <p:nvPr/>
        </p:nvSpPr>
        <p:spPr>
          <a:xfrm>
            <a:off x="11415480" y="2262126"/>
            <a:ext cx="6059015" cy="6077658"/>
          </a:xfrm>
          <a:custGeom>
            <a:rect b="b" l="l" r="r" t="t"/>
            <a:pathLst>
              <a:path extrusionOk="0" h="6077658" w="6059015">
                <a:moveTo>
                  <a:pt x="0" y="0"/>
                </a:moveTo>
                <a:lnTo>
                  <a:pt x="6059016" y="0"/>
                </a:lnTo>
                <a:lnTo>
                  <a:pt x="6059016" y="6077658"/>
                </a:lnTo>
                <a:lnTo>
                  <a:pt x="0" y="6077658"/>
                </a:lnTo>
                <a:lnTo>
                  <a:pt x="0" y="0"/>
                </a:lnTo>
                <a:close/>
              </a:path>
            </a:pathLst>
          </a:custGeom>
          <a:blipFill rotWithShape="1">
            <a:blip r:embed="rId3">
              <a:alphaModFix/>
            </a:blip>
            <a:stretch>
              <a:fillRect b="0" l="0" r="0" t="0"/>
            </a:stretch>
          </a:blipFill>
          <a:ln>
            <a:noFill/>
          </a:ln>
        </p:spPr>
      </p:sp>
      <p:sp>
        <p:nvSpPr>
          <p:cNvPr id="218" name="Google Shape;218;p8"/>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ACTUADORES  MAS USADOS EN PROYECTOS DE ARDUINO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grpSp>
        <p:nvGrpSpPr>
          <p:cNvPr id="223" name="Google Shape;223;p9"/>
          <p:cNvGrpSpPr/>
          <p:nvPr/>
        </p:nvGrpSpPr>
        <p:grpSpPr>
          <a:xfrm>
            <a:off x="-2603406" y="2751568"/>
            <a:ext cx="4378481" cy="4378481"/>
            <a:chOff x="0" y="0"/>
            <a:chExt cx="812800" cy="812800"/>
          </a:xfrm>
        </p:grpSpPr>
        <p:sp>
          <p:nvSpPr>
            <p:cNvPr id="224" name="Google Shape;224;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6" name="Google Shape;226;p9"/>
          <p:cNvGrpSpPr/>
          <p:nvPr/>
        </p:nvGrpSpPr>
        <p:grpSpPr>
          <a:xfrm>
            <a:off x="3954263" y="8646204"/>
            <a:ext cx="971055" cy="1079531"/>
            <a:chOff x="0" y="-38100"/>
            <a:chExt cx="255751" cy="284321"/>
          </a:xfrm>
        </p:grpSpPr>
        <p:sp>
          <p:nvSpPr>
            <p:cNvPr id="227" name="Google Shape;227;p9"/>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9"/>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9" name="Google Shape;229;p9"/>
          <p:cNvSpPr/>
          <p:nvPr/>
        </p:nvSpPr>
        <p:spPr>
          <a:xfrm>
            <a:off x="10982940" y="2072723"/>
            <a:ext cx="6792000" cy="6844651"/>
          </a:xfrm>
          <a:custGeom>
            <a:rect b="b" l="l" r="r" t="t"/>
            <a:pathLst>
              <a:path extrusionOk="0" h="6844651" w="6792000">
                <a:moveTo>
                  <a:pt x="0" y="0"/>
                </a:moveTo>
                <a:lnTo>
                  <a:pt x="6792000" y="0"/>
                </a:lnTo>
                <a:lnTo>
                  <a:pt x="6792000" y="6844651"/>
                </a:lnTo>
                <a:lnTo>
                  <a:pt x="0" y="6844651"/>
                </a:lnTo>
                <a:lnTo>
                  <a:pt x="0" y="0"/>
                </a:lnTo>
                <a:close/>
              </a:path>
            </a:pathLst>
          </a:custGeom>
          <a:blipFill rotWithShape="1">
            <a:blip r:embed="rId3">
              <a:alphaModFix/>
            </a:blip>
            <a:stretch>
              <a:fillRect b="-15978" l="-18746" r="-11140" t="-12913"/>
            </a:stretch>
          </a:blipFill>
          <a:ln>
            <a:noFill/>
          </a:ln>
        </p:spPr>
      </p:sp>
      <p:sp>
        <p:nvSpPr>
          <p:cNvPr id="230" name="Google Shape;230;p9"/>
          <p:cNvSpPr txBox="1"/>
          <p:nvPr/>
        </p:nvSpPr>
        <p:spPr>
          <a:xfrm>
            <a:off x="1259925" y="1550275"/>
            <a:ext cx="10049700" cy="84537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Motor de Corriente Continua (DC)</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Un motor de movimiento continuo que gira indefinidamente mientras esté alimentado.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Su velocidad y dirección de giro se controlan variando el voltaje o la polaridad. Son utilizados en proyectos de robótica para el movimiento de ruedas, ventiladores y pequeños vehículos.</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p:txBody>
      </p:sp>
      <p:sp>
        <p:nvSpPr>
          <p:cNvPr id="231" name="Google Shape;231;p9"/>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ACTUADORES  MAS USADOS EN PROYECTOS DE ARDUINO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grpSp>
        <p:nvGrpSpPr>
          <p:cNvPr id="236" name="Google Shape;236;p10"/>
          <p:cNvGrpSpPr/>
          <p:nvPr/>
        </p:nvGrpSpPr>
        <p:grpSpPr>
          <a:xfrm>
            <a:off x="-2603406" y="2751568"/>
            <a:ext cx="4378481" cy="4378481"/>
            <a:chOff x="0" y="0"/>
            <a:chExt cx="812800" cy="812800"/>
          </a:xfrm>
        </p:grpSpPr>
        <p:sp>
          <p:nvSpPr>
            <p:cNvPr id="237" name="Google Shape;237;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9" name="Google Shape;239;p10"/>
          <p:cNvGrpSpPr/>
          <p:nvPr/>
        </p:nvGrpSpPr>
        <p:grpSpPr>
          <a:xfrm>
            <a:off x="3954263" y="8646204"/>
            <a:ext cx="971055" cy="1079531"/>
            <a:chOff x="0" y="-38100"/>
            <a:chExt cx="255751" cy="284321"/>
          </a:xfrm>
        </p:grpSpPr>
        <p:sp>
          <p:nvSpPr>
            <p:cNvPr id="240" name="Google Shape;240;p10"/>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0"/>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2" name="Google Shape;242;p10"/>
          <p:cNvSpPr/>
          <p:nvPr/>
        </p:nvSpPr>
        <p:spPr>
          <a:xfrm>
            <a:off x="11420315" y="2212236"/>
            <a:ext cx="6103536" cy="5862528"/>
          </a:xfrm>
          <a:custGeom>
            <a:rect b="b" l="l" r="r" t="t"/>
            <a:pathLst>
              <a:path extrusionOk="0" h="5862528" w="6103536">
                <a:moveTo>
                  <a:pt x="0" y="0"/>
                </a:moveTo>
                <a:lnTo>
                  <a:pt x="6103536" y="0"/>
                </a:lnTo>
                <a:lnTo>
                  <a:pt x="6103536" y="5862528"/>
                </a:lnTo>
                <a:lnTo>
                  <a:pt x="0" y="5862528"/>
                </a:lnTo>
                <a:lnTo>
                  <a:pt x="0" y="0"/>
                </a:lnTo>
                <a:close/>
              </a:path>
            </a:pathLst>
          </a:custGeom>
          <a:blipFill rotWithShape="1">
            <a:blip r:embed="rId3">
              <a:alphaModFix/>
            </a:blip>
            <a:stretch>
              <a:fillRect b="0" l="-85157" r="0" t="0"/>
            </a:stretch>
          </a:blipFill>
          <a:ln>
            <a:noFill/>
          </a:ln>
        </p:spPr>
      </p:sp>
      <p:sp>
        <p:nvSpPr>
          <p:cNvPr id="243" name="Google Shape;243;p10"/>
          <p:cNvSpPr txBox="1"/>
          <p:nvPr/>
        </p:nvSpPr>
        <p:spPr>
          <a:xfrm>
            <a:off x="1512650" y="1550280"/>
            <a:ext cx="8936513" cy="8402947"/>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Motor Paso a Paso (Stepper Motor)</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Este motor se mueve en pasos o incrementos precisos, permitiendo un control exacto de posición y velocidad.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Es ideal para aplicaciones que requieren movimientos repetitivos y posicionamiento preciso, como impresoras 3D y sistemas de control de movimiento.</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p:txBody>
      </p:sp>
      <p:sp>
        <p:nvSpPr>
          <p:cNvPr id="244" name="Google Shape;244;p10"/>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ACTUADORES  MAS USADOS EN PROYECTOS DE ARDUINO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grpSp>
        <p:nvGrpSpPr>
          <p:cNvPr id="249" name="Google Shape;249;p11"/>
          <p:cNvGrpSpPr/>
          <p:nvPr/>
        </p:nvGrpSpPr>
        <p:grpSpPr>
          <a:xfrm>
            <a:off x="-2603406" y="2751568"/>
            <a:ext cx="4378481" cy="4378481"/>
            <a:chOff x="0" y="0"/>
            <a:chExt cx="812800" cy="812800"/>
          </a:xfrm>
        </p:grpSpPr>
        <p:sp>
          <p:nvSpPr>
            <p:cNvPr id="250" name="Google Shape;250;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2" name="Google Shape;252;p11"/>
          <p:cNvGrpSpPr/>
          <p:nvPr/>
        </p:nvGrpSpPr>
        <p:grpSpPr>
          <a:xfrm>
            <a:off x="2677127" y="8523739"/>
            <a:ext cx="971055" cy="1079531"/>
            <a:chOff x="0" y="-38100"/>
            <a:chExt cx="255751" cy="284321"/>
          </a:xfrm>
        </p:grpSpPr>
        <p:sp>
          <p:nvSpPr>
            <p:cNvPr id="253" name="Google Shape;253;p11"/>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1"/>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5" name="Google Shape;255;p11"/>
          <p:cNvSpPr/>
          <p:nvPr/>
        </p:nvSpPr>
        <p:spPr>
          <a:xfrm>
            <a:off x="5068681" y="6439779"/>
            <a:ext cx="7697100" cy="3355936"/>
          </a:xfrm>
          <a:custGeom>
            <a:rect b="b" l="l" r="r" t="t"/>
            <a:pathLst>
              <a:path extrusionOk="0" h="3355936" w="7697100">
                <a:moveTo>
                  <a:pt x="0" y="0"/>
                </a:moveTo>
                <a:lnTo>
                  <a:pt x="7697100" y="0"/>
                </a:lnTo>
                <a:lnTo>
                  <a:pt x="7697100" y="3355936"/>
                </a:lnTo>
                <a:lnTo>
                  <a:pt x="0" y="3355936"/>
                </a:lnTo>
                <a:lnTo>
                  <a:pt x="0" y="0"/>
                </a:lnTo>
                <a:close/>
              </a:path>
            </a:pathLst>
          </a:custGeom>
          <a:blipFill rotWithShape="1">
            <a:blip r:embed="rId3">
              <a:alphaModFix/>
            </a:blip>
            <a:stretch>
              <a:fillRect b="0" l="0" r="0" t="0"/>
            </a:stretch>
          </a:blipFill>
          <a:ln>
            <a:noFill/>
          </a:ln>
        </p:spPr>
      </p:sp>
      <p:sp>
        <p:nvSpPr>
          <p:cNvPr id="256" name="Google Shape;256;p11"/>
          <p:cNvSpPr txBox="1"/>
          <p:nvPr/>
        </p:nvSpPr>
        <p:spPr>
          <a:xfrm>
            <a:off x="1535389" y="1649292"/>
            <a:ext cx="15217221" cy="5164582"/>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Sensor de Temperatura (DHT11, DHT22)</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Este sensor mide la temperatura y, en algunos modelos (como el DHT22), también la humedad.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Es fácil de usar y proporciona datos en tiempo real, lo que lo hace ideal para monitorear condiciones ambientales.</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p:txBody>
      </p:sp>
      <p:sp>
        <p:nvSpPr>
          <p:cNvPr id="257" name="Google Shape;257;p11"/>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SENSORES MAS USADOS EN PROYECTOS DE ARDUINO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grpSp>
        <p:nvGrpSpPr>
          <p:cNvPr id="262" name="Google Shape;262;p12"/>
          <p:cNvGrpSpPr/>
          <p:nvPr/>
        </p:nvGrpSpPr>
        <p:grpSpPr>
          <a:xfrm>
            <a:off x="-2603406" y="2751568"/>
            <a:ext cx="4378481" cy="4378481"/>
            <a:chOff x="0" y="0"/>
            <a:chExt cx="812800" cy="812800"/>
          </a:xfrm>
        </p:grpSpPr>
        <p:sp>
          <p:nvSpPr>
            <p:cNvPr id="263" name="Google Shape;263;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5" name="Google Shape;265;p12"/>
          <p:cNvGrpSpPr/>
          <p:nvPr/>
        </p:nvGrpSpPr>
        <p:grpSpPr>
          <a:xfrm>
            <a:off x="2677127" y="8523739"/>
            <a:ext cx="971055" cy="1079531"/>
            <a:chOff x="0" y="-38100"/>
            <a:chExt cx="255751" cy="284321"/>
          </a:xfrm>
        </p:grpSpPr>
        <p:sp>
          <p:nvSpPr>
            <p:cNvPr id="266" name="Google Shape;266;p12"/>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2"/>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8" name="Google Shape;268;p12"/>
          <p:cNvSpPr txBox="1"/>
          <p:nvPr/>
        </p:nvSpPr>
        <p:spPr>
          <a:xfrm>
            <a:off x="1535389" y="1649292"/>
            <a:ext cx="8516632" cy="7107601"/>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Sensor de Luz </a:t>
            </a:r>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(LDR o Fotoresistor)</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Un sensor que mide la cantidad de luz en el ambiente.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La resistencia del fotoresistor cambia según la intensidad de luz, permitiendo que Arduino lea variaciones en la iluminación.</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p:txBody>
      </p:sp>
      <p:sp>
        <p:nvSpPr>
          <p:cNvPr id="269" name="Google Shape;269;p12"/>
          <p:cNvSpPr/>
          <p:nvPr/>
        </p:nvSpPr>
        <p:spPr>
          <a:xfrm>
            <a:off x="10902342" y="2062714"/>
            <a:ext cx="6356958" cy="6356958"/>
          </a:xfrm>
          <a:custGeom>
            <a:rect b="b" l="l" r="r" t="t"/>
            <a:pathLst>
              <a:path extrusionOk="0" h="6356958" w="6356958">
                <a:moveTo>
                  <a:pt x="0" y="0"/>
                </a:moveTo>
                <a:lnTo>
                  <a:pt x="6356958" y="0"/>
                </a:lnTo>
                <a:lnTo>
                  <a:pt x="6356958" y="6356958"/>
                </a:lnTo>
                <a:lnTo>
                  <a:pt x="0" y="6356958"/>
                </a:lnTo>
                <a:lnTo>
                  <a:pt x="0" y="0"/>
                </a:lnTo>
                <a:close/>
              </a:path>
            </a:pathLst>
          </a:custGeom>
          <a:blipFill rotWithShape="1">
            <a:blip r:embed="rId3">
              <a:alphaModFix/>
            </a:blip>
            <a:stretch>
              <a:fillRect b="0" l="0" r="0" t="0"/>
            </a:stretch>
          </a:blipFill>
          <a:ln>
            <a:noFill/>
          </a:ln>
        </p:spPr>
      </p:sp>
      <p:sp>
        <p:nvSpPr>
          <p:cNvPr id="270" name="Google Shape;270;p12"/>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SENSORES MAS USADOS EN PROYECTOS DE ARDUINO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grpSp>
        <p:nvGrpSpPr>
          <p:cNvPr id="275" name="Google Shape;275;p13"/>
          <p:cNvGrpSpPr/>
          <p:nvPr/>
        </p:nvGrpSpPr>
        <p:grpSpPr>
          <a:xfrm>
            <a:off x="-2603406" y="2751568"/>
            <a:ext cx="4378481" cy="4378481"/>
            <a:chOff x="0" y="0"/>
            <a:chExt cx="812800" cy="812800"/>
          </a:xfrm>
        </p:grpSpPr>
        <p:sp>
          <p:nvSpPr>
            <p:cNvPr id="276" name="Google Shape;276;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8" name="Google Shape;278;p13"/>
          <p:cNvGrpSpPr/>
          <p:nvPr/>
        </p:nvGrpSpPr>
        <p:grpSpPr>
          <a:xfrm>
            <a:off x="2677127" y="8523739"/>
            <a:ext cx="971055" cy="1079531"/>
            <a:chOff x="0" y="-38100"/>
            <a:chExt cx="255751" cy="284321"/>
          </a:xfrm>
        </p:grpSpPr>
        <p:sp>
          <p:nvSpPr>
            <p:cNvPr id="279" name="Google Shape;279;p13"/>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3"/>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1" name="Google Shape;281;p13"/>
          <p:cNvSpPr/>
          <p:nvPr/>
        </p:nvSpPr>
        <p:spPr>
          <a:xfrm>
            <a:off x="10549213" y="1965021"/>
            <a:ext cx="6356958" cy="6356958"/>
          </a:xfrm>
          <a:custGeom>
            <a:rect b="b" l="l" r="r" t="t"/>
            <a:pathLst>
              <a:path extrusionOk="0" h="6356958" w="6356958">
                <a:moveTo>
                  <a:pt x="0" y="0"/>
                </a:moveTo>
                <a:lnTo>
                  <a:pt x="6356959" y="0"/>
                </a:lnTo>
                <a:lnTo>
                  <a:pt x="6356959" y="6356958"/>
                </a:lnTo>
                <a:lnTo>
                  <a:pt x="0" y="6356958"/>
                </a:lnTo>
                <a:lnTo>
                  <a:pt x="0" y="0"/>
                </a:lnTo>
                <a:close/>
              </a:path>
            </a:pathLst>
          </a:custGeom>
          <a:blipFill rotWithShape="1">
            <a:blip r:embed="rId3">
              <a:alphaModFix/>
            </a:blip>
            <a:stretch>
              <a:fillRect b="0" l="0" r="0" t="0"/>
            </a:stretch>
          </a:blipFill>
          <a:ln>
            <a:noFill/>
          </a:ln>
        </p:spPr>
      </p:sp>
      <p:sp>
        <p:nvSpPr>
          <p:cNvPr id="282" name="Google Shape;282;p13"/>
          <p:cNvSpPr txBox="1"/>
          <p:nvPr/>
        </p:nvSpPr>
        <p:spPr>
          <a:xfrm>
            <a:off x="1535389" y="1649292"/>
            <a:ext cx="7361962" cy="7107601"/>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Sensor de Movimiento (PIR)</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Detecta la presencia de movimiento en su área de alcance.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Utiliza la detección infrarroja de calor para captar el movimiento de personas o animales.</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p:txBody>
      </p:sp>
      <p:sp>
        <p:nvSpPr>
          <p:cNvPr id="283" name="Google Shape;283;p13"/>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SENSORES MAS USADOS EN PROYECTOS DE ARDUINO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grpSp>
        <p:nvGrpSpPr>
          <p:cNvPr id="288" name="Google Shape;288;p14"/>
          <p:cNvGrpSpPr/>
          <p:nvPr/>
        </p:nvGrpSpPr>
        <p:grpSpPr>
          <a:xfrm>
            <a:off x="-2603406" y="2751568"/>
            <a:ext cx="4378481" cy="4378481"/>
            <a:chOff x="0" y="0"/>
            <a:chExt cx="812800" cy="812800"/>
          </a:xfrm>
        </p:grpSpPr>
        <p:sp>
          <p:nvSpPr>
            <p:cNvPr id="289" name="Google Shape;289;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1" name="Google Shape;291;p14"/>
          <p:cNvGrpSpPr/>
          <p:nvPr/>
        </p:nvGrpSpPr>
        <p:grpSpPr>
          <a:xfrm>
            <a:off x="2677127" y="8523739"/>
            <a:ext cx="971055" cy="1079531"/>
            <a:chOff x="0" y="-38100"/>
            <a:chExt cx="255751" cy="284321"/>
          </a:xfrm>
        </p:grpSpPr>
        <p:sp>
          <p:nvSpPr>
            <p:cNvPr id="292" name="Google Shape;292;p14"/>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4"/>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4" name="Google Shape;294;p14"/>
          <p:cNvSpPr/>
          <p:nvPr/>
        </p:nvSpPr>
        <p:spPr>
          <a:xfrm>
            <a:off x="11148588" y="2268196"/>
            <a:ext cx="5578090" cy="5750608"/>
          </a:xfrm>
          <a:custGeom>
            <a:rect b="b" l="l" r="r" t="t"/>
            <a:pathLst>
              <a:path extrusionOk="0" h="5750608" w="5578090">
                <a:moveTo>
                  <a:pt x="0" y="0"/>
                </a:moveTo>
                <a:lnTo>
                  <a:pt x="5578089" y="0"/>
                </a:lnTo>
                <a:lnTo>
                  <a:pt x="5578089" y="5750608"/>
                </a:lnTo>
                <a:lnTo>
                  <a:pt x="0" y="5750608"/>
                </a:lnTo>
                <a:lnTo>
                  <a:pt x="0" y="0"/>
                </a:lnTo>
                <a:close/>
              </a:path>
            </a:pathLst>
          </a:custGeom>
          <a:blipFill rotWithShape="1">
            <a:blip r:embed="rId3">
              <a:alphaModFix/>
            </a:blip>
            <a:stretch>
              <a:fillRect b="0" l="0" r="0" t="0"/>
            </a:stretch>
          </a:blipFill>
          <a:ln>
            <a:noFill/>
          </a:ln>
        </p:spPr>
      </p:sp>
      <p:sp>
        <p:nvSpPr>
          <p:cNvPr id="295" name="Google Shape;295;p14"/>
          <p:cNvSpPr txBox="1"/>
          <p:nvPr/>
        </p:nvSpPr>
        <p:spPr>
          <a:xfrm>
            <a:off x="1272964" y="1503026"/>
            <a:ext cx="9013824" cy="7755274"/>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Sensor de Ultrasonido (HC-SR04)</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Mide distancias usando ondas de ultrasonido.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El sensor emite un sonido de alta frecuencia y mide el tiempo que tarda en rebotar hacia el sensor.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Es muy preciso para aplicaciones de corta distancia.</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p:txBody>
      </p:sp>
      <p:sp>
        <p:nvSpPr>
          <p:cNvPr id="296" name="Google Shape;296;p14"/>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SENSORES MAS USADOS EN PROYECTOS DE ARDUINO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grpSp>
        <p:nvGrpSpPr>
          <p:cNvPr id="301" name="Google Shape;301;p15"/>
          <p:cNvGrpSpPr/>
          <p:nvPr/>
        </p:nvGrpSpPr>
        <p:grpSpPr>
          <a:xfrm>
            <a:off x="-2603406" y="2751568"/>
            <a:ext cx="4378481" cy="4378481"/>
            <a:chOff x="0" y="0"/>
            <a:chExt cx="812800" cy="812800"/>
          </a:xfrm>
        </p:grpSpPr>
        <p:sp>
          <p:nvSpPr>
            <p:cNvPr id="302" name="Google Shape;302;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4" name="Google Shape;304;p15"/>
          <p:cNvGrpSpPr/>
          <p:nvPr/>
        </p:nvGrpSpPr>
        <p:grpSpPr>
          <a:xfrm>
            <a:off x="2677127" y="8523739"/>
            <a:ext cx="971055" cy="1079531"/>
            <a:chOff x="0" y="-38100"/>
            <a:chExt cx="255751" cy="284321"/>
          </a:xfrm>
        </p:grpSpPr>
        <p:sp>
          <p:nvSpPr>
            <p:cNvPr id="305" name="Google Shape;305;p15"/>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5"/>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7" name="Google Shape;307;p15"/>
          <p:cNvSpPr/>
          <p:nvPr/>
        </p:nvSpPr>
        <p:spPr>
          <a:xfrm>
            <a:off x="9622173" y="2751568"/>
            <a:ext cx="8310204" cy="5584457"/>
          </a:xfrm>
          <a:custGeom>
            <a:rect b="b" l="l" r="r" t="t"/>
            <a:pathLst>
              <a:path extrusionOk="0" h="5584457" w="8310204">
                <a:moveTo>
                  <a:pt x="0" y="0"/>
                </a:moveTo>
                <a:lnTo>
                  <a:pt x="8310204" y="0"/>
                </a:lnTo>
                <a:lnTo>
                  <a:pt x="8310204" y="5584457"/>
                </a:lnTo>
                <a:lnTo>
                  <a:pt x="0" y="5584457"/>
                </a:lnTo>
                <a:lnTo>
                  <a:pt x="0" y="0"/>
                </a:lnTo>
                <a:close/>
              </a:path>
            </a:pathLst>
          </a:custGeom>
          <a:blipFill rotWithShape="1">
            <a:blip r:embed="rId3">
              <a:alphaModFix/>
            </a:blip>
            <a:stretch>
              <a:fillRect b="0" l="0" r="0" t="0"/>
            </a:stretch>
          </a:blipFill>
          <a:ln>
            <a:noFill/>
          </a:ln>
        </p:spPr>
      </p:sp>
      <p:sp>
        <p:nvSpPr>
          <p:cNvPr id="308" name="Google Shape;308;p15"/>
          <p:cNvSpPr txBox="1"/>
          <p:nvPr/>
        </p:nvSpPr>
        <p:spPr>
          <a:xfrm>
            <a:off x="1272964" y="1503026"/>
            <a:ext cx="8086588" cy="7755274"/>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Sensor de Gas (MQ-2, MQ-3)</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Detecta gases específicos como metano, humo, y monóxido de carbono.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Cada sensor MQ está calibrado para detectar un tipo de gas en particular, siendo útil en sistemas de seguridad y control de calidad del aire.</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p:txBody>
      </p:sp>
      <p:sp>
        <p:nvSpPr>
          <p:cNvPr id="309" name="Google Shape;309;p15"/>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SENSORES MAS USADOS EN PROYECTOS DE ARDUINO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grpSp>
        <p:nvGrpSpPr>
          <p:cNvPr id="314" name="Google Shape;314;p16"/>
          <p:cNvGrpSpPr/>
          <p:nvPr/>
        </p:nvGrpSpPr>
        <p:grpSpPr>
          <a:xfrm>
            <a:off x="-2603406" y="2751568"/>
            <a:ext cx="4378481" cy="4378481"/>
            <a:chOff x="0" y="0"/>
            <a:chExt cx="812800" cy="812800"/>
          </a:xfrm>
        </p:grpSpPr>
        <p:sp>
          <p:nvSpPr>
            <p:cNvPr id="315" name="Google Shape;315;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7" name="Google Shape;317;p16"/>
          <p:cNvGrpSpPr/>
          <p:nvPr/>
        </p:nvGrpSpPr>
        <p:grpSpPr>
          <a:xfrm>
            <a:off x="2677127" y="8523739"/>
            <a:ext cx="971055" cy="1079531"/>
            <a:chOff x="0" y="-38100"/>
            <a:chExt cx="255751" cy="284321"/>
          </a:xfrm>
        </p:grpSpPr>
        <p:sp>
          <p:nvSpPr>
            <p:cNvPr id="318" name="Google Shape;318;p16"/>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6"/>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0" name="Google Shape;320;p16"/>
          <p:cNvSpPr/>
          <p:nvPr/>
        </p:nvSpPr>
        <p:spPr>
          <a:xfrm>
            <a:off x="9849608" y="2268196"/>
            <a:ext cx="8050851" cy="5750608"/>
          </a:xfrm>
          <a:custGeom>
            <a:rect b="b" l="l" r="r" t="t"/>
            <a:pathLst>
              <a:path extrusionOk="0" h="5750608" w="8050851">
                <a:moveTo>
                  <a:pt x="0" y="0"/>
                </a:moveTo>
                <a:lnTo>
                  <a:pt x="8050851" y="0"/>
                </a:lnTo>
                <a:lnTo>
                  <a:pt x="8050851" y="5750608"/>
                </a:lnTo>
                <a:lnTo>
                  <a:pt x="0" y="5750608"/>
                </a:lnTo>
                <a:lnTo>
                  <a:pt x="0" y="0"/>
                </a:lnTo>
                <a:close/>
              </a:path>
            </a:pathLst>
          </a:custGeom>
          <a:blipFill rotWithShape="1">
            <a:blip r:embed="rId3">
              <a:alphaModFix/>
            </a:blip>
            <a:stretch>
              <a:fillRect b="0" l="0" r="0" t="0"/>
            </a:stretch>
          </a:blipFill>
          <a:ln>
            <a:noFill/>
          </a:ln>
        </p:spPr>
      </p:sp>
      <p:sp>
        <p:nvSpPr>
          <p:cNvPr id="321" name="Google Shape;321;p16"/>
          <p:cNvSpPr txBox="1"/>
          <p:nvPr/>
        </p:nvSpPr>
        <p:spPr>
          <a:xfrm>
            <a:off x="1535585" y="2206548"/>
            <a:ext cx="8314024" cy="5812255"/>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Sensor de Humedad y Suelo</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Mide la humedad en el suelo, útil para proyectos de jardinería automatizada.</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Permite monitorear la necesidad de riego en plantas y jardines.</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p:txBody>
      </p:sp>
      <p:sp>
        <p:nvSpPr>
          <p:cNvPr id="322" name="Google Shape;322;p16"/>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SENSORES MAS USADOS EN PROYECTOS DE ARDUINO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grpSp>
        <p:nvGrpSpPr>
          <p:cNvPr id="327" name="Google Shape;327;p17"/>
          <p:cNvGrpSpPr/>
          <p:nvPr/>
        </p:nvGrpSpPr>
        <p:grpSpPr>
          <a:xfrm>
            <a:off x="-2603406" y="2751568"/>
            <a:ext cx="4378481" cy="4378481"/>
            <a:chOff x="0" y="0"/>
            <a:chExt cx="812800" cy="812800"/>
          </a:xfrm>
        </p:grpSpPr>
        <p:sp>
          <p:nvSpPr>
            <p:cNvPr id="328" name="Google Shape;328;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0" name="Google Shape;330;p17"/>
          <p:cNvGrpSpPr/>
          <p:nvPr/>
        </p:nvGrpSpPr>
        <p:grpSpPr>
          <a:xfrm>
            <a:off x="2677127" y="8523739"/>
            <a:ext cx="971055" cy="1079531"/>
            <a:chOff x="0" y="-38100"/>
            <a:chExt cx="255751" cy="284321"/>
          </a:xfrm>
        </p:grpSpPr>
        <p:sp>
          <p:nvSpPr>
            <p:cNvPr id="331" name="Google Shape;331;p17"/>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7"/>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3" name="Google Shape;333;p17"/>
          <p:cNvSpPr/>
          <p:nvPr/>
        </p:nvSpPr>
        <p:spPr>
          <a:xfrm>
            <a:off x="10776649" y="2122476"/>
            <a:ext cx="6356958" cy="6356958"/>
          </a:xfrm>
          <a:custGeom>
            <a:rect b="b" l="l" r="r" t="t"/>
            <a:pathLst>
              <a:path extrusionOk="0" h="6356958" w="6356958">
                <a:moveTo>
                  <a:pt x="0" y="0"/>
                </a:moveTo>
                <a:lnTo>
                  <a:pt x="6356958" y="0"/>
                </a:lnTo>
                <a:lnTo>
                  <a:pt x="6356958" y="6356958"/>
                </a:lnTo>
                <a:lnTo>
                  <a:pt x="0" y="6356958"/>
                </a:lnTo>
                <a:lnTo>
                  <a:pt x="0" y="0"/>
                </a:lnTo>
                <a:close/>
              </a:path>
            </a:pathLst>
          </a:custGeom>
          <a:blipFill rotWithShape="1">
            <a:blip r:embed="rId3">
              <a:alphaModFix/>
            </a:blip>
            <a:stretch>
              <a:fillRect b="0" l="0" r="0" t="0"/>
            </a:stretch>
          </a:blipFill>
          <a:ln>
            <a:noFill/>
          </a:ln>
        </p:spPr>
      </p:sp>
      <p:sp>
        <p:nvSpPr>
          <p:cNvPr id="334" name="Google Shape;334;p17"/>
          <p:cNvSpPr txBox="1"/>
          <p:nvPr/>
        </p:nvSpPr>
        <p:spPr>
          <a:xfrm>
            <a:off x="1535585" y="2206548"/>
            <a:ext cx="8314024" cy="6459928"/>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Sensor de Nivel de Agua</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Mide el nivel de agua en un depósito o tanque.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Detecta la presencia de agua en niveles específicos, útil para evitar derrames o controlar el llenado.</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p:txBody>
      </p:sp>
      <p:sp>
        <p:nvSpPr>
          <p:cNvPr id="335" name="Google Shape;335;p17"/>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SENSORES MAS USADOS EN PROYECTOS DE ARDUINO</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grpSp>
        <p:nvGrpSpPr>
          <p:cNvPr id="340" name="Google Shape;340;p18"/>
          <p:cNvGrpSpPr/>
          <p:nvPr/>
        </p:nvGrpSpPr>
        <p:grpSpPr>
          <a:xfrm>
            <a:off x="-2603406" y="2751568"/>
            <a:ext cx="4378481" cy="4378481"/>
            <a:chOff x="0" y="0"/>
            <a:chExt cx="812800" cy="812800"/>
          </a:xfrm>
        </p:grpSpPr>
        <p:sp>
          <p:nvSpPr>
            <p:cNvPr id="341" name="Google Shape;341;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3" name="Google Shape;343;p18"/>
          <p:cNvGrpSpPr/>
          <p:nvPr/>
        </p:nvGrpSpPr>
        <p:grpSpPr>
          <a:xfrm>
            <a:off x="2677127" y="8523739"/>
            <a:ext cx="971055" cy="1079531"/>
            <a:chOff x="0" y="-38100"/>
            <a:chExt cx="255751" cy="284321"/>
          </a:xfrm>
        </p:grpSpPr>
        <p:sp>
          <p:nvSpPr>
            <p:cNvPr id="344" name="Google Shape;344;p18"/>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8"/>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6" name="Google Shape;346;p18"/>
          <p:cNvSpPr/>
          <p:nvPr/>
        </p:nvSpPr>
        <p:spPr>
          <a:xfrm>
            <a:off x="11749509" y="2728644"/>
            <a:ext cx="5509791" cy="5509791"/>
          </a:xfrm>
          <a:custGeom>
            <a:rect b="b" l="l" r="r" t="t"/>
            <a:pathLst>
              <a:path extrusionOk="0" h="5509791" w="5509791">
                <a:moveTo>
                  <a:pt x="0" y="0"/>
                </a:moveTo>
                <a:lnTo>
                  <a:pt x="5509791" y="0"/>
                </a:lnTo>
                <a:lnTo>
                  <a:pt x="5509791" y="5509790"/>
                </a:lnTo>
                <a:lnTo>
                  <a:pt x="0" y="5509790"/>
                </a:lnTo>
                <a:lnTo>
                  <a:pt x="0" y="0"/>
                </a:lnTo>
                <a:close/>
              </a:path>
            </a:pathLst>
          </a:custGeom>
          <a:blipFill rotWithShape="1">
            <a:blip r:embed="rId3">
              <a:alphaModFix/>
            </a:blip>
            <a:stretch>
              <a:fillRect b="0" l="0" r="0" t="0"/>
            </a:stretch>
          </a:blipFill>
          <a:ln>
            <a:noFill/>
          </a:ln>
        </p:spPr>
      </p:sp>
      <p:sp>
        <p:nvSpPr>
          <p:cNvPr id="347" name="Google Shape;347;p18"/>
          <p:cNvSpPr txBox="1"/>
          <p:nvPr/>
        </p:nvSpPr>
        <p:spPr>
          <a:xfrm>
            <a:off x="1448110" y="1891638"/>
            <a:ext cx="9241064" cy="7107601"/>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Sensor de Dióxido de Carbono (CO₂)</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Mide la concentración de dióxido de carbono en el ambiente, lo que permite evaluar la calidad del aire en interiores y exteriores.</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Se usa comunmente en sistemas de monitoreo de calidad del aire, ventilación en espacios cerrados.</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p:txBody>
      </p:sp>
      <p:sp>
        <p:nvSpPr>
          <p:cNvPr id="348" name="Google Shape;348;p18"/>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SENSORES MAS USADOS EN PROYECTOS DE ARDUINO</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19"/>
          <p:cNvSpPr txBox="1"/>
          <p:nvPr/>
        </p:nvSpPr>
        <p:spPr>
          <a:xfrm>
            <a:off x="1711560" y="3447018"/>
            <a:ext cx="13905095" cy="6459928"/>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Las librerías en Arduino son colecciones de código preescrito que facilitan la interacción con componentes y módulos específicos sin necesidad de programar cada detalle desde cero.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Estas librerías contienen funciones y procedimientos para realizar tareas específicas, permitiendo que los desarrolladores se enfoquen en la lógica principal del proyecto en lugar de lidiar con detalles técnicos de bajo nivel.</a:t>
            </a:r>
            <a:endParaRPr/>
          </a:p>
        </p:txBody>
      </p:sp>
      <p:sp>
        <p:nvSpPr>
          <p:cNvPr id="354" name="Google Shape;354;p19"/>
          <p:cNvSpPr txBox="1"/>
          <p:nvPr/>
        </p:nvSpPr>
        <p:spPr>
          <a:xfrm>
            <a:off x="1028700" y="678215"/>
            <a:ext cx="13902600" cy="2718900"/>
          </a:xfrm>
          <a:prstGeom prst="rect">
            <a:avLst/>
          </a:prstGeom>
          <a:noFill/>
          <a:ln>
            <a:noFill/>
          </a:ln>
        </p:spPr>
        <p:txBody>
          <a:bodyPr anchorCtr="0" anchor="t" bIns="0" lIns="0" spcFirstLastPara="1" rIns="0" wrap="square" tIns="0">
            <a:spAutoFit/>
          </a:bodyPr>
          <a:lstStyle/>
          <a:p>
            <a:pPr indent="0" lvl="0" marL="0" marR="0" rtl="0" algn="ctr">
              <a:lnSpc>
                <a:spcPct val="91996"/>
              </a:lnSpc>
              <a:spcBef>
                <a:spcPts val="0"/>
              </a:spcBef>
              <a:spcAft>
                <a:spcPts val="0"/>
              </a:spcAft>
              <a:buNone/>
            </a:pPr>
            <a:r>
              <a:rPr b="0" i="0" lang="en-US" sz="9600" u="none" cap="none" strike="noStrike">
                <a:solidFill>
                  <a:srgbClr val="022033"/>
                </a:solidFill>
                <a:latin typeface="Arial"/>
                <a:ea typeface="Arial"/>
                <a:cs typeface="Arial"/>
                <a:sym typeface="Arial"/>
              </a:rPr>
              <a:t>LIBRERIAS  EN ARDUINO</a:t>
            </a:r>
            <a:endParaRPr sz="9600"/>
          </a:p>
        </p:txBody>
      </p:sp>
      <p:grpSp>
        <p:nvGrpSpPr>
          <p:cNvPr id="355" name="Google Shape;355;p19"/>
          <p:cNvGrpSpPr/>
          <p:nvPr/>
        </p:nvGrpSpPr>
        <p:grpSpPr>
          <a:xfrm>
            <a:off x="16098759" y="604794"/>
            <a:ext cx="4378481" cy="4378481"/>
            <a:chOff x="0" y="0"/>
            <a:chExt cx="812800" cy="812800"/>
          </a:xfrm>
        </p:grpSpPr>
        <p:sp>
          <p:nvSpPr>
            <p:cNvPr id="356" name="Google Shape;356;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8" name="Google Shape;358;p19"/>
          <p:cNvGrpSpPr/>
          <p:nvPr/>
        </p:nvGrpSpPr>
        <p:grpSpPr>
          <a:xfrm>
            <a:off x="16288245" y="5635551"/>
            <a:ext cx="971055" cy="1079531"/>
            <a:chOff x="0" y="-38100"/>
            <a:chExt cx="255751" cy="284321"/>
          </a:xfrm>
        </p:grpSpPr>
        <p:sp>
          <p:nvSpPr>
            <p:cNvPr id="359" name="Google Shape;359;p19"/>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9"/>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grpSp>
        <p:nvGrpSpPr>
          <p:cNvPr id="365" name="Google Shape;365;p20"/>
          <p:cNvGrpSpPr/>
          <p:nvPr/>
        </p:nvGrpSpPr>
        <p:grpSpPr>
          <a:xfrm>
            <a:off x="-2393466" y="114934"/>
            <a:ext cx="4378481" cy="4378481"/>
            <a:chOff x="0" y="0"/>
            <a:chExt cx="812800" cy="812800"/>
          </a:xfrm>
        </p:grpSpPr>
        <p:sp>
          <p:nvSpPr>
            <p:cNvPr id="366" name="Google Shape;366;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8" name="Google Shape;368;p20"/>
          <p:cNvGrpSpPr/>
          <p:nvPr/>
        </p:nvGrpSpPr>
        <p:grpSpPr>
          <a:xfrm>
            <a:off x="2257247" y="8303500"/>
            <a:ext cx="971055" cy="1079531"/>
            <a:chOff x="0" y="-38100"/>
            <a:chExt cx="255751" cy="284321"/>
          </a:xfrm>
        </p:grpSpPr>
        <p:sp>
          <p:nvSpPr>
            <p:cNvPr id="369" name="Google Shape;369;p20"/>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0"/>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1" name="Google Shape;371;p20"/>
          <p:cNvSpPr/>
          <p:nvPr/>
        </p:nvSpPr>
        <p:spPr>
          <a:xfrm>
            <a:off x="11546484" y="769087"/>
            <a:ext cx="6499174" cy="7773969"/>
          </a:xfrm>
          <a:custGeom>
            <a:rect b="b" l="l" r="r" t="t"/>
            <a:pathLst>
              <a:path extrusionOk="0" h="7773969" w="6499174">
                <a:moveTo>
                  <a:pt x="0" y="0"/>
                </a:moveTo>
                <a:lnTo>
                  <a:pt x="6499175" y="0"/>
                </a:lnTo>
                <a:lnTo>
                  <a:pt x="6499175" y="7773968"/>
                </a:lnTo>
                <a:lnTo>
                  <a:pt x="0" y="7773968"/>
                </a:lnTo>
                <a:lnTo>
                  <a:pt x="0" y="0"/>
                </a:lnTo>
                <a:close/>
              </a:path>
            </a:pathLst>
          </a:custGeom>
          <a:blipFill rotWithShape="1">
            <a:blip r:embed="rId3">
              <a:alphaModFix/>
            </a:blip>
            <a:stretch>
              <a:fillRect b="0" l="0" r="0" t="0"/>
            </a:stretch>
          </a:blipFill>
          <a:ln>
            <a:noFill/>
          </a:ln>
        </p:spPr>
      </p:sp>
      <p:sp>
        <p:nvSpPr>
          <p:cNvPr id="372" name="Google Shape;372;p20"/>
          <p:cNvSpPr txBox="1"/>
          <p:nvPr/>
        </p:nvSpPr>
        <p:spPr>
          <a:xfrm>
            <a:off x="888740" y="692887"/>
            <a:ext cx="10196153" cy="7755274"/>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Por ejemplo, en lugar de escribir líneas complejas de código para controlar un motor paso a paso, una librería adecuada permite invocar solo unas pocas funciones para realizar la misma tarea.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Este enfoque tiene varias ventajas:</a:t>
            </a:r>
            <a:endParaRPr/>
          </a:p>
          <a:p>
            <a:pPr indent="-395254" lvl="1" marL="790508" marR="0" rtl="0" algn="just">
              <a:lnSpc>
                <a:spcPct val="140016"/>
              </a:lnSpc>
              <a:spcBef>
                <a:spcPts val="0"/>
              </a:spcBef>
              <a:spcAft>
                <a:spcPts val="0"/>
              </a:spcAft>
              <a:buClr>
                <a:srgbClr val="022033"/>
              </a:buClr>
              <a:buSzPts val="3661"/>
              <a:buFont typeface="Arial"/>
              <a:buChar char="•"/>
            </a:pPr>
            <a:r>
              <a:rPr b="0" i="0" lang="en-US" sz="3661" u="none" cap="none" strike="noStrike">
                <a:solidFill>
                  <a:srgbClr val="022033"/>
                </a:solidFill>
                <a:latin typeface="Tenor Sans"/>
                <a:ea typeface="Tenor Sans"/>
                <a:cs typeface="Tenor Sans"/>
                <a:sym typeface="Tenor Sans"/>
              </a:rPr>
              <a:t>Reducción de Tiempo</a:t>
            </a:r>
            <a:endParaRPr/>
          </a:p>
          <a:p>
            <a:pPr indent="-395254" lvl="1" marL="790508" marR="0" rtl="0" algn="just">
              <a:lnSpc>
                <a:spcPct val="140016"/>
              </a:lnSpc>
              <a:spcBef>
                <a:spcPts val="0"/>
              </a:spcBef>
              <a:spcAft>
                <a:spcPts val="0"/>
              </a:spcAft>
              <a:buClr>
                <a:srgbClr val="022033"/>
              </a:buClr>
              <a:buSzPts val="3661"/>
              <a:buFont typeface="Arial"/>
              <a:buChar char="•"/>
            </a:pPr>
            <a:r>
              <a:rPr b="0" i="0" lang="en-US" sz="3661" u="none" cap="none" strike="noStrike">
                <a:solidFill>
                  <a:srgbClr val="022033"/>
                </a:solidFill>
                <a:latin typeface="Tenor Sans"/>
                <a:ea typeface="Tenor Sans"/>
                <a:cs typeface="Tenor Sans"/>
                <a:sym typeface="Tenor Sans"/>
              </a:rPr>
              <a:t>Optimización de Código</a:t>
            </a:r>
            <a:endParaRPr/>
          </a:p>
          <a:p>
            <a:pPr indent="-395254" lvl="1" marL="790508" marR="0" rtl="0" algn="just">
              <a:lnSpc>
                <a:spcPct val="140016"/>
              </a:lnSpc>
              <a:spcBef>
                <a:spcPts val="0"/>
              </a:spcBef>
              <a:spcAft>
                <a:spcPts val="0"/>
              </a:spcAft>
              <a:buClr>
                <a:srgbClr val="022033"/>
              </a:buClr>
              <a:buSzPts val="3661"/>
              <a:buFont typeface="Arial"/>
              <a:buChar char="•"/>
            </a:pPr>
            <a:r>
              <a:rPr b="0" i="0" lang="en-US" sz="3661" u="none" cap="none" strike="noStrike">
                <a:solidFill>
                  <a:srgbClr val="022033"/>
                </a:solidFill>
                <a:latin typeface="Tenor Sans"/>
                <a:ea typeface="Tenor Sans"/>
                <a:cs typeface="Tenor Sans"/>
                <a:sym typeface="Tenor Sans"/>
              </a:rPr>
              <a:t>Facilidad de Mantenimiento</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