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Lato"/>
      <p:regular r:id="rId24"/>
      <p:bold r:id="rId25"/>
      <p:italic r:id="rId26"/>
      <p:boldItalic r:id="rId27"/>
    </p:embeddedFon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Z/4cPBkfuHdlI5MSQ5QYrGeH/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La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CenturyGothic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CenturyGothic-boldItalic.fntdata"/><Relationship Id="rId30" Type="http://schemas.openxmlformats.org/officeDocument/2006/relationships/font" Target="fonts/CenturyGothic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2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30" name="Google Shape;30;p4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8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2" name="Google Shape;42;p49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43" name="Google Shape;43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0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49" name="Google Shape;49;p50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0" name="Google Shape;50;p50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51" name="Google Shape;51;p50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52" name="Google Shape;52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3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3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67" name="Google Shape;67;p53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68" name="Google Shape;68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4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4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4" name="Google Shape;74;p54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75" name="Google Shape;75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5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5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81" name="Google Shape;81;p55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2" name="Google Shape;82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6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56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88" name="Google Shape;88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7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4" name="Google Shape;94;p57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95" name="Google Shape;95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57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99" name="Google Shape;99;p57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0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8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8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5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9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9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9" name="Google Shape;109;p59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0" name="Google Shape;110;p59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1" name="Google Shape;111;p59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2" name="Google Shape;112;p59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13" name="Google Shape;113;p59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14" name="Google Shape;114;p59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59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5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0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2" name="Google Shape;122;p60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3" name="Google Shape;123;p60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4" name="Google Shape;124;p60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5" name="Google Shape;125;p60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6" name="Google Shape;126;p60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7" name="Google Shape;127;p60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28" name="Google Shape;128;p60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9" name="Google Shape;129;p60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30" name="Google Shape;130;p60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60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6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1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8" name="Google Shape;138;p6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2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2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44" name="Google Shape;144;p6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6"/>
          <p:cNvSpPr txBox="1"/>
          <p:nvPr>
            <p:ph type="title"/>
          </p:nvPr>
        </p:nvSpPr>
        <p:spPr>
          <a:xfrm>
            <a:off x="354000" y="1612100"/>
            <a:ext cx="5393600" cy="20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Twentieth Century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800"/>
              <a:buNone/>
              <a:defRPr sz="5067"/>
            </a:lvl9pPr>
          </a:lstStyle>
          <a:p/>
        </p:txBody>
      </p:sp>
      <p:sp>
        <p:nvSpPr>
          <p:cNvPr id="149" name="Google Shape;149;p46"/>
          <p:cNvSpPr txBox="1"/>
          <p:nvPr>
            <p:ph idx="1" type="subTitle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50" name="Google Shape;150;p46"/>
          <p:cNvSpPr txBox="1"/>
          <p:nvPr>
            <p:ph idx="2" type="body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51" name="Google Shape;151;p4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45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67" name="Google Shape;167;p4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4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4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7"/>
          <p:cNvSpPr txBox="1"/>
          <p:nvPr>
            <p:ph type="title"/>
          </p:nvPr>
        </p:nvSpPr>
        <p:spPr>
          <a:xfrm>
            <a:off x="354000" y="1612100"/>
            <a:ext cx="5393600" cy="20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Twentieth Century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None/>
              <a:defRPr sz="5067"/>
            </a:lvl9pPr>
          </a:lstStyle>
          <a:p/>
        </p:txBody>
      </p:sp>
      <p:sp>
        <p:nvSpPr>
          <p:cNvPr id="172" name="Google Shape;172;p47"/>
          <p:cNvSpPr txBox="1"/>
          <p:nvPr>
            <p:ph idx="1" type="subTitle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8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3" name="Google Shape;173;p47"/>
          <p:cNvSpPr txBox="1"/>
          <p:nvPr>
            <p:ph idx="2" type="body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20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20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74" name="Google Shape;174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Twentieth Century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6.xml"/><Relationship Id="rId22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5.xml"/><Relationship Id="rId21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8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7.xml"/><Relationship Id="rId23" Type="http://schemas.openxmlformats.org/officeDocument/2006/relationships/slideLayout" Target="../slideLayouts/slideLayout18.xml"/><Relationship Id="rId1" Type="http://schemas.openxmlformats.org/officeDocument/2006/relationships/image" Target="../media/image5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slideLayout" Target="../slideLayouts/slideLayout4.xml"/><Relationship Id="rId15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19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.xml"/><Relationship Id="rId1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1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41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41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666"/>
                </a:srgbClr>
              </a:gs>
              <a:gs pos="36000">
                <a:srgbClr val="4CB9C3">
                  <a:alpha val="5882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41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1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41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41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4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4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  <p:sldLayoutId id="2147483666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4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4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44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44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44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4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0" name="Google Shape;160;p44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1" name="Google Shape;161;p4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2" name="Google Shape;162;p4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3" name="Google Shape;163;p4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6"/>
    <p:sldLayoutId id="2147483669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0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"/>
          <p:cNvSpPr/>
          <p:nvPr/>
        </p:nvSpPr>
        <p:spPr>
          <a:xfrm>
            <a:off x="0" y="-5"/>
            <a:ext cx="12191695" cy="473074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1" name="Google Shape;181;p1"/>
          <p:cNvSpPr/>
          <p:nvPr/>
        </p:nvSpPr>
        <p:spPr>
          <a:xfrm>
            <a:off x="8719939" y="3753695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0" y="4055533"/>
            <a:ext cx="12192000" cy="2802467"/>
          </a:xfrm>
          <a:custGeom>
            <a:rect b="b" l="l" r="r" t="t"/>
            <a:pathLst>
              <a:path extrusionOk="0" h="2802467" w="12192000">
                <a:moveTo>
                  <a:pt x="1" y="0"/>
                </a:moveTo>
                <a:lnTo>
                  <a:pt x="71932" y="12261"/>
                </a:lnTo>
                <a:lnTo>
                  <a:pt x="282848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7"/>
                </a:lnTo>
                <a:lnTo>
                  <a:pt x="3464881" y="414415"/>
                </a:lnTo>
                <a:lnTo>
                  <a:pt x="3889152" y="443840"/>
                </a:lnTo>
                <a:lnTo>
                  <a:pt x="4331710" y="471515"/>
                </a:lnTo>
                <a:lnTo>
                  <a:pt x="4558476" y="481323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3"/>
                </a:lnTo>
                <a:lnTo>
                  <a:pt x="8881651" y="442089"/>
                </a:lnTo>
                <a:lnTo>
                  <a:pt x="9153526" y="421070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0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236410"/>
                </a:lnTo>
                <a:lnTo>
                  <a:pt x="12192000" y="2236410"/>
                </a:lnTo>
                <a:lnTo>
                  <a:pt x="12192000" y="2802467"/>
                </a:lnTo>
                <a:lnTo>
                  <a:pt x="12191696" y="2802467"/>
                </a:lnTo>
                <a:lnTo>
                  <a:pt x="0" y="2802467"/>
                </a:lnTo>
                <a:lnTo>
                  <a:pt x="0" y="2236410"/>
                </a:lnTo>
                <a:lnTo>
                  <a:pt x="1" y="223641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3" name="Google Shape;183;p1"/>
          <p:cNvSpPr txBox="1"/>
          <p:nvPr>
            <p:ph type="ctrTitle"/>
          </p:nvPr>
        </p:nvSpPr>
        <p:spPr>
          <a:xfrm>
            <a:off x="965505" y="623571"/>
            <a:ext cx="10260990" cy="35238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 sz="8000"/>
              <a:t>Semana 4</a:t>
            </a:r>
            <a:endParaRPr/>
          </a:p>
        </p:txBody>
      </p:sp>
      <p:sp>
        <p:nvSpPr>
          <p:cNvPr id="184" name="Google Shape;1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"/>
          <p:cNvSpPr txBox="1"/>
          <p:nvPr>
            <p:ph type="title"/>
          </p:nvPr>
        </p:nvSpPr>
        <p:spPr>
          <a:xfrm>
            <a:off x="4072615" y="1161942"/>
            <a:ext cx="3743385" cy="10476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CONTENIDO</a:t>
            </a:r>
            <a:endParaRPr/>
          </a:p>
        </p:txBody>
      </p:sp>
      <p:grpSp>
        <p:nvGrpSpPr>
          <p:cNvPr id="191" name="Google Shape;191;p2"/>
          <p:cNvGrpSpPr/>
          <p:nvPr/>
        </p:nvGrpSpPr>
        <p:grpSpPr>
          <a:xfrm>
            <a:off x="2025421" y="2992249"/>
            <a:ext cx="7951054" cy="1047668"/>
            <a:chOff x="305083" y="715240"/>
            <a:chExt cx="7951054" cy="1047668"/>
          </a:xfrm>
        </p:grpSpPr>
        <p:sp>
          <p:nvSpPr>
            <p:cNvPr id="192" name="Google Shape;192;p2"/>
            <p:cNvSpPr/>
            <p:nvPr/>
          </p:nvSpPr>
          <p:spPr>
            <a:xfrm>
              <a:off x="305083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3" name="Google Shape;193;p2"/>
            <p:cNvSpPr txBox="1"/>
            <p:nvPr/>
          </p:nvSpPr>
          <p:spPr>
            <a:xfrm>
              <a:off x="335768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Comparadores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2321592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5" name="Google Shape;195;p2"/>
            <p:cNvSpPr txBox="1"/>
            <p:nvPr/>
          </p:nvSpPr>
          <p:spPr>
            <a:xfrm>
              <a:off x="2352277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Multiplexador</a:t>
              </a:r>
              <a:endParaRPr b="0" i="0" sz="17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4338101" y="715240"/>
              <a:ext cx="1649871" cy="1047668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7" name="Google Shape;197;p2"/>
            <p:cNvSpPr txBox="1"/>
            <p:nvPr/>
          </p:nvSpPr>
          <p:spPr>
            <a:xfrm>
              <a:off x="4368786" y="745925"/>
              <a:ext cx="1588501" cy="986298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Twentieth Century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Demultiplexador</a:t>
              </a:r>
              <a:endPara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6606127" y="715265"/>
              <a:ext cx="1650000" cy="1047600"/>
            </a:xfrm>
            <a:prstGeom prst="roundRect">
              <a:avLst>
                <a:gd fmla="val 10000" name="adj"/>
              </a:avLst>
            </a:prstGeom>
            <a:solidFill>
              <a:srgbClr val="4CB9C3"/>
            </a:solidFill>
            <a:ln cap="flat" cmpd="sng" w="15875">
              <a:solidFill>
                <a:srgbClr val="4ECE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entury Gothic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9" name="Google Shape;199;p2"/>
            <p:cNvSpPr txBox="1"/>
            <p:nvPr/>
          </p:nvSpPr>
          <p:spPr>
            <a:xfrm>
              <a:off x="6667637" y="745925"/>
              <a:ext cx="1588500" cy="986400"/>
            </a:xfrm>
            <a:prstGeom prst="rect">
              <a:avLst/>
            </a:prstGeom>
            <a:solidFill>
              <a:srgbClr val="4CB9C3"/>
            </a:solidFill>
            <a:ln>
              <a:noFill/>
            </a:ln>
          </p:spPr>
          <p:txBody>
            <a:bodyPr anchorCtr="0" anchor="ctr" bIns="64750" lIns="64750" spcFirstLastPara="1" rIns="64750" wrap="square" tIns="647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Twentieth Century"/>
                <a:buNone/>
              </a:pPr>
              <a:r>
                <a:rPr b="0" i="0" lang="en-US" sz="17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Binario a BCD</a:t>
              </a:r>
              <a:endPara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5" name="Google Shape;205;p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8719939" y="1460230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7" name="Google Shape;207;p3"/>
          <p:cNvSpPr txBox="1"/>
          <p:nvPr>
            <p:ph type="title"/>
          </p:nvPr>
        </p:nvSpPr>
        <p:spPr>
          <a:xfrm>
            <a:off x="648930" y="629267"/>
            <a:ext cx="9252154" cy="1016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b="0" i="0" lang="en-US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COMPARADORES</a:t>
            </a:r>
            <a:endParaRPr/>
          </a:p>
        </p:txBody>
      </p:sp>
      <p:sp>
        <p:nvSpPr>
          <p:cNvPr id="208" name="Google Shape;208;p3"/>
          <p:cNvSpPr/>
          <p:nvPr/>
        </p:nvSpPr>
        <p:spPr>
          <a:xfrm>
            <a:off x="1" y="1762067"/>
            <a:ext cx="12192417" cy="5095933"/>
          </a:xfrm>
          <a:custGeom>
            <a:rect b="b" l="l" r="r" t="t"/>
            <a:pathLst>
              <a:path extrusionOk="0" h="5095933" w="12192417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5.5.- Comparadores. | ELEC02.- Circuitos combinacionales MSI." id="209" name="Google Shape;2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84" y="2846020"/>
            <a:ext cx="5451627" cy="306653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"/>
          <p:cNvSpPr txBox="1"/>
          <p:nvPr/>
        </p:nvSpPr>
        <p:spPr>
          <a:xfrm>
            <a:off x="6421089" y="2548281"/>
            <a:ext cx="5122606" cy="3658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Font typeface="Noto Sans Symbols"/>
              <a:buChar char="►"/>
            </a:pPr>
            <a:r>
              <a:rPr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 comparador de magnitudes es un	circuito  combinacional que compara dos números, A y  B, y determina sus magnitudes relativas. El  resultado de la comparación se especifica con  tres variables binarias que indican si A&gt;B,  A=B o A &lt; B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8719939" y="1460230"/>
            <a:ext cx="3472060" cy="825932"/>
          </a:xfrm>
          <a:custGeom>
            <a:rect b="b" l="l" r="r" t="t"/>
            <a:pathLst>
              <a:path extrusionOk="0" h="825932" w="3472060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p4"/>
          <p:cNvSpPr txBox="1"/>
          <p:nvPr>
            <p:ph type="title"/>
          </p:nvPr>
        </p:nvSpPr>
        <p:spPr>
          <a:xfrm>
            <a:off x="648930" y="629267"/>
            <a:ext cx="9252154" cy="1016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>
                <a:solidFill>
                  <a:srgbClr val="EBEBEB"/>
                </a:solidFill>
              </a:rPr>
              <a:t>COMPARADORES</a:t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1" y="1762067"/>
            <a:ext cx="12192417" cy="5095933"/>
          </a:xfrm>
          <a:custGeom>
            <a:rect b="b" l="l" r="r" t="t"/>
            <a:pathLst>
              <a:path extrusionOk="0" h="5095933" w="12192417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0" name="Google Shape;2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484" y="3622876"/>
            <a:ext cx="5451627" cy="151282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4"/>
          <p:cNvSpPr txBox="1"/>
          <p:nvPr>
            <p:ph idx="1" type="body"/>
          </p:nvPr>
        </p:nvSpPr>
        <p:spPr>
          <a:xfrm>
            <a:off x="6421089" y="2548281"/>
            <a:ext cx="5122606" cy="36586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/>
              <a:t>Funcionamiento del comparador.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b="1" lang="en-US"/>
              <a:t>Comparador de 1 bit: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7" name="Google Shape;227;p6"/>
          <p:cNvSpPr txBox="1"/>
          <p:nvPr>
            <p:ph type="title"/>
          </p:nvPr>
        </p:nvSpPr>
        <p:spPr>
          <a:xfrm>
            <a:off x="5411931" y="452718"/>
            <a:ext cx="463890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sz="3900"/>
              <a:t>COMPARADORES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 flipH="1">
            <a:off x="4628375" y="-1573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iezas metálicas de tres en raya" id="229" name="Google Shape;229;p6"/>
          <p:cNvPicPr preferRelativeResize="0"/>
          <p:nvPr/>
        </p:nvPicPr>
        <p:blipFill rotWithShape="1">
          <a:blip r:embed="rId4">
            <a:alphaModFix/>
          </a:blip>
          <a:srcRect b="0" l="16039" r="29575" t="0"/>
          <a:stretch/>
        </p:blipFill>
        <p:spPr>
          <a:xfrm>
            <a:off x="3" y="10"/>
            <a:ext cx="4973099" cy="6857991"/>
          </a:xfrm>
          <a:custGeom>
            <a:rect b="b" l="l" r="r" t="t"/>
            <a:pathLst>
              <a:path extrusionOk="0" h="6858001" w="4973099">
                <a:moveTo>
                  <a:pt x="3628384" y="0"/>
                </a:moveTo>
                <a:lnTo>
                  <a:pt x="4971922" y="0"/>
                </a:lnTo>
                <a:lnTo>
                  <a:pt x="4946877" y="155677"/>
                </a:lnTo>
                <a:lnTo>
                  <a:pt x="4923008" y="310668"/>
                </a:lnTo>
                <a:lnTo>
                  <a:pt x="4899644" y="466344"/>
                </a:lnTo>
                <a:lnTo>
                  <a:pt x="4879641" y="622707"/>
                </a:lnTo>
                <a:lnTo>
                  <a:pt x="4859470" y="778383"/>
                </a:lnTo>
                <a:lnTo>
                  <a:pt x="4840644" y="934746"/>
                </a:lnTo>
                <a:lnTo>
                  <a:pt x="4824508" y="1089051"/>
                </a:lnTo>
                <a:lnTo>
                  <a:pt x="4809212" y="1245413"/>
                </a:lnTo>
                <a:lnTo>
                  <a:pt x="4795260" y="1401090"/>
                </a:lnTo>
                <a:lnTo>
                  <a:pt x="4783158" y="1554023"/>
                </a:lnTo>
                <a:lnTo>
                  <a:pt x="4771055" y="1709014"/>
                </a:lnTo>
                <a:lnTo>
                  <a:pt x="4760970" y="1861947"/>
                </a:lnTo>
                <a:lnTo>
                  <a:pt x="4753070" y="2014881"/>
                </a:lnTo>
                <a:lnTo>
                  <a:pt x="4744833" y="2167128"/>
                </a:lnTo>
                <a:lnTo>
                  <a:pt x="4737942" y="2318004"/>
                </a:lnTo>
                <a:lnTo>
                  <a:pt x="4733067" y="2467509"/>
                </a:lnTo>
                <a:lnTo>
                  <a:pt x="4728865" y="2617013"/>
                </a:lnTo>
                <a:lnTo>
                  <a:pt x="4724831" y="2765146"/>
                </a:lnTo>
                <a:lnTo>
                  <a:pt x="4722982" y="2911221"/>
                </a:lnTo>
                <a:lnTo>
                  <a:pt x="4720965" y="3057297"/>
                </a:lnTo>
                <a:lnTo>
                  <a:pt x="4719956" y="3201315"/>
                </a:lnTo>
                <a:lnTo>
                  <a:pt x="4720965" y="3343961"/>
                </a:lnTo>
                <a:lnTo>
                  <a:pt x="4720965" y="3485236"/>
                </a:lnTo>
                <a:lnTo>
                  <a:pt x="4722982" y="3625139"/>
                </a:lnTo>
                <a:lnTo>
                  <a:pt x="4726007" y="3762299"/>
                </a:lnTo>
                <a:lnTo>
                  <a:pt x="4728865" y="3898087"/>
                </a:lnTo>
                <a:lnTo>
                  <a:pt x="4732059" y="4031133"/>
                </a:lnTo>
                <a:lnTo>
                  <a:pt x="4736933" y="4163492"/>
                </a:lnTo>
                <a:lnTo>
                  <a:pt x="4742144" y="4293793"/>
                </a:lnTo>
                <a:lnTo>
                  <a:pt x="4746850" y="4421352"/>
                </a:lnTo>
                <a:lnTo>
                  <a:pt x="4760130" y="4670298"/>
                </a:lnTo>
                <a:lnTo>
                  <a:pt x="4774249" y="4908956"/>
                </a:lnTo>
                <a:lnTo>
                  <a:pt x="4789041" y="5138013"/>
                </a:lnTo>
                <a:lnTo>
                  <a:pt x="4805346" y="5354726"/>
                </a:lnTo>
                <a:lnTo>
                  <a:pt x="4822323" y="5561838"/>
                </a:lnTo>
                <a:lnTo>
                  <a:pt x="4840644" y="5753862"/>
                </a:lnTo>
                <a:lnTo>
                  <a:pt x="4858630" y="5934227"/>
                </a:lnTo>
                <a:lnTo>
                  <a:pt x="4876615" y="6100191"/>
                </a:lnTo>
                <a:lnTo>
                  <a:pt x="4893592" y="6252438"/>
                </a:lnTo>
                <a:lnTo>
                  <a:pt x="4909729" y="6387541"/>
                </a:lnTo>
                <a:lnTo>
                  <a:pt x="4925025" y="6509613"/>
                </a:lnTo>
                <a:lnTo>
                  <a:pt x="4937800" y="6612483"/>
                </a:lnTo>
                <a:lnTo>
                  <a:pt x="4949902" y="6698894"/>
                </a:lnTo>
                <a:lnTo>
                  <a:pt x="4967216" y="6817538"/>
                </a:lnTo>
                <a:lnTo>
                  <a:pt x="4973099" y="6858000"/>
                </a:lnTo>
                <a:lnTo>
                  <a:pt x="4075210" y="6858000"/>
                </a:lnTo>
                <a:lnTo>
                  <a:pt x="4075210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28384" y="1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30" name="Google Shape;230;p6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1" name="Google Shape;231;p6"/>
          <p:cNvSpPr txBox="1"/>
          <p:nvPr>
            <p:ph idx="1" type="body"/>
          </p:nvPr>
        </p:nvSpPr>
        <p:spPr>
          <a:xfrm>
            <a:off x="5410950" y="2052918"/>
            <a:ext cx="4638903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1900"/>
              <a:t>Funcionamiento del comparador.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b="1" lang="en-US" sz="1900"/>
              <a:t>Comparador de 4 bits.</a:t>
            </a:r>
            <a:endParaRPr sz="19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1900"/>
              <a:t>En un comparador de 4 bits el procedimiento es el siguiente: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  A=B Deben ser iguales cada uno de sus bits.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 A&gt;B Recorremos todos los bits de A y B desde el mas significativo hasta que A sea 1 y B sea 0.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 sz="1900"/>
              <a:t>A&lt;B Recorremos todos los bits de A y B desde el mas significativo hasta que A sea 0 y B sea 1.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"/>
          <p:cNvSpPr txBox="1"/>
          <p:nvPr>
            <p:ph type="title"/>
          </p:nvPr>
        </p:nvSpPr>
        <p:spPr>
          <a:xfrm>
            <a:off x="1141413" y="618518"/>
            <a:ext cx="9905998" cy="737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COMPARADORES</a:t>
            </a:r>
            <a:endParaRPr/>
          </a:p>
        </p:txBody>
      </p:sp>
      <p:sp>
        <p:nvSpPr>
          <p:cNvPr id="237" name="Google Shape;237;p7"/>
          <p:cNvSpPr txBox="1"/>
          <p:nvPr>
            <p:ph idx="1" type="body"/>
          </p:nvPr>
        </p:nvSpPr>
        <p:spPr>
          <a:xfrm>
            <a:off x="1141412" y="1219200"/>
            <a:ext cx="9905999" cy="4572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Ejemplo funcionamiento:</a:t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238" name="Google Shape;2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9402" y="1693672"/>
            <a:ext cx="5038672" cy="13527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9403" y="3036885"/>
            <a:ext cx="5038672" cy="1286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9401" y="4322939"/>
            <a:ext cx="5038673" cy="137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3149516" y="1618593"/>
            <a:ext cx="6215202" cy="467710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 txBox="1"/>
          <p:nvPr>
            <p:ph type="title"/>
          </p:nvPr>
        </p:nvSpPr>
        <p:spPr>
          <a:xfrm>
            <a:off x="646112" y="452718"/>
            <a:ext cx="41655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 rot="-5400000">
            <a:off x="5270819" y="-63600"/>
            <a:ext cx="6858001" cy="6985200"/>
          </a:xfrm>
          <a:custGeom>
            <a:rect b="b" l="l" r="r" t="t"/>
            <a:pathLst>
              <a:path extrusionOk="0" h="6985200" w="685800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4994020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3" name="Google Shape;25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410" y="1090202"/>
            <a:ext cx="5449471" cy="17983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646113" y="2052918"/>
            <a:ext cx="4165146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Son circuitos combinacionales con  varias entradas y una única salida de  datos. Están dotados de entradas de  control capaces de seleccionar una, y  sólo una, de las entradas de datos  para permitir su transmisión desde la  entrada seleccionada hacia dicha  salida .</a:t>
            </a:r>
            <a:endParaRPr/>
          </a:p>
          <a:p>
            <a:pPr indent="-228600" lvl="0" marL="2413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alternativo: Mux</a:t>
            </a:r>
            <a:endParaRPr/>
          </a:p>
        </p:txBody>
      </p:sp>
      <p:pic>
        <p:nvPicPr>
          <p:cNvPr id="256" name="Google Shape;25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33320" y="3526971"/>
            <a:ext cx="4771651" cy="2721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3191067" y="1634632"/>
            <a:ext cx="6247223" cy="377819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63" name="Google Shape;263;p10"/>
          <p:cNvSpPr txBox="1"/>
          <p:nvPr/>
        </p:nvSpPr>
        <p:spPr>
          <a:xfrm>
            <a:off x="3834687" y="5412827"/>
            <a:ext cx="451944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Multiplexor de 16 canales de entrada de 1 bit cada una.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Y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MUX 16 a 1 (16x1)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"/>
          <p:cNvSpPr txBox="1"/>
          <p:nvPr>
            <p:ph type="title"/>
          </p:nvPr>
        </p:nvSpPr>
        <p:spPr>
          <a:xfrm>
            <a:off x="648930" y="629266"/>
            <a:ext cx="9252154" cy="1223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</a:pPr>
            <a:r>
              <a:rPr b="0" i="0" lang="en-US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MULTIPLEXOR</a:t>
            </a:r>
            <a:endParaRPr/>
          </a:p>
        </p:txBody>
      </p:sp>
      <p:pic>
        <p:nvPicPr>
          <p:cNvPr descr="http://azul2.bnct.ipn.mx/clogicos/practicas_de_laboratorio/graficos%20(.gif)/fig5-5.gif" id="269" name="Google Shape;26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0753" y="2052213"/>
            <a:ext cx="4623951" cy="4196185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2745"/>
              </a:srgbClr>
            </a:outerShdw>
          </a:effectLst>
        </p:spPr>
      </p:pic>
      <p:sp>
        <p:nvSpPr>
          <p:cNvPr id="270" name="Google Shape;270;p11"/>
          <p:cNvSpPr/>
          <p:nvPr/>
        </p:nvSpPr>
        <p:spPr>
          <a:xfrm>
            <a:off x="6575729" y="2052214"/>
            <a:ext cx="4415293" cy="41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Multiplexor de 4 canales de entrada de 4 bits cada una.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endParaRPr/>
          </a:p>
          <a:p>
            <a:pPr indent="-91440" lvl="0" marL="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Mux de 4 a 1 (4 x 1)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 txBox="1"/>
          <p:nvPr>
            <p:ph type="title"/>
          </p:nvPr>
        </p:nvSpPr>
        <p:spPr>
          <a:xfrm>
            <a:off x="1141414" y="192849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MULTIPLEXOR</a:t>
            </a:r>
            <a:endParaRPr/>
          </a:p>
        </p:txBody>
      </p:sp>
      <p:sp>
        <p:nvSpPr>
          <p:cNvPr id="276" name="Google Shape;276;p12"/>
          <p:cNvSpPr txBox="1"/>
          <p:nvPr>
            <p:ph idx="1" type="body"/>
          </p:nvPr>
        </p:nvSpPr>
        <p:spPr>
          <a:xfrm>
            <a:off x="1141414" y="1135392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Se pueden obtener multiplexores mas grandes a partir de mas pequenos.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Se puede aumentar el numero de entradas o el numero de bits por cada entrada.</a:t>
            </a:r>
            <a:endParaRPr/>
          </a:p>
        </p:txBody>
      </p:sp>
      <p:pic>
        <p:nvPicPr>
          <p:cNvPr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6225" y="2727925"/>
            <a:ext cx="3150700" cy="319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0024" y="2487838"/>
            <a:ext cx="2985507" cy="351513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2"/>
          <p:cNvSpPr txBox="1"/>
          <p:nvPr/>
        </p:nvSpPr>
        <p:spPr>
          <a:xfrm>
            <a:off x="1504392" y="5927835"/>
            <a:ext cx="32347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Aumento del numero de entradas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5666018" y="6002968"/>
            <a:ext cx="44033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Aumento del numero de bits de cada entrada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 txBox="1"/>
          <p:nvPr>
            <p:ph type="title"/>
          </p:nvPr>
        </p:nvSpPr>
        <p:spPr>
          <a:xfrm>
            <a:off x="648930" y="629266"/>
            <a:ext cx="9252154" cy="1223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Century Gothic"/>
              <a:buNone/>
            </a:pPr>
            <a:r>
              <a:rPr b="0" i="0" lang="en-US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DEMULTIPLEXOR</a:t>
            </a:r>
            <a:endParaRPr/>
          </a:p>
        </p:txBody>
      </p:sp>
      <p:pic>
        <p:nvPicPr>
          <p:cNvPr id="286" name="Google Shape;2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6915" y="2213868"/>
            <a:ext cx="5451627" cy="3872875"/>
          </a:xfrm>
          <a:prstGeom prst="rect">
            <a:avLst/>
          </a:prstGeom>
          <a:noFill/>
          <a:ln>
            <a:noFill/>
          </a:ln>
          <a:effectLst>
            <a:outerShdw blurRad="50800" rotWithShape="0" algn="t" dir="5400000" dist="38100">
              <a:srgbClr val="000000">
                <a:alpha val="42745"/>
              </a:srgbClr>
            </a:outerShdw>
          </a:effectLst>
        </p:spPr>
      </p:pic>
      <p:sp>
        <p:nvSpPr>
          <p:cNvPr id="287" name="Google Shape;287;p13"/>
          <p:cNvSpPr txBox="1"/>
          <p:nvPr/>
        </p:nvSpPr>
        <p:spPr>
          <a:xfrm>
            <a:off x="6575729" y="2052214"/>
            <a:ext cx="4415293" cy="4196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un circuito combinacional que tiene  una entrada de información de datos y  “n” entradas de control que sirven para  seleccionar una de las 2^n salidas, por la  que ha de salir el dato que está presente  en la entrada.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228600" lvl="0" marL="241300" marR="508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 el proceso inverso al multiplexor.</a:t>
            </a:r>
            <a:endParaRPr/>
          </a:p>
          <a:p>
            <a:pPr indent="-228600" lvl="0" marL="241300" marR="0" rtl="0" algn="l"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Nombre alternativo: Demux 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DEMULTIPLEXOR</a:t>
            </a:r>
            <a:endParaRPr/>
          </a:p>
        </p:txBody>
      </p:sp>
      <p:pic>
        <p:nvPicPr>
          <p:cNvPr id="293" name="Google Shape;293;p14"/>
          <p:cNvPicPr preferRelativeResize="0"/>
          <p:nvPr/>
        </p:nvPicPr>
        <p:blipFill rotWithShape="1">
          <a:blip r:embed="rId3">
            <a:alphaModFix/>
          </a:blip>
          <a:srcRect b="0" l="0" r="49618" t="1043"/>
          <a:stretch/>
        </p:blipFill>
        <p:spPr>
          <a:xfrm>
            <a:off x="1799005" y="1986455"/>
            <a:ext cx="3498210" cy="3462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4"/>
          <p:cNvPicPr preferRelativeResize="0"/>
          <p:nvPr/>
        </p:nvPicPr>
        <p:blipFill rotWithShape="1">
          <a:blip r:embed="rId3">
            <a:alphaModFix/>
          </a:blip>
          <a:srcRect b="24614" l="50336" r="3496" t="0"/>
          <a:stretch/>
        </p:blipFill>
        <p:spPr>
          <a:xfrm>
            <a:off x="6684579" y="2259725"/>
            <a:ext cx="3205655" cy="263809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4"/>
          <p:cNvSpPr txBox="1"/>
          <p:nvPr/>
        </p:nvSpPr>
        <p:spPr>
          <a:xfrm>
            <a:off x="1513489" y="5449401"/>
            <a:ext cx="445461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Demultiplexor de 4 salidas de 2 bits cada una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Demux 1 a 4 (1x4)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5124313" y="4965707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Demultiplexor de 4 salidas de 1 bits cada una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wentieth Century"/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Demux 1 a 4 (1x4)</a:t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15"/>
          <p:cNvPicPr preferRelativeResize="0"/>
          <p:nvPr/>
        </p:nvPicPr>
        <p:blipFill rotWithShape="1">
          <a:blip r:embed="rId3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15"/>
          <p:cNvPicPr preferRelativeResize="0"/>
          <p:nvPr/>
        </p:nvPicPr>
        <p:blipFill rotWithShape="1">
          <a:blip r:embed="rId4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F3F3F3">
                  <a:alpha val="6666"/>
                </a:srgbClr>
              </a:gs>
              <a:gs pos="36000">
                <a:srgbClr val="F3F3F3">
                  <a:alpha val="5882"/>
                </a:srgbClr>
              </a:gs>
              <a:gs pos="69000">
                <a:srgbClr val="F3F3F3">
                  <a:alpha val="0"/>
                </a:srgbClr>
              </a:gs>
              <a:gs pos="100000">
                <a:srgbClr val="F3F3F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4" name="Google Shape;304;p15"/>
          <p:cNvPicPr preferRelativeResize="0"/>
          <p:nvPr/>
        </p:nvPicPr>
        <p:blipFill rotWithShape="1">
          <a:blip r:embed="rId5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5"/>
          <p:cNvPicPr preferRelativeResize="0"/>
          <p:nvPr/>
        </p:nvPicPr>
        <p:blipFill rotWithShape="1">
          <a:blip r:embed="rId6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7" name="Google Shape;307;p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8" name="Google Shape;308;p15"/>
          <p:cNvSpPr txBox="1"/>
          <p:nvPr>
            <p:ph type="title"/>
          </p:nvPr>
        </p:nvSpPr>
        <p:spPr>
          <a:xfrm>
            <a:off x="7385967" y="1325880"/>
            <a:ext cx="4158334" cy="3066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None/>
            </a:pPr>
            <a:r>
              <a:rPr b="0" i="0" lang="en-US" sz="5400">
                <a:solidFill>
                  <a:srgbClr val="EBEBEB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CÓDIGO BCD</a:t>
            </a:r>
            <a:endParaRPr/>
          </a:p>
        </p:txBody>
      </p:sp>
      <p:sp>
        <p:nvSpPr>
          <p:cNvPr id="309" name="Google Shape;309;p15"/>
          <p:cNvSpPr txBox="1"/>
          <p:nvPr>
            <p:ph idx="1" type="subTitle"/>
          </p:nvPr>
        </p:nvSpPr>
        <p:spPr>
          <a:xfrm>
            <a:off x="7385967" y="4588329"/>
            <a:ext cx="4158334" cy="1621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7F7F7"/>
              </a:buClr>
              <a:buSzPts val="1440"/>
              <a:buNone/>
            </a:pPr>
            <a:r>
              <a:rPr lang="en-US" sz="1800" cap="none">
                <a:solidFill>
                  <a:srgbClr val="86D1D8"/>
                </a:solidFill>
              </a:rPr>
              <a:t>CÓDIGO UTILIZADO PARA REPRESENTAR NÚMEROS DECIMALES MEDIANTE EL SISTEMA BINARIO, DONDE CADA DIGITO DECIMAL ES CODIFICADO CON 4 BITS.</a:t>
            </a:r>
            <a:endParaRPr/>
          </a:p>
        </p:txBody>
      </p:sp>
      <p:sp>
        <p:nvSpPr>
          <p:cNvPr id="310" name="Google Shape;310;p15"/>
          <p:cNvSpPr/>
          <p:nvPr/>
        </p:nvSpPr>
        <p:spPr>
          <a:xfrm flipH="1">
            <a:off x="6649646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1" name="Google Shape;311;p15"/>
          <p:cNvSpPr/>
          <p:nvPr/>
        </p:nvSpPr>
        <p:spPr>
          <a:xfrm flipH="1" rot="5400000">
            <a:off x="68960" y="-68960"/>
            <a:ext cx="6858001" cy="6995918"/>
          </a:xfrm>
          <a:custGeom>
            <a:rect b="b" l="l" r="r" t="t"/>
            <a:pathLst>
              <a:path extrusionOk="0" h="6995918" w="6858001">
                <a:moveTo>
                  <a:pt x="6858001" y="1344715"/>
                </a:moveTo>
                <a:lnTo>
                  <a:pt x="6858001" y="1177"/>
                </a:lnTo>
                <a:lnTo>
                  <a:pt x="6702324" y="26222"/>
                </a:lnTo>
                <a:lnTo>
                  <a:pt x="6547333" y="50091"/>
                </a:lnTo>
                <a:lnTo>
                  <a:pt x="6391657" y="73455"/>
                </a:lnTo>
                <a:lnTo>
                  <a:pt x="6235294" y="93458"/>
                </a:lnTo>
                <a:lnTo>
                  <a:pt x="6079618" y="113629"/>
                </a:lnTo>
                <a:lnTo>
                  <a:pt x="5923255" y="132455"/>
                </a:lnTo>
                <a:lnTo>
                  <a:pt x="5768950" y="148591"/>
                </a:lnTo>
                <a:lnTo>
                  <a:pt x="5612588" y="163887"/>
                </a:lnTo>
                <a:lnTo>
                  <a:pt x="5456911" y="177839"/>
                </a:lnTo>
                <a:lnTo>
                  <a:pt x="5303978" y="189941"/>
                </a:lnTo>
                <a:lnTo>
                  <a:pt x="5148987" y="202044"/>
                </a:lnTo>
                <a:lnTo>
                  <a:pt x="4996054" y="212129"/>
                </a:lnTo>
                <a:lnTo>
                  <a:pt x="4843120" y="220029"/>
                </a:lnTo>
                <a:lnTo>
                  <a:pt x="4690873" y="228266"/>
                </a:lnTo>
                <a:lnTo>
                  <a:pt x="4539997" y="235157"/>
                </a:lnTo>
                <a:lnTo>
                  <a:pt x="4390492" y="240032"/>
                </a:lnTo>
                <a:lnTo>
                  <a:pt x="4240988" y="244234"/>
                </a:lnTo>
                <a:lnTo>
                  <a:pt x="4092855" y="248268"/>
                </a:lnTo>
                <a:lnTo>
                  <a:pt x="3946780" y="250117"/>
                </a:lnTo>
                <a:lnTo>
                  <a:pt x="3800704" y="252134"/>
                </a:lnTo>
                <a:lnTo>
                  <a:pt x="3656686" y="253143"/>
                </a:lnTo>
                <a:lnTo>
                  <a:pt x="3514040" y="252134"/>
                </a:lnTo>
                <a:lnTo>
                  <a:pt x="3372765" y="252134"/>
                </a:lnTo>
                <a:lnTo>
                  <a:pt x="3232862" y="250117"/>
                </a:lnTo>
                <a:lnTo>
                  <a:pt x="3095702" y="247092"/>
                </a:lnTo>
                <a:lnTo>
                  <a:pt x="2959914" y="244234"/>
                </a:lnTo>
                <a:lnTo>
                  <a:pt x="2826868" y="241040"/>
                </a:lnTo>
                <a:lnTo>
                  <a:pt x="2694509" y="236166"/>
                </a:lnTo>
                <a:lnTo>
                  <a:pt x="2564208" y="230955"/>
                </a:lnTo>
                <a:lnTo>
                  <a:pt x="2436649" y="226249"/>
                </a:lnTo>
                <a:lnTo>
                  <a:pt x="2187703" y="212969"/>
                </a:lnTo>
                <a:lnTo>
                  <a:pt x="1949045" y="198850"/>
                </a:lnTo>
                <a:lnTo>
                  <a:pt x="1719988" y="184058"/>
                </a:lnTo>
                <a:lnTo>
                  <a:pt x="1503275" y="167753"/>
                </a:lnTo>
                <a:lnTo>
                  <a:pt x="1296163" y="150776"/>
                </a:lnTo>
                <a:lnTo>
                  <a:pt x="1104139" y="132455"/>
                </a:lnTo>
                <a:lnTo>
                  <a:pt x="923774" y="114469"/>
                </a:lnTo>
                <a:lnTo>
                  <a:pt x="757810" y="96484"/>
                </a:lnTo>
                <a:lnTo>
                  <a:pt x="605563" y="79507"/>
                </a:lnTo>
                <a:lnTo>
                  <a:pt x="470460" y="63370"/>
                </a:lnTo>
                <a:lnTo>
                  <a:pt x="348388" y="48074"/>
                </a:lnTo>
                <a:lnTo>
                  <a:pt x="245518" y="35299"/>
                </a:lnTo>
                <a:lnTo>
                  <a:pt x="159107" y="23197"/>
                </a:lnTo>
                <a:lnTo>
                  <a:pt x="40463" y="5883"/>
                </a:lnTo>
                <a:lnTo>
                  <a:pt x="1" y="0"/>
                </a:lnTo>
                <a:lnTo>
                  <a:pt x="1" y="905354"/>
                </a:lnTo>
                <a:lnTo>
                  <a:pt x="0" y="905354"/>
                </a:lnTo>
                <a:lnTo>
                  <a:pt x="0" y="6995918"/>
                </a:lnTo>
                <a:lnTo>
                  <a:pt x="6858000" y="6995918"/>
                </a:lnTo>
                <a:lnTo>
                  <a:pt x="6858000" y="13447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2" name="Google Shape;312;p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3" name="Google Shape;3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93056" y="647698"/>
            <a:ext cx="5152153" cy="5562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>
            <p:ph type="title"/>
          </p:nvPr>
        </p:nvSpPr>
        <p:spPr>
          <a:xfrm>
            <a:off x="646112" y="452718"/>
            <a:ext cx="4165580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wentieth Century"/>
              <a:buNone/>
            </a:pPr>
            <a:r>
              <a:rPr lang="en-US"/>
              <a:t>CÓDIGO BCD</a:t>
            </a:r>
            <a:endParaRPr/>
          </a:p>
        </p:txBody>
      </p:sp>
      <p:sp>
        <p:nvSpPr>
          <p:cNvPr id="319" name="Google Shape;319;p16"/>
          <p:cNvSpPr/>
          <p:nvPr/>
        </p:nvSpPr>
        <p:spPr>
          <a:xfrm rot="-5400000">
            <a:off x="5270819" y="-63600"/>
            <a:ext cx="6858001" cy="6985200"/>
          </a:xfrm>
          <a:custGeom>
            <a:rect b="b" l="l" r="r" t="t"/>
            <a:pathLst>
              <a:path extrusionOk="0" h="6985200" w="685800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7191"/>
                </a:lnTo>
                <a:lnTo>
                  <a:pt x="1" y="887191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4994020" y="-1"/>
            <a:ext cx="559472" cy="3709642"/>
          </a:xfrm>
          <a:custGeom>
            <a:rect b="b" l="l" r="r" t="t"/>
            <a:pathLst>
              <a:path extrusionOk="0" h="3709642" w="55947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l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4410" y="757845"/>
            <a:ext cx="5449471" cy="2463037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6"/>
          <p:cNvSpPr/>
          <p:nvPr/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3" name="Google Shape;323;p16"/>
          <p:cNvSpPr txBox="1"/>
          <p:nvPr>
            <p:ph idx="1" type="body"/>
          </p:nvPr>
        </p:nvSpPr>
        <p:spPr>
          <a:xfrm>
            <a:off x="646113" y="2052918"/>
            <a:ext cx="4165146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De decimal a BCD</a:t>
            </a:r>
            <a:endParaRPr/>
          </a:p>
        </p:txBody>
      </p:sp>
      <p:pic>
        <p:nvPicPr>
          <p:cNvPr id="324" name="Google Shape;3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4410" y="3597746"/>
            <a:ext cx="5449471" cy="2579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7"/>
          <p:cNvSpPr txBox="1"/>
          <p:nvPr>
            <p:ph type="title"/>
          </p:nvPr>
        </p:nvSpPr>
        <p:spPr>
          <a:xfrm>
            <a:off x="1330831" y="627153"/>
            <a:ext cx="4661594" cy="56553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30" name="Google Shape;330;p17"/>
          <p:cNvSpPr txBox="1"/>
          <p:nvPr/>
        </p:nvSpPr>
        <p:spPr>
          <a:xfrm>
            <a:off x="1330831" y="2773011"/>
            <a:ext cx="9053100" cy="4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1425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Desplazar el número binario hacia la izquierda un bit. Antes de ello trazar columnas a la izquierda de de 4 bits representativas del formato BCD que se busca, asi:  unidades,decenas,centenas, etc (la columna de unidades quedara a la par del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número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binario que se convierte) que representaran la conversión buscada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Si alguno de los dígitos que se forman en BCD  tiene un valor igual o mayor a cinco, sumar tres.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355600" marR="0" rtl="0" algn="l">
              <a:lnSpc>
                <a:spcPct val="100000"/>
              </a:lnSpc>
              <a:spcBef>
                <a:spcPts val="935"/>
              </a:spcBef>
              <a:spcAft>
                <a:spcPts val="0"/>
              </a:spcAft>
              <a:buClr>
                <a:srgbClr val="0A082D"/>
              </a:buClr>
              <a:buSzPts val="2000"/>
              <a:buFont typeface="Noto Sans Symbols"/>
              <a:buChar char="❖"/>
            </a:pP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Repetir los pasos 1 y 2 la cantidad de bits del número binario que se quiere convertir.  Se debe entender que el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número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binario al desplazarse a la izquierda NO se le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deberá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llenar su lugar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vacío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con 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ningún</a:t>
            </a:r>
            <a:r>
              <a:rPr lang="en-US" sz="20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 dígito, por tanto al terminar con los digitos que originalmente compusieron al número la conversión terminará</a:t>
            </a:r>
            <a:endParaRPr sz="2000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1330831" y="1692534"/>
            <a:ext cx="905319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None/>
            </a:pPr>
            <a:r>
              <a:rPr lang="en-US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Lamentablemente, de binario a BCD no podemos simplemente separar conjuntos de cuatro bits y esperar a que todo funcione. Se debe de seguir el siguiente algoritmo.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8"/>
          <p:cNvSpPr txBox="1"/>
          <p:nvPr>
            <p:ph type="title"/>
          </p:nvPr>
        </p:nvSpPr>
        <p:spPr>
          <a:xfrm>
            <a:off x="1141413" y="282187"/>
            <a:ext cx="9905998" cy="100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37" name="Google Shape;337;p18"/>
          <p:cNvSpPr txBox="1"/>
          <p:nvPr>
            <p:ph idx="1" type="body"/>
          </p:nvPr>
        </p:nvSpPr>
        <p:spPr>
          <a:xfrm>
            <a:off x="1141413" y="2249487"/>
            <a:ext cx="5800302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Proceso para pasar el numero 110100001 (417), a código BCD.</a:t>
            </a:r>
            <a:endParaRPr/>
          </a:p>
        </p:txBody>
      </p:sp>
      <p:pic>
        <p:nvPicPr>
          <p:cNvPr id="338" name="Google Shape;3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1714" y="1040524"/>
            <a:ext cx="4105697" cy="5085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 txBox="1"/>
          <p:nvPr>
            <p:ph type="title"/>
          </p:nvPr>
        </p:nvSpPr>
        <p:spPr>
          <a:xfrm>
            <a:off x="1141413" y="418821"/>
            <a:ext cx="9905998" cy="7583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 BINARIO A BCD</a:t>
            </a:r>
            <a:endParaRPr/>
          </a:p>
        </p:txBody>
      </p:sp>
      <p:sp>
        <p:nvSpPr>
          <p:cNvPr id="344" name="Google Shape;344;p19"/>
          <p:cNvSpPr txBox="1"/>
          <p:nvPr>
            <p:ph idx="1" type="body"/>
          </p:nvPr>
        </p:nvSpPr>
        <p:spPr>
          <a:xfrm>
            <a:off x="1141412" y="1271751"/>
            <a:ext cx="9905999" cy="44143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Utilizamos el código BCD para poder representar un numero binario en displays.</a:t>
            </a:r>
            <a:endParaRPr/>
          </a:p>
          <a:p>
            <a:pPr indent="-342900" lvl="0" marL="3429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oto Sans Symbols"/>
              <a:buChar char="❖"/>
            </a:pPr>
            <a:r>
              <a:rPr lang="en-US"/>
              <a:t> Se utilizan los integrados 7447 o 7448.(Decodificadores de BCD a 7 segmentos).</a:t>
            </a:r>
            <a:endParaRPr/>
          </a:p>
        </p:txBody>
      </p:sp>
      <p:pic>
        <p:nvPicPr>
          <p:cNvPr id="345" name="Google Shape;3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0949" y="3327459"/>
            <a:ext cx="6493865" cy="2808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2020-08-08T06:15:47Z</dcterms:created>
  <dc:creator>Diego Josue Berrios Gutierrez</dc:creator>
</cp:coreProperties>
</file>